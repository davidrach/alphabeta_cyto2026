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3" r:id="rId3"/>
  </p:sldMasterIdLst>
  <p:sldIdLst>
    <p:sldId id="256" r:id="rId4"/>
    <p:sldId id="257" r:id="rId5"/>
    <p:sldId id="277" r:id="rId6"/>
    <p:sldId id="278" r:id="rId7"/>
    <p:sldId id="279" r:id="rId8"/>
    <p:sldId id="280" r:id="rId9"/>
    <p:sldId id="281" r:id="rId10"/>
    <p:sldId id="282" r:id="rId11"/>
    <p:sldId id="283" r:id="rId12"/>
    <p:sldId id="284" r:id="rId13"/>
    <p:sldId id="286" r:id="rId14"/>
    <p:sldId id="287" r:id="rId15"/>
    <p:sldId id="288" r:id="rId16"/>
    <p:sldId id="285" r:id="rId17"/>
    <p:sldId id="289" r:id="rId18"/>
    <p:sldId id="276"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56" d="100"/>
          <a:sy n="56" d="100"/>
        </p:scale>
        <p:origin x="976"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fourObj" preserve="1">
  <p:cSld name="Master1-Office-Theme">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713160"/>
            <a:ext cx="10513440" cy="62532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9" name="PlaceHolder 2"/>
          <p:cNvSpPr>
            <a:spLocks noGrp="1"/>
          </p:cNvSpPr>
          <p:nvPr>
            <p:ph/>
          </p:nvPr>
        </p:nvSpPr>
        <p:spPr>
          <a:xfrm>
            <a:off x="609480" y="1604520"/>
            <a:ext cx="71640" cy="21600"/>
          </a:xfrm>
          <a:prstGeom prst="rect">
            <a:avLst/>
          </a:prstGeom>
          <a:noFill/>
          <a:ln w="0">
            <a:noFill/>
          </a:ln>
        </p:spPr>
        <p:txBody>
          <a:bodyPr lIns="0" tIns="0" rIns="0" bIns="0" anchor="t">
            <a:normAutofit fontScale="25000" lnSpcReduction="19999"/>
          </a:bodyPr>
          <a:lstStyle/>
          <a:p>
            <a:pPr indent="0">
              <a:spcBef>
                <a:spcPts val="1417"/>
              </a:spcBef>
              <a:buNone/>
            </a:pPr>
            <a:endParaRPr lang="en-US" sz="3200" b="0" u="none" strike="noStrike">
              <a:solidFill>
                <a:srgbClr val="000000"/>
              </a:solidFill>
              <a:effectLst/>
              <a:uFillTx/>
              <a:latin typeface="Arial"/>
            </a:endParaRPr>
          </a:p>
        </p:txBody>
      </p:sp>
      <p:sp>
        <p:nvSpPr>
          <p:cNvPr id="10" name="PlaceHolder 3"/>
          <p:cNvSpPr>
            <a:spLocks noGrp="1"/>
          </p:cNvSpPr>
          <p:nvPr>
            <p:ph/>
          </p:nvPr>
        </p:nvSpPr>
        <p:spPr>
          <a:xfrm>
            <a:off x="685080" y="1604520"/>
            <a:ext cx="71640" cy="21600"/>
          </a:xfrm>
          <a:prstGeom prst="rect">
            <a:avLst/>
          </a:prstGeom>
          <a:noFill/>
          <a:ln w="0">
            <a:noFill/>
          </a:ln>
        </p:spPr>
        <p:txBody>
          <a:bodyPr lIns="0" tIns="0" rIns="0" bIns="0" anchor="t">
            <a:normAutofit fontScale="25000" lnSpcReduction="19999"/>
          </a:bodyPr>
          <a:lstStyle/>
          <a:p>
            <a:pPr indent="0">
              <a:spcBef>
                <a:spcPts val="1417"/>
              </a:spcBef>
              <a:buNone/>
            </a:pPr>
            <a:endParaRPr lang="en-US" sz="3200" b="0" u="none" strike="noStrike">
              <a:solidFill>
                <a:srgbClr val="000000"/>
              </a:solidFill>
              <a:effectLst/>
              <a:uFillTx/>
              <a:latin typeface="Arial"/>
            </a:endParaRPr>
          </a:p>
        </p:txBody>
      </p:sp>
      <p:sp>
        <p:nvSpPr>
          <p:cNvPr id="11" name="PlaceHolder 4"/>
          <p:cNvSpPr>
            <a:spLocks noGrp="1"/>
          </p:cNvSpPr>
          <p:nvPr>
            <p:ph/>
          </p:nvPr>
        </p:nvSpPr>
        <p:spPr>
          <a:xfrm>
            <a:off x="609480" y="1628640"/>
            <a:ext cx="71640" cy="21600"/>
          </a:xfrm>
          <a:prstGeom prst="rect">
            <a:avLst/>
          </a:prstGeom>
          <a:noFill/>
          <a:ln w="0">
            <a:noFill/>
          </a:ln>
        </p:spPr>
        <p:txBody>
          <a:bodyPr lIns="0" tIns="0" rIns="0" bIns="0" anchor="t">
            <a:normAutofit fontScale="25000" lnSpcReduction="19999"/>
          </a:bodyPr>
          <a:lstStyle/>
          <a:p>
            <a:pPr indent="0">
              <a:spcBef>
                <a:spcPts val="1417"/>
              </a:spcBef>
              <a:buNone/>
            </a:pPr>
            <a:endParaRPr lang="en-US" sz="3200" b="0" u="none" strike="noStrike">
              <a:solidFill>
                <a:srgbClr val="000000"/>
              </a:solidFill>
              <a:effectLst/>
              <a:uFillTx/>
              <a:latin typeface="Arial"/>
            </a:endParaRPr>
          </a:p>
        </p:txBody>
      </p:sp>
      <p:sp>
        <p:nvSpPr>
          <p:cNvPr id="12" name="PlaceHolder 5"/>
          <p:cNvSpPr>
            <a:spLocks noGrp="1"/>
          </p:cNvSpPr>
          <p:nvPr>
            <p:ph/>
          </p:nvPr>
        </p:nvSpPr>
        <p:spPr>
          <a:xfrm>
            <a:off x="685080" y="1628640"/>
            <a:ext cx="71640" cy="21600"/>
          </a:xfrm>
          <a:prstGeom prst="rect">
            <a:avLst/>
          </a:prstGeom>
          <a:noFill/>
          <a:ln w="0">
            <a:noFill/>
          </a:ln>
        </p:spPr>
        <p:txBody>
          <a:bodyPr lIns="0" tIns="0" rIns="0" bIns="0" anchor="t">
            <a:normAutofit fontScale="25000" lnSpcReduction="19999"/>
          </a:bodyPr>
          <a:lstStyle/>
          <a:p>
            <a:pPr indent="0">
              <a:spcBef>
                <a:spcPts val="1417"/>
              </a:spcBef>
              <a:buNone/>
            </a:pPr>
            <a:endParaRPr lang="en-US" sz="3200" b="0" u="none" strike="noStrike">
              <a:solidFill>
                <a:srgbClr val="000000"/>
              </a:solidFill>
              <a:effectLst/>
              <a:uFillTx/>
              <a:latin typeface="Arial"/>
            </a:endParaRPr>
          </a:p>
        </p:txBody>
      </p:sp>
      <p:sp>
        <p:nvSpPr>
          <p:cNvPr id="7" name="PlaceHolder 6"/>
          <p:cNvSpPr>
            <a:spLocks noGrp="1"/>
          </p:cNvSpPr>
          <p:nvPr>
            <p:ph type="ftr" idx="1"/>
          </p:nvPr>
        </p:nvSpPr>
        <p:spPr/>
        <p:txBody>
          <a:bodyPr/>
          <a:lstStyle/>
          <a:p>
            <a:r>
              <a:t>Footer</a:t>
            </a:r>
          </a:p>
        </p:txBody>
      </p:sp>
      <p:sp>
        <p:nvSpPr>
          <p:cNvPr id="2" name="PlaceHolder 7"/>
          <p:cNvSpPr>
            <a:spLocks noGrp="1"/>
          </p:cNvSpPr>
          <p:nvPr>
            <p:ph type="sldNum" idx="2"/>
          </p:nvPr>
        </p:nvSpPr>
        <p:spPr/>
        <p:txBody>
          <a:bodyPr/>
          <a:lstStyle/>
          <a:p>
            <a:fld id="{ADFEB40A-004C-4599-AC60-8A3724C15D73}" type="slidenum">
              <a:t>‹#›</a:t>
            </a:fld>
            <a:endParaRPr/>
          </a:p>
        </p:txBody>
      </p:sp>
      <p:sp>
        <p:nvSpPr>
          <p:cNvPr id="3" name="PlaceHolder 8"/>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fourObj" preserve="1">
  <p:cSld name="Master1-Layout1-title-Title-Slide">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890280"/>
            <a:ext cx="10513440" cy="274680"/>
          </a:xfrm>
          <a:prstGeom prst="rect">
            <a:avLst/>
          </a:prstGeom>
          <a:noFill/>
          <a:ln w="19080">
            <a:noFill/>
          </a:ln>
        </p:spPr>
        <p:txBody>
          <a:bodyPr lIns="0" tIns="0" rIns="0" bIns="0" anchor="ctr">
            <a:spAutoFit/>
          </a:bodyPr>
          <a:lstStyle/>
          <a:p>
            <a:pPr indent="0">
              <a:lnSpc>
                <a:spcPct val="100000"/>
              </a:lnSpc>
              <a:buNone/>
              <a:tabLst>
                <a:tab pos="0" algn="l"/>
              </a:tabLst>
            </a:pPr>
            <a:r>
              <a:rPr lang="en-US" sz="1800" b="0" u="none" strike="noStrike">
                <a:solidFill>
                  <a:srgbClr val="000000"/>
                </a:solidFill>
                <a:effectLst/>
                <a:uFillTx/>
                <a:latin typeface="Arial"/>
              </a:rPr>
              <a:t>Click to edit the title text format</a:t>
            </a:r>
          </a:p>
        </p:txBody>
      </p:sp>
      <p:sp>
        <p:nvSpPr>
          <p:cNvPr id="14" name="PlaceHolder 2"/>
          <p:cNvSpPr>
            <a:spLocks noGrp="1"/>
          </p:cNvSpPr>
          <p:nvPr>
            <p:ph type="body"/>
          </p:nvPr>
        </p:nvSpPr>
        <p:spPr>
          <a:xfrm>
            <a:off x="609480" y="1604520"/>
            <a:ext cx="5352120" cy="1894680"/>
          </a:xfrm>
          <a:prstGeom prst="rect">
            <a:avLst/>
          </a:prstGeom>
          <a:noFill/>
          <a:ln w="19080">
            <a:noFill/>
          </a:ln>
        </p:spPr>
        <p:txBody>
          <a:bodyPr lIns="0" tIns="0" rIns="0" bIns="0" anchor="t">
            <a:normAutofit fontScale="92500" lnSpcReduction="1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15" name="PlaceHolder 3"/>
          <p:cNvSpPr>
            <a:spLocks noGrp="1"/>
          </p:cNvSpPr>
          <p:nvPr>
            <p:ph type="body"/>
          </p:nvPr>
        </p:nvSpPr>
        <p:spPr>
          <a:xfrm>
            <a:off x="6231960" y="1604520"/>
            <a:ext cx="5352120" cy="1894680"/>
          </a:xfrm>
          <a:prstGeom prst="rect">
            <a:avLst/>
          </a:prstGeom>
          <a:noFill/>
          <a:ln w="19080">
            <a:noFill/>
          </a:ln>
        </p:spPr>
        <p:txBody>
          <a:bodyPr lIns="0" tIns="0" rIns="0" bIns="0" anchor="t">
            <a:normAutofit fontScale="92500" lnSpcReduction="1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16" name="PlaceHolder 4"/>
          <p:cNvSpPr>
            <a:spLocks noGrp="1"/>
          </p:cNvSpPr>
          <p:nvPr>
            <p:ph type="body"/>
          </p:nvPr>
        </p:nvSpPr>
        <p:spPr>
          <a:xfrm>
            <a:off x="609480" y="3682080"/>
            <a:ext cx="5352120" cy="1894680"/>
          </a:xfrm>
          <a:prstGeom prst="rect">
            <a:avLst/>
          </a:prstGeom>
          <a:noFill/>
          <a:ln w="19080">
            <a:noFill/>
          </a:ln>
        </p:spPr>
        <p:txBody>
          <a:bodyPr lIns="0" tIns="0" rIns="0" bIns="0" anchor="t">
            <a:normAutofit fontScale="92500" lnSpcReduction="1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17" name="PlaceHolder 5"/>
          <p:cNvSpPr>
            <a:spLocks noGrp="1"/>
          </p:cNvSpPr>
          <p:nvPr>
            <p:ph type="body"/>
          </p:nvPr>
        </p:nvSpPr>
        <p:spPr>
          <a:xfrm>
            <a:off x="6231960" y="3682080"/>
            <a:ext cx="5352120" cy="1894680"/>
          </a:xfrm>
          <a:prstGeom prst="rect">
            <a:avLst/>
          </a:prstGeom>
          <a:noFill/>
          <a:ln w="19080">
            <a:noFill/>
          </a:ln>
        </p:spPr>
        <p:txBody>
          <a:bodyPr lIns="0" tIns="0" rIns="0" bIns="0" anchor="t">
            <a:normAutofit fontScale="92500" lnSpcReduction="1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18" name="PlaceHolder 6"/>
          <p:cNvSpPr>
            <a:spLocks noGrp="1"/>
          </p:cNvSpPr>
          <p:nvPr>
            <p:ph type="ftr" idx="4"/>
          </p:nvPr>
        </p:nvSpPr>
        <p:spPr>
          <a:xfrm>
            <a:off x="4038480" y="6356520"/>
            <a:ext cx="4112640" cy="362880"/>
          </a:xfrm>
          <a:prstGeom prst="rect">
            <a:avLst/>
          </a:prstGeom>
          <a:noFill/>
          <a:ln w="19080">
            <a:noFill/>
          </a:ln>
        </p:spPr>
        <p:txBody>
          <a:bodyPr lIns="91440" tIns="45720" rIns="91440" bIns="45720" anchor="ctr">
            <a:noAutofit/>
          </a:bodyPr>
          <a:lstStyle>
            <a:lvl1pPr indent="0">
              <a:lnSpc>
                <a:spcPct val="100000"/>
              </a:lnSpc>
              <a:buNone/>
              <a:tabLst>
                <a:tab pos="0" algn="l"/>
              </a:tabLst>
              <a:defRPr lang="en-US" sz="1400" b="0" u="none" strike="noStrike">
                <a:solidFill>
                  <a:srgbClr val="000000"/>
                </a:solidFill>
                <a:effectLst/>
                <a:uFillTx/>
                <a:latin typeface="Times New Roman"/>
              </a:defRPr>
            </a:lvl1pPr>
          </a:lstStyle>
          <a:p>
            <a:pPr indent="0">
              <a:lnSpc>
                <a:spcPct val="100000"/>
              </a:lnSpc>
              <a:buNone/>
              <a:tabLst>
                <a:tab pos="0" algn="l"/>
              </a:tabLst>
            </a:pPr>
            <a:r>
              <a:rPr lang="en-US" sz="1400" b="0" u="none" strike="noStrike">
                <a:solidFill>
                  <a:srgbClr val="000000"/>
                </a:solidFill>
                <a:effectLst/>
                <a:uFillTx/>
                <a:latin typeface="Times New Roman"/>
              </a:rPr>
              <a:t>&lt;footer&gt;</a:t>
            </a:r>
          </a:p>
        </p:txBody>
      </p:sp>
      <p:sp>
        <p:nvSpPr>
          <p:cNvPr id="19" name="PlaceHolder 7"/>
          <p:cNvSpPr>
            <a:spLocks noGrp="1"/>
          </p:cNvSpPr>
          <p:nvPr>
            <p:ph type="sldNum" idx="5"/>
          </p:nvPr>
        </p:nvSpPr>
        <p:spPr>
          <a:xfrm>
            <a:off x="8610480" y="6356520"/>
            <a:ext cx="2741040" cy="362880"/>
          </a:xfrm>
          <a:prstGeom prst="rect">
            <a:avLst/>
          </a:prstGeom>
          <a:noFill/>
          <a:ln w="1908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67676"/>
                </a:solidFill>
                <a:effectLst/>
                <a:uFillTx/>
                <a:latin typeface="Aptos"/>
              </a:defRPr>
            </a:lvl1pPr>
          </a:lstStyle>
          <a:p>
            <a:pPr indent="0" algn="r">
              <a:lnSpc>
                <a:spcPct val="100000"/>
              </a:lnSpc>
              <a:buNone/>
              <a:tabLst>
                <a:tab pos="0" algn="l"/>
              </a:tabLst>
            </a:pPr>
            <a:fld id="{F0CD1E80-5896-45CD-92B1-50AD29F4DC35}" type="slidenum">
              <a:rPr lang="en-US" sz="1200" b="0" u="none" strike="noStrike">
                <a:solidFill>
                  <a:srgbClr val="767676"/>
                </a:solidFill>
                <a:effectLst/>
                <a:uFillTx/>
                <a:latin typeface="Aptos"/>
              </a:rPr>
              <a:t>‹#›</a:t>
            </a:fld>
            <a:endParaRPr lang="en-US" sz="1200" b="0" u="none" strike="noStrike">
              <a:solidFill>
                <a:srgbClr val="000000"/>
              </a:solidFill>
              <a:effectLst/>
              <a:uFillTx/>
              <a:latin typeface="Times New Roman"/>
            </a:endParaRPr>
          </a:p>
        </p:txBody>
      </p:sp>
      <p:sp>
        <p:nvSpPr>
          <p:cNvPr id="20" name="PlaceHolder 8"/>
          <p:cNvSpPr>
            <a:spLocks noGrp="1"/>
          </p:cNvSpPr>
          <p:nvPr>
            <p:ph type="dt" idx="6"/>
          </p:nvPr>
        </p:nvSpPr>
        <p:spPr>
          <a:xfrm>
            <a:off x="838080" y="6356520"/>
            <a:ext cx="2741040" cy="362880"/>
          </a:xfrm>
          <a:prstGeom prst="rect">
            <a:avLst/>
          </a:prstGeom>
          <a:noFill/>
          <a:ln w="19080">
            <a:noFill/>
          </a:ln>
        </p:spPr>
        <p:txBody>
          <a:bodyPr lIns="91440" tIns="45720" rIns="91440" bIns="45720" anchor="ctr">
            <a:noAutofit/>
          </a:bodyPr>
          <a:lstStyle>
            <a:lvl1pPr indent="0">
              <a:lnSpc>
                <a:spcPct val="100000"/>
              </a:lnSpc>
              <a:buNone/>
              <a:tabLst>
                <a:tab pos="0" algn="l"/>
              </a:tabLst>
              <a:defRPr lang="en-US" sz="1400" b="0" u="none" strike="noStrike">
                <a:solidFill>
                  <a:srgbClr val="000000"/>
                </a:solidFill>
                <a:effectLst/>
                <a:uFillTx/>
                <a:latin typeface="Times New Roman"/>
              </a:defRPr>
            </a:lvl1pPr>
          </a:lstStyle>
          <a:p>
            <a:pPr indent="0">
              <a:lnSpc>
                <a:spcPct val="100000"/>
              </a:lnSpc>
              <a:buNone/>
              <a:tabLst>
                <a:tab pos="0" algn="l"/>
              </a:tabLst>
            </a:pPr>
            <a:r>
              <a:rPr lang="en-US" sz="1400" b="0" u="none" strike="noStrike">
                <a:solidFill>
                  <a:srgbClr val="000000"/>
                </a:solidFill>
                <a:effectLst/>
                <a:uFillTx/>
                <a:latin typeface="Times New Roman"/>
              </a:rPr>
              <a:t>&lt;date/time&gt;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890280"/>
            <a:ext cx="10513440" cy="274680"/>
          </a:xfrm>
          <a:prstGeom prst="rect">
            <a:avLst/>
          </a:prstGeom>
          <a:noFill/>
          <a:ln w="19080">
            <a:noFill/>
          </a:ln>
        </p:spPr>
        <p:txBody>
          <a:bodyPr lIns="0" tIns="0" rIns="0" bIns="0" anchor="ctr">
            <a:spAutoFit/>
          </a:bodyPr>
          <a:lstStyle/>
          <a:p>
            <a:pPr indent="0">
              <a:lnSpc>
                <a:spcPct val="100000"/>
              </a:lnSpc>
              <a:buNone/>
              <a:tabLst>
                <a:tab pos="0" algn="l"/>
              </a:tabLst>
            </a:pPr>
            <a:r>
              <a:rPr lang="en-US" sz="1800" b="0" u="none" strike="noStrike">
                <a:solidFill>
                  <a:srgbClr val="000000"/>
                </a:solidFill>
                <a:effectLst/>
                <a:uFillTx/>
                <a:latin typeface="Arial"/>
              </a:rPr>
              <a:t>Click to edit the title text format</a:t>
            </a:r>
          </a:p>
        </p:txBody>
      </p:sp>
      <p:sp>
        <p:nvSpPr>
          <p:cNvPr id="22" name="PlaceHolder 2"/>
          <p:cNvSpPr>
            <a:spLocks noGrp="1"/>
          </p:cNvSpPr>
          <p:nvPr>
            <p:ph type="body"/>
          </p:nvPr>
        </p:nvSpPr>
        <p:spPr>
          <a:xfrm>
            <a:off x="609480" y="1604520"/>
            <a:ext cx="3530880" cy="1894680"/>
          </a:xfrm>
          <a:prstGeom prst="rect">
            <a:avLst/>
          </a:prstGeom>
          <a:noFill/>
          <a:ln w="19080">
            <a:noFill/>
          </a:ln>
        </p:spPr>
        <p:txBody>
          <a:bodyPr lIns="0" tIns="0" rIns="0" bIns="0" anchor="t">
            <a:normAutofit fontScale="62500" lnSpcReduction="1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23" name="PlaceHolder 3"/>
          <p:cNvSpPr>
            <a:spLocks noGrp="1"/>
          </p:cNvSpPr>
          <p:nvPr>
            <p:ph type="body"/>
          </p:nvPr>
        </p:nvSpPr>
        <p:spPr>
          <a:xfrm>
            <a:off x="4319640" y="1604520"/>
            <a:ext cx="3530880" cy="1894680"/>
          </a:xfrm>
          <a:prstGeom prst="rect">
            <a:avLst/>
          </a:prstGeom>
          <a:noFill/>
          <a:ln w="19080">
            <a:noFill/>
          </a:ln>
        </p:spPr>
        <p:txBody>
          <a:bodyPr lIns="0" tIns="0" rIns="0" bIns="0" anchor="t">
            <a:normAutofit fontScale="62500" lnSpcReduction="1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24" name="PlaceHolder 4"/>
          <p:cNvSpPr>
            <a:spLocks noGrp="1"/>
          </p:cNvSpPr>
          <p:nvPr>
            <p:ph type="body"/>
          </p:nvPr>
        </p:nvSpPr>
        <p:spPr>
          <a:xfrm>
            <a:off x="8029800" y="1604520"/>
            <a:ext cx="3530880" cy="1894680"/>
          </a:xfrm>
          <a:prstGeom prst="rect">
            <a:avLst/>
          </a:prstGeom>
          <a:noFill/>
          <a:ln w="19080">
            <a:noFill/>
          </a:ln>
        </p:spPr>
        <p:txBody>
          <a:bodyPr lIns="0" tIns="0" rIns="0" bIns="0" anchor="t">
            <a:normAutofit fontScale="62500" lnSpcReduction="1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25" name="PlaceHolder 5"/>
          <p:cNvSpPr>
            <a:spLocks noGrp="1"/>
          </p:cNvSpPr>
          <p:nvPr>
            <p:ph type="body"/>
          </p:nvPr>
        </p:nvSpPr>
        <p:spPr>
          <a:xfrm>
            <a:off x="609480" y="3682080"/>
            <a:ext cx="3530880" cy="1894680"/>
          </a:xfrm>
          <a:prstGeom prst="rect">
            <a:avLst/>
          </a:prstGeom>
          <a:noFill/>
          <a:ln w="19080">
            <a:noFill/>
          </a:ln>
        </p:spPr>
        <p:txBody>
          <a:bodyPr lIns="0" tIns="0" rIns="0" bIns="0" anchor="t">
            <a:normAutofit fontScale="62500" lnSpcReduction="1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26" name="PlaceHolder 6"/>
          <p:cNvSpPr>
            <a:spLocks noGrp="1"/>
          </p:cNvSpPr>
          <p:nvPr>
            <p:ph type="body"/>
          </p:nvPr>
        </p:nvSpPr>
        <p:spPr>
          <a:xfrm>
            <a:off x="4319640" y="3682080"/>
            <a:ext cx="3530880" cy="1894680"/>
          </a:xfrm>
          <a:prstGeom prst="rect">
            <a:avLst/>
          </a:prstGeom>
          <a:noFill/>
          <a:ln w="19080">
            <a:noFill/>
          </a:ln>
        </p:spPr>
        <p:txBody>
          <a:bodyPr lIns="0" tIns="0" rIns="0" bIns="0" anchor="t">
            <a:normAutofit fontScale="62500" lnSpcReduction="1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27" name="PlaceHolder 7"/>
          <p:cNvSpPr>
            <a:spLocks noGrp="1"/>
          </p:cNvSpPr>
          <p:nvPr>
            <p:ph type="body"/>
          </p:nvPr>
        </p:nvSpPr>
        <p:spPr>
          <a:xfrm>
            <a:off x="8029800" y="3682080"/>
            <a:ext cx="3530880" cy="1894680"/>
          </a:xfrm>
          <a:prstGeom prst="rect">
            <a:avLst/>
          </a:prstGeom>
          <a:noFill/>
          <a:ln w="19080">
            <a:noFill/>
          </a:ln>
        </p:spPr>
        <p:txBody>
          <a:bodyPr lIns="0" tIns="0" rIns="0" bIns="0" anchor="t">
            <a:normAutofit fontScale="62500" lnSpcReduction="19999"/>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28" name="PlaceHolder 8"/>
          <p:cNvSpPr>
            <a:spLocks noGrp="1"/>
          </p:cNvSpPr>
          <p:nvPr>
            <p:ph type="ftr" idx="7"/>
          </p:nvPr>
        </p:nvSpPr>
        <p:spPr>
          <a:xfrm>
            <a:off x="4038480" y="6356520"/>
            <a:ext cx="4112640" cy="362880"/>
          </a:xfrm>
          <a:prstGeom prst="rect">
            <a:avLst/>
          </a:prstGeom>
          <a:noFill/>
          <a:ln w="19080">
            <a:noFill/>
          </a:ln>
        </p:spPr>
        <p:txBody>
          <a:bodyPr lIns="91440" tIns="45720" rIns="91440" bIns="45720" anchor="ctr">
            <a:noAutofit/>
          </a:bodyPr>
          <a:lstStyle>
            <a:lvl1pPr indent="0">
              <a:lnSpc>
                <a:spcPct val="100000"/>
              </a:lnSpc>
              <a:buNone/>
              <a:tabLst>
                <a:tab pos="0" algn="l"/>
              </a:tabLst>
              <a:defRPr lang="en-US" sz="1400" b="0" u="none" strike="noStrike">
                <a:solidFill>
                  <a:srgbClr val="000000"/>
                </a:solidFill>
                <a:effectLst/>
                <a:uFillTx/>
                <a:latin typeface="Times New Roman"/>
              </a:defRPr>
            </a:lvl1pPr>
          </a:lstStyle>
          <a:p>
            <a:pPr indent="0">
              <a:lnSpc>
                <a:spcPct val="100000"/>
              </a:lnSpc>
              <a:buNone/>
              <a:tabLst>
                <a:tab pos="0" algn="l"/>
              </a:tabLst>
            </a:pPr>
            <a:r>
              <a:rPr lang="en-US" sz="1400" b="0" u="none" strike="noStrike">
                <a:solidFill>
                  <a:srgbClr val="000000"/>
                </a:solidFill>
                <a:effectLst/>
                <a:uFillTx/>
                <a:latin typeface="Times New Roman"/>
              </a:rPr>
              <a:t>&lt;footer&gt;</a:t>
            </a:r>
          </a:p>
        </p:txBody>
      </p:sp>
      <p:sp>
        <p:nvSpPr>
          <p:cNvPr id="29" name="PlaceHolder 9"/>
          <p:cNvSpPr>
            <a:spLocks noGrp="1"/>
          </p:cNvSpPr>
          <p:nvPr>
            <p:ph type="sldNum" idx="8"/>
          </p:nvPr>
        </p:nvSpPr>
        <p:spPr>
          <a:xfrm>
            <a:off x="8610480" y="6356520"/>
            <a:ext cx="2741040" cy="362880"/>
          </a:xfrm>
          <a:prstGeom prst="rect">
            <a:avLst/>
          </a:prstGeom>
          <a:noFill/>
          <a:ln w="1908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67676"/>
                </a:solidFill>
                <a:effectLst/>
                <a:uFillTx/>
                <a:latin typeface="Aptos"/>
              </a:defRPr>
            </a:lvl1pPr>
          </a:lstStyle>
          <a:p>
            <a:pPr indent="0" algn="r">
              <a:lnSpc>
                <a:spcPct val="100000"/>
              </a:lnSpc>
              <a:buNone/>
              <a:tabLst>
                <a:tab pos="0" algn="l"/>
              </a:tabLst>
            </a:pPr>
            <a:fld id="{38E3BC04-4EF0-4998-A646-A84A225D9E1E}" type="slidenum">
              <a:rPr lang="en-US" sz="1200" b="0" u="none" strike="noStrike">
                <a:solidFill>
                  <a:srgbClr val="767676"/>
                </a:solidFill>
                <a:effectLst/>
                <a:uFillTx/>
                <a:latin typeface="Aptos"/>
              </a:rPr>
              <a:t>‹#›</a:t>
            </a:fld>
            <a:endParaRPr lang="en-US" sz="1200" b="0" u="none" strike="noStrike">
              <a:solidFill>
                <a:srgbClr val="000000"/>
              </a:solidFill>
              <a:effectLst/>
              <a:uFillTx/>
              <a:latin typeface="Times New Roman"/>
            </a:endParaRPr>
          </a:p>
        </p:txBody>
      </p:sp>
      <p:sp>
        <p:nvSpPr>
          <p:cNvPr id="30" name="PlaceHolder 10"/>
          <p:cNvSpPr>
            <a:spLocks noGrp="1"/>
          </p:cNvSpPr>
          <p:nvPr>
            <p:ph type="dt" idx="9"/>
          </p:nvPr>
        </p:nvSpPr>
        <p:spPr>
          <a:xfrm>
            <a:off x="838080" y="6356520"/>
            <a:ext cx="2741040" cy="362880"/>
          </a:xfrm>
          <a:prstGeom prst="rect">
            <a:avLst/>
          </a:prstGeom>
          <a:noFill/>
          <a:ln w="19080">
            <a:noFill/>
          </a:ln>
        </p:spPr>
        <p:txBody>
          <a:bodyPr lIns="91440" tIns="45720" rIns="91440" bIns="45720" anchor="ctr">
            <a:noAutofit/>
          </a:bodyPr>
          <a:lstStyle>
            <a:lvl1pPr indent="0">
              <a:lnSpc>
                <a:spcPct val="100000"/>
              </a:lnSpc>
              <a:buNone/>
              <a:tabLst>
                <a:tab pos="0" algn="l"/>
              </a:tabLst>
              <a:defRPr lang="en-US" sz="1400" b="0" u="none" strike="noStrike">
                <a:solidFill>
                  <a:srgbClr val="000000"/>
                </a:solidFill>
                <a:effectLst/>
                <a:uFillTx/>
                <a:latin typeface="Times New Roman"/>
              </a:defRPr>
            </a:lvl1pPr>
          </a:lstStyle>
          <a:p>
            <a:pPr indent="0">
              <a:lnSpc>
                <a:spcPct val="100000"/>
              </a:lnSpc>
              <a:buNone/>
              <a:tabLst>
                <a:tab pos="0" algn="l"/>
              </a:tabLst>
            </a:pPr>
            <a:r>
              <a:rPr lang="en-US" sz="1400" b="0" u="none" strike="noStrike">
                <a:solidFill>
                  <a:srgbClr val="000000"/>
                </a:solidFill>
                <a:effectLst/>
                <a:uFillTx/>
                <a:latin typeface="Times New Roman"/>
              </a:rPr>
              <a:t>&lt;date/time&gt;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fourObj" preserve="1">
  <p:cSld name="Master1-Layout2-obj-Title-and-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713160"/>
            <a:ext cx="10513440" cy="625320"/>
          </a:xfrm>
          <a:prstGeom prst="rect">
            <a:avLst/>
          </a:prstGeom>
          <a:noFill/>
          <a:ln w="0">
            <a:noFill/>
          </a:ln>
        </p:spPr>
        <p:txBody>
          <a:bodyPr lIns="0" tIns="0" rIns="0" bIns="0" anchor="ctr">
            <a:spAutoFit/>
          </a:bodyPr>
          <a:lstStyle/>
          <a:p>
            <a:pPr indent="0" algn="ctr">
              <a:buNone/>
            </a:pPr>
            <a:endParaRPr lang="en-US" sz="4400" b="0" u="none" strike="noStrike">
              <a:solidFill>
                <a:srgbClr val="000000"/>
              </a:solidFill>
              <a:effectLst/>
              <a:uFillTx/>
              <a:latin typeface="Arial"/>
            </a:endParaRPr>
          </a:p>
        </p:txBody>
      </p:sp>
      <p:sp>
        <p:nvSpPr>
          <p:cNvPr id="40" name="PlaceHolder 2"/>
          <p:cNvSpPr>
            <a:spLocks noGrp="1"/>
          </p:cNvSpPr>
          <p:nvPr>
            <p:ph/>
          </p:nvPr>
        </p:nvSpPr>
        <p:spPr>
          <a:xfrm>
            <a:off x="609480" y="1604520"/>
            <a:ext cx="71640" cy="21600"/>
          </a:xfrm>
          <a:prstGeom prst="rect">
            <a:avLst/>
          </a:prstGeom>
          <a:noFill/>
          <a:ln w="0">
            <a:noFill/>
          </a:ln>
        </p:spPr>
        <p:txBody>
          <a:bodyPr lIns="0" tIns="0" rIns="0" bIns="0" anchor="t">
            <a:normAutofit fontScale="25000" lnSpcReduction="19999"/>
          </a:bodyPr>
          <a:lstStyle/>
          <a:p>
            <a:pPr indent="0">
              <a:spcBef>
                <a:spcPts val="1417"/>
              </a:spcBef>
              <a:buNone/>
            </a:pPr>
            <a:endParaRPr lang="en-US" sz="3200" b="0" u="none" strike="noStrike">
              <a:solidFill>
                <a:srgbClr val="000000"/>
              </a:solidFill>
              <a:effectLst/>
              <a:uFillTx/>
              <a:latin typeface="Arial"/>
            </a:endParaRPr>
          </a:p>
        </p:txBody>
      </p:sp>
      <p:sp>
        <p:nvSpPr>
          <p:cNvPr id="41" name="PlaceHolder 3"/>
          <p:cNvSpPr>
            <a:spLocks noGrp="1"/>
          </p:cNvSpPr>
          <p:nvPr>
            <p:ph/>
          </p:nvPr>
        </p:nvSpPr>
        <p:spPr>
          <a:xfrm>
            <a:off x="685080" y="1604520"/>
            <a:ext cx="71640" cy="21600"/>
          </a:xfrm>
          <a:prstGeom prst="rect">
            <a:avLst/>
          </a:prstGeom>
          <a:noFill/>
          <a:ln w="0">
            <a:noFill/>
          </a:ln>
        </p:spPr>
        <p:txBody>
          <a:bodyPr lIns="0" tIns="0" rIns="0" bIns="0" anchor="t">
            <a:normAutofit fontScale="25000" lnSpcReduction="19999"/>
          </a:bodyPr>
          <a:lstStyle/>
          <a:p>
            <a:pPr indent="0">
              <a:spcBef>
                <a:spcPts val="1417"/>
              </a:spcBef>
              <a:buNone/>
            </a:pPr>
            <a:endParaRPr lang="en-US" sz="3200" b="0" u="none" strike="noStrike">
              <a:solidFill>
                <a:srgbClr val="000000"/>
              </a:solidFill>
              <a:effectLst/>
              <a:uFillTx/>
              <a:latin typeface="Arial"/>
            </a:endParaRPr>
          </a:p>
        </p:txBody>
      </p:sp>
      <p:sp>
        <p:nvSpPr>
          <p:cNvPr id="42" name="PlaceHolder 4"/>
          <p:cNvSpPr>
            <a:spLocks noGrp="1"/>
          </p:cNvSpPr>
          <p:nvPr>
            <p:ph/>
          </p:nvPr>
        </p:nvSpPr>
        <p:spPr>
          <a:xfrm>
            <a:off x="609480" y="1628640"/>
            <a:ext cx="71640" cy="21600"/>
          </a:xfrm>
          <a:prstGeom prst="rect">
            <a:avLst/>
          </a:prstGeom>
          <a:noFill/>
          <a:ln w="0">
            <a:noFill/>
          </a:ln>
        </p:spPr>
        <p:txBody>
          <a:bodyPr lIns="0" tIns="0" rIns="0" bIns="0" anchor="t">
            <a:normAutofit fontScale="25000" lnSpcReduction="19999"/>
          </a:bodyPr>
          <a:lstStyle/>
          <a:p>
            <a:pPr indent="0">
              <a:spcBef>
                <a:spcPts val="1417"/>
              </a:spcBef>
              <a:buNone/>
            </a:pPr>
            <a:endParaRPr lang="en-US" sz="3200" b="0" u="none" strike="noStrike">
              <a:solidFill>
                <a:srgbClr val="000000"/>
              </a:solidFill>
              <a:effectLst/>
              <a:uFillTx/>
              <a:latin typeface="Arial"/>
            </a:endParaRPr>
          </a:p>
        </p:txBody>
      </p:sp>
      <p:sp>
        <p:nvSpPr>
          <p:cNvPr id="43" name="PlaceHolder 5"/>
          <p:cNvSpPr>
            <a:spLocks noGrp="1"/>
          </p:cNvSpPr>
          <p:nvPr>
            <p:ph/>
          </p:nvPr>
        </p:nvSpPr>
        <p:spPr>
          <a:xfrm>
            <a:off x="685080" y="1628640"/>
            <a:ext cx="71640" cy="21600"/>
          </a:xfrm>
          <a:prstGeom prst="rect">
            <a:avLst/>
          </a:prstGeom>
          <a:noFill/>
          <a:ln w="0">
            <a:noFill/>
          </a:ln>
        </p:spPr>
        <p:txBody>
          <a:bodyPr lIns="0" tIns="0" rIns="0" bIns="0" anchor="t">
            <a:normAutofit fontScale="25000" lnSpcReduction="19999"/>
          </a:bodyPr>
          <a:lstStyle/>
          <a:p>
            <a:pPr indent="0">
              <a:spcBef>
                <a:spcPts val="1417"/>
              </a:spcBef>
              <a:buNone/>
            </a:pPr>
            <a:endParaRPr lang="en-US" sz="3200" b="0" u="none" strike="noStrike">
              <a:solidFill>
                <a:srgbClr val="000000"/>
              </a:solidFill>
              <a:effectLst/>
              <a:uFillTx/>
              <a:latin typeface="Arial"/>
            </a:endParaRPr>
          </a:p>
        </p:txBody>
      </p:sp>
      <p:sp>
        <p:nvSpPr>
          <p:cNvPr id="7" name="PlaceHolder 6"/>
          <p:cNvSpPr>
            <a:spLocks noGrp="1"/>
          </p:cNvSpPr>
          <p:nvPr>
            <p:ph type="ftr" idx="10"/>
          </p:nvPr>
        </p:nvSpPr>
        <p:spPr/>
        <p:txBody>
          <a:bodyPr/>
          <a:lstStyle/>
          <a:p>
            <a:r>
              <a:t>Footer</a:t>
            </a:r>
          </a:p>
        </p:txBody>
      </p:sp>
      <p:sp>
        <p:nvSpPr>
          <p:cNvPr id="8" name="PlaceHolder 7"/>
          <p:cNvSpPr>
            <a:spLocks noGrp="1"/>
          </p:cNvSpPr>
          <p:nvPr>
            <p:ph type="sldNum" idx="11"/>
          </p:nvPr>
        </p:nvSpPr>
        <p:spPr/>
        <p:txBody>
          <a:bodyPr/>
          <a:lstStyle/>
          <a:p>
            <a:fld id="{FB5ACCD3-98F7-4308-B3D0-7A51E13B5732}" type="slidenum">
              <a:t>‹#›</a:t>
            </a:fld>
            <a:endParaRPr/>
          </a:p>
        </p:txBody>
      </p:sp>
      <p:sp>
        <p:nvSpPr>
          <p:cNvPr id="9" name="PlaceHolder 8"/>
          <p:cNvSpPr>
            <a:spLocks noGrp="1"/>
          </p:cNvSpPr>
          <p:nvPr>
            <p:ph type="dt" idx="12"/>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888480"/>
            <a:ext cx="10513440" cy="274680"/>
          </a:xfrm>
          <a:prstGeom prst="rect">
            <a:avLst/>
          </a:prstGeom>
          <a:noFill/>
          <a:ln w="0">
            <a:noFill/>
          </a:ln>
        </p:spPr>
        <p:txBody>
          <a:bodyPr lIns="0" tIns="0" rIns="0" bIns="0" anchor="ctr">
            <a:spAutoFit/>
          </a:bodyPr>
          <a:lstStyle/>
          <a:p>
            <a:pPr indent="0">
              <a:buNone/>
            </a:pPr>
            <a:r>
              <a:rPr lang="en-US" sz="1800" b="0" u="none" strike="noStrike">
                <a:solidFill>
                  <a:srgbClr val="000000"/>
                </a:solidFill>
                <a:effectLst/>
                <a:uFillTx/>
                <a:latin typeface="Arial"/>
              </a:rPr>
              <a:t>Click to edit the title text format</a:t>
            </a:r>
          </a:p>
        </p:txBody>
      </p:sp>
      <p:sp>
        <p:nvSpPr>
          <p:cNvPr id="9" name="PlaceHolder 2"/>
          <p:cNvSpPr>
            <a:spLocks noGrp="1"/>
          </p:cNvSpPr>
          <p:nvPr>
            <p:ph type="body"/>
          </p:nvPr>
        </p:nvSpPr>
        <p:spPr>
          <a:xfrm>
            <a:off x="609480" y="1604520"/>
            <a:ext cx="147240" cy="45720"/>
          </a:xfrm>
          <a:prstGeom prst="rect">
            <a:avLst/>
          </a:prstGeom>
          <a:noFill/>
          <a:ln w="0">
            <a:noFill/>
          </a:ln>
        </p:spPr>
        <p:txBody>
          <a:bodyPr lIns="0" tIns="0" rIns="0" bIns="0" anchor="t">
            <a:normAutofit fontScale="25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2" name="PlaceHolder 3"/>
          <p:cNvSpPr>
            <a:spLocks noGrp="1"/>
          </p:cNvSpPr>
          <p:nvPr>
            <p:ph type="body"/>
          </p:nvPr>
        </p:nvSpPr>
        <p:spPr>
          <a:xfrm>
            <a:off x="765000" y="1604520"/>
            <a:ext cx="147240" cy="45720"/>
          </a:xfrm>
          <a:prstGeom prst="rect">
            <a:avLst/>
          </a:prstGeom>
          <a:noFill/>
          <a:ln w="0">
            <a:noFill/>
          </a:ln>
        </p:spPr>
        <p:txBody>
          <a:bodyPr lIns="0" tIns="0" rIns="0" bIns="0" anchor="t">
            <a:normAutofit fontScale="25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3" name="PlaceHolder 4"/>
          <p:cNvSpPr>
            <a:spLocks noGrp="1"/>
          </p:cNvSpPr>
          <p:nvPr>
            <p:ph type="body"/>
          </p:nvPr>
        </p:nvSpPr>
        <p:spPr>
          <a:xfrm>
            <a:off x="609480" y="1655280"/>
            <a:ext cx="147240" cy="45720"/>
          </a:xfrm>
          <a:prstGeom prst="rect">
            <a:avLst/>
          </a:prstGeom>
          <a:noFill/>
          <a:ln w="0">
            <a:noFill/>
          </a:ln>
        </p:spPr>
        <p:txBody>
          <a:bodyPr lIns="0" tIns="0" rIns="0" bIns="0" anchor="t">
            <a:normAutofit fontScale="25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4" name="PlaceHolder 5"/>
          <p:cNvSpPr>
            <a:spLocks noGrp="1"/>
          </p:cNvSpPr>
          <p:nvPr>
            <p:ph type="body"/>
          </p:nvPr>
        </p:nvSpPr>
        <p:spPr>
          <a:xfrm>
            <a:off x="765000" y="1655280"/>
            <a:ext cx="147240" cy="45720"/>
          </a:xfrm>
          <a:prstGeom prst="rect">
            <a:avLst/>
          </a:prstGeom>
          <a:noFill/>
          <a:ln w="0">
            <a:noFill/>
          </a:ln>
        </p:spPr>
        <p:txBody>
          <a:bodyPr lIns="0" tIns="0" rIns="0" bIns="0" anchor="t">
            <a:normAutofit fontScale="25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5" name="PlaceHolder 6"/>
          <p:cNvSpPr>
            <a:spLocks noGrp="1"/>
          </p:cNvSpPr>
          <p:nvPr>
            <p:ph type="ftr" idx="1"/>
          </p:nvPr>
        </p:nvSpPr>
        <p:spPr>
          <a:xfrm>
            <a:off x="4038480" y="6356520"/>
            <a:ext cx="4112640" cy="362880"/>
          </a:xfrm>
          <a:prstGeom prst="rect">
            <a:avLst/>
          </a:prstGeom>
          <a:noFill/>
          <a:ln w="19080">
            <a:noFill/>
          </a:ln>
        </p:spPr>
        <p:txBody>
          <a:bodyPr lIns="91440" tIns="45720" rIns="91440" bIns="45720" anchor="ctr">
            <a:noAutofit/>
          </a:bodyPr>
          <a:lstStyle>
            <a:lvl1pPr indent="0">
              <a:lnSpc>
                <a:spcPct val="100000"/>
              </a:lnSpc>
              <a:buNone/>
              <a:tabLst>
                <a:tab pos="0" algn="l"/>
              </a:tabLst>
              <a:defRPr lang="en-US" sz="1400" b="0" u="none" strike="noStrike">
                <a:solidFill>
                  <a:srgbClr val="000000"/>
                </a:solidFill>
                <a:effectLst/>
                <a:uFillTx/>
                <a:latin typeface="Times New Roman"/>
              </a:defRPr>
            </a:lvl1pPr>
          </a:lstStyle>
          <a:p>
            <a:pPr indent="0">
              <a:lnSpc>
                <a:spcPct val="100000"/>
              </a:lnSpc>
              <a:buNone/>
              <a:tabLst>
                <a:tab pos="0" algn="l"/>
              </a:tabLst>
            </a:pPr>
            <a:r>
              <a:rPr lang="en-US" sz="1400" b="0" u="none" strike="noStrike">
                <a:solidFill>
                  <a:srgbClr val="000000"/>
                </a:solidFill>
                <a:effectLst/>
                <a:uFillTx/>
                <a:latin typeface="Times New Roman"/>
              </a:rPr>
              <a:t>&lt;footer&gt;</a:t>
            </a:r>
          </a:p>
        </p:txBody>
      </p:sp>
      <p:sp>
        <p:nvSpPr>
          <p:cNvPr id="6" name="PlaceHolder 7"/>
          <p:cNvSpPr>
            <a:spLocks noGrp="1"/>
          </p:cNvSpPr>
          <p:nvPr>
            <p:ph type="sldNum" idx="2"/>
          </p:nvPr>
        </p:nvSpPr>
        <p:spPr>
          <a:xfrm>
            <a:off x="8610480" y="6356520"/>
            <a:ext cx="2741040" cy="362880"/>
          </a:xfrm>
          <a:prstGeom prst="rect">
            <a:avLst/>
          </a:prstGeom>
          <a:noFill/>
          <a:ln w="1908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67676"/>
                </a:solidFill>
                <a:effectLst/>
                <a:uFillTx/>
                <a:latin typeface="Aptos"/>
              </a:defRPr>
            </a:lvl1pPr>
          </a:lstStyle>
          <a:p>
            <a:pPr indent="0" algn="r">
              <a:lnSpc>
                <a:spcPct val="100000"/>
              </a:lnSpc>
              <a:buNone/>
              <a:tabLst>
                <a:tab pos="0" algn="l"/>
              </a:tabLst>
            </a:pPr>
            <a:fld id="{427457C0-8194-44A8-A6E4-10346CD81A48}" type="slidenum">
              <a:rPr lang="en-US" sz="1200" b="0" u="none" strike="noStrike">
                <a:solidFill>
                  <a:srgbClr val="767676"/>
                </a:solidFill>
                <a:effectLst/>
                <a:uFillTx/>
                <a:latin typeface="Aptos"/>
              </a:rPr>
              <a:t>‹#›</a:t>
            </a:fld>
            <a:endParaRPr lang="en-US" sz="1200" b="0" u="none" strike="noStrike">
              <a:solidFill>
                <a:srgbClr val="000000"/>
              </a:solidFill>
              <a:effectLst/>
              <a:uFillTx/>
              <a:latin typeface="Times New Roman"/>
            </a:endParaRPr>
          </a:p>
        </p:txBody>
      </p:sp>
      <p:sp>
        <p:nvSpPr>
          <p:cNvPr id="7" name="PlaceHolder 8"/>
          <p:cNvSpPr>
            <a:spLocks noGrp="1"/>
          </p:cNvSpPr>
          <p:nvPr>
            <p:ph type="dt" idx="3"/>
          </p:nvPr>
        </p:nvSpPr>
        <p:spPr>
          <a:xfrm>
            <a:off x="838080" y="6356520"/>
            <a:ext cx="2741040" cy="362880"/>
          </a:xfrm>
          <a:prstGeom prst="rect">
            <a:avLst/>
          </a:prstGeom>
          <a:noFill/>
          <a:ln w="1908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888480"/>
            <a:ext cx="10513440" cy="274680"/>
          </a:xfrm>
          <a:prstGeom prst="rect">
            <a:avLst/>
          </a:prstGeom>
          <a:noFill/>
          <a:ln w="0">
            <a:noFill/>
          </a:ln>
        </p:spPr>
        <p:txBody>
          <a:bodyPr lIns="0" tIns="0" rIns="0" bIns="0" anchor="ctr">
            <a:spAutoFit/>
          </a:bodyPr>
          <a:lstStyle/>
          <a:p>
            <a:pPr indent="0">
              <a:buNone/>
            </a:pPr>
            <a:r>
              <a:rPr lang="en-US" sz="1800" b="0" u="none" strike="noStrike">
                <a:solidFill>
                  <a:srgbClr val="000000"/>
                </a:solidFill>
                <a:effectLst/>
                <a:uFillTx/>
                <a:latin typeface="Arial"/>
              </a:rPr>
              <a:t>Click to edit the title text format</a:t>
            </a:r>
          </a:p>
        </p:txBody>
      </p:sp>
      <p:sp>
        <p:nvSpPr>
          <p:cNvPr id="32" name="PlaceHolder 2"/>
          <p:cNvSpPr>
            <a:spLocks noGrp="1"/>
          </p:cNvSpPr>
          <p:nvPr>
            <p:ph type="body"/>
          </p:nvPr>
        </p:nvSpPr>
        <p:spPr>
          <a:xfrm>
            <a:off x="609480" y="1604520"/>
            <a:ext cx="147240" cy="45720"/>
          </a:xfrm>
          <a:prstGeom prst="rect">
            <a:avLst/>
          </a:prstGeom>
          <a:noFill/>
          <a:ln w="0">
            <a:noFill/>
          </a:ln>
        </p:spPr>
        <p:txBody>
          <a:bodyPr lIns="0" tIns="0" rIns="0" bIns="0" anchor="t">
            <a:normAutofit fontScale="25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33" name="PlaceHolder 3"/>
          <p:cNvSpPr>
            <a:spLocks noGrp="1"/>
          </p:cNvSpPr>
          <p:nvPr>
            <p:ph type="body"/>
          </p:nvPr>
        </p:nvSpPr>
        <p:spPr>
          <a:xfrm>
            <a:off x="765000" y="1604520"/>
            <a:ext cx="147240" cy="45720"/>
          </a:xfrm>
          <a:prstGeom prst="rect">
            <a:avLst/>
          </a:prstGeom>
          <a:noFill/>
          <a:ln w="0">
            <a:noFill/>
          </a:ln>
        </p:spPr>
        <p:txBody>
          <a:bodyPr lIns="0" tIns="0" rIns="0" bIns="0" anchor="t">
            <a:normAutofit fontScale="25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34" name="PlaceHolder 4"/>
          <p:cNvSpPr>
            <a:spLocks noGrp="1"/>
          </p:cNvSpPr>
          <p:nvPr>
            <p:ph type="body"/>
          </p:nvPr>
        </p:nvSpPr>
        <p:spPr>
          <a:xfrm>
            <a:off x="609480" y="1655280"/>
            <a:ext cx="147240" cy="45720"/>
          </a:xfrm>
          <a:prstGeom prst="rect">
            <a:avLst/>
          </a:prstGeom>
          <a:noFill/>
          <a:ln w="0">
            <a:noFill/>
          </a:ln>
        </p:spPr>
        <p:txBody>
          <a:bodyPr lIns="0" tIns="0" rIns="0" bIns="0" anchor="t">
            <a:normAutofit fontScale="25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35" name="PlaceHolder 5"/>
          <p:cNvSpPr>
            <a:spLocks noGrp="1"/>
          </p:cNvSpPr>
          <p:nvPr>
            <p:ph type="body"/>
          </p:nvPr>
        </p:nvSpPr>
        <p:spPr>
          <a:xfrm>
            <a:off x="765000" y="1655280"/>
            <a:ext cx="147240" cy="45720"/>
          </a:xfrm>
          <a:prstGeom prst="rect">
            <a:avLst/>
          </a:prstGeom>
          <a:noFill/>
          <a:ln w="0">
            <a:noFill/>
          </a:ln>
        </p:spPr>
        <p:txBody>
          <a:bodyPr lIns="0" tIns="0" rIns="0" bIns="0" anchor="t">
            <a:normAutofit fontScale="25000" lnSpcReduction="19999"/>
          </a:bodyPr>
          <a:lstStyle/>
          <a:p>
            <a:pPr marL="432000" indent="-324000">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p>
        </p:txBody>
      </p:sp>
      <p:sp>
        <p:nvSpPr>
          <p:cNvPr id="36" name="PlaceHolder 6"/>
          <p:cNvSpPr>
            <a:spLocks noGrp="1"/>
          </p:cNvSpPr>
          <p:nvPr>
            <p:ph type="ftr" idx="10"/>
          </p:nvPr>
        </p:nvSpPr>
        <p:spPr>
          <a:xfrm>
            <a:off x="4038480" y="6356520"/>
            <a:ext cx="4112640" cy="362880"/>
          </a:xfrm>
          <a:prstGeom prst="rect">
            <a:avLst/>
          </a:prstGeom>
          <a:noFill/>
          <a:ln w="19080">
            <a:noFill/>
          </a:ln>
        </p:spPr>
        <p:txBody>
          <a:bodyPr lIns="91440" tIns="45720" rIns="91440" bIns="45720" anchor="ctr">
            <a:noAutofit/>
          </a:bodyPr>
          <a:lstStyle>
            <a:lvl1pPr indent="0">
              <a:lnSpc>
                <a:spcPct val="100000"/>
              </a:lnSpc>
              <a:buNone/>
              <a:tabLst>
                <a:tab pos="0" algn="l"/>
              </a:tabLst>
              <a:defRPr lang="en-US" sz="1400" b="0" u="none" strike="noStrike">
                <a:solidFill>
                  <a:srgbClr val="000000"/>
                </a:solidFill>
                <a:effectLst/>
                <a:uFillTx/>
                <a:latin typeface="Times New Roman"/>
              </a:defRPr>
            </a:lvl1pPr>
          </a:lstStyle>
          <a:p>
            <a:pPr indent="0">
              <a:lnSpc>
                <a:spcPct val="100000"/>
              </a:lnSpc>
              <a:buNone/>
              <a:tabLst>
                <a:tab pos="0" algn="l"/>
              </a:tabLst>
            </a:pPr>
            <a:r>
              <a:rPr lang="en-US" sz="1400" b="0" u="none" strike="noStrike">
                <a:solidFill>
                  <a:srgbClr val="000000"/>
                </a:solidFill>
                <a:effectLst/>
                <a:uFillTx/>
                <a:latin typeface="Times New Roman"/>
              </a:rPr>
              <a:t>&lt;footer&gt;</a:t>
            </a:r>
          </a:p>
        </p:txBody>
      </p:sp>
      <p:sp>
        <p:nvSpPr>
          <p:cNvPr id="37" name="PlaceHolder 7"/>
          <p:cNvSpPr>
            <a:spLocks noGrp="1"/>
          </p:cNvSpPr>
          <p:nvPr>
            <p:ph type="sldNum" idx="11"/>
          </p:nvPr>
        </p:nvSpPr>
        <p:spPr>
          <a:xfrm>
            <a:off x="8610480" y="6356520"/>
            <a:ext cx="2741040" cy="362880"/>
          </a:xfrm>
          <a:prstGeom prst="rect">
            <a:avLst/>
          </a:prstGeom>
          <a:noFill/>
          <a:ln w="19080">
            <a:noFill/>
          </a:ln>
        </p:spPr>
        <p:txBody>
          <a:bodyPr lIns="91440" tIns="45720" rIns="91440" bIns="45720" anchor="ctr">
            <a:noAutofit/>
          </a:bodyPr>
          <a:lstStyle>
            <a:lvl1pPr indent="0" algn="r">
              <a:lnSpc>
                <a:spcPct val="100000"/>
              </a:lnSpc>
              <a:buNone/>
              <a:tabLst>
                <a:tab pos="0" algn="l"/>
              </a:tabLst>
              <a:defRPr lang="en-US" sz="1200" b="0" u="none" strike="noStrike">
                <a:solidFill>
                  <a:srgbClr val="767676"/>
                </a:solidFill>
                <a:effectLst/>
                <a:uFillTx/>
                <a:latin typeface="Aptos"/>
              </a:defRPr>
            </a:lvl1pPr>
          </a:lstStyle>
          <a:p>
            <a:pPr indent="0" algn="r">
              <a:lnSpc>
                <a:spcPct val="100000"/>
              </a:lnSpc>
              <a:buNone/>
              <a:tabLst>
                <a:tab pos="0" algn="l"/>
              </a:tabLst>
            </a:pPr>
            <a:fld id="{292530FF-AE26-4193-8B84-31D30CE532E6}" type="slidenum">
              <a:rPr lang="en-US" sz="1200" b="0" u="none" strike="noStrike">
                <a:solidFill>
                  <a:srgbClr val="767676"/>
                </a:solidFill>
                <a:effectLst/>
                <a:uFillTx/>
                <a:latin typeface="Aptos"/>
              </a:rPr>
              <a:t>‹#›</a:t>
            </a:fld>
            <a:endParaRPr lang="en-US" sz="1200" b="0" u="none" strike="noStrike">
              <a:solidFill>
                <a:srgbClr val="000000"/>
              </a:solidFill>
              <a:effectLst/>
              <a:uFillTx/>
              <a:latin typeface="Times New Roman"/>
            </a:endParaRPr>
          </a:p>
        </p:txBody>
      </p:sp>
      <p:sp>
        <p:nvSpPr>
          <p:cNvPr id="38" name="PlaceHolder 8"/>
          <p:cNvSpPr>
            <a:spLocks noGrp="1"/>
          </p:cNvSpPr>
          <p:nvPr>
            <p:ph type="dt" idx="12"/>
          </p:nvPr>
        </p:nvSpPr>
        <p:spPr>
          <a:xfrm>
            <a:off x="838080" y="6356520"/>
            <a:ext cx="2741040" cy="362880"/>
          </a:xfrm>
          <a:prstGeom prst="rect">
            <a:avLst/>
          </a:prstGeom>
          <a:noFill/>
          <a:ln w="19080">
            <a:noFill/>
          </a:ln>
        </p:spPr>
        <p:txBody>
          <a:bodyPr lIns="91440" tIns="45720" rIns="91440" bIns="45720" anchor="ctr">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svg"/></Relationships>
</file>

<file path=ppt/slides/_rels/slide25.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1.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2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25.jpe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6" Type="http://schemas.openxmlformats.org/officeDocument/2006/relationships/image" Target="../media/image29.svg"/><Relationship Id="rId5" Type="http://schemas.openxmlformats.org/officeDocument/2006/relationships/image" Target="../media/image14.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0.svg"/><Relationship Id="rId1" Type="http://schemas.openxmlformats.org/officeDocument/2006/relationships/slideLayout" Target="../slideLayouts/slideLayout4.xml"/><Relationship Id="rId4" Type="http://schemas.openxmlformats.org/officeDocument/2006/relationships/image" Target="../media/image31.sv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svg"/></Relationships>
</file>

<file path=ppt/slides/_rels/slide3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svg"/><Relationship Id="rId7" Type="http://schemas.openxmlformats.org/officeDocument/2006/relationships/image" Target="../media/image40.svg"/><Relationship Id="rId2" Type="http://schemas.openxmlformats.org/officeDocument/2006/relationships/image" Target="../media/image37.jpeg"/><Relationship Id="rId1" Type="http://schemas.openxmlformats.org/officeDocument/2006/relationships/slideLayout" Target="../slideLayouts/slideLayout4.xml"/><Relationship Id="rId6" Type="http://schemas.openxmlformats.org/officeDocument/2006/relationships/image" Target="../media/image39.svg"/><Relationship Id="rId5" Type="http://schemas.openxmlformats.org/officeDocument/2006/relationships/image" Target="../media/image38.jpeg"/><Relationship Id="rId4" Type="http://schemas.openxmlformats.org/officeDocument/2006/relationships/image" Target="../media/image3.png"/><Relationship Id="rId9" Type="http://schemas.openxmlformats.org/officeDocument/2006/relationships/image" Target="../media/image42.png"/></Relationships>
</file>

<file path=ppt/slides/_rels/slide34.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14.png"/><Relationship Id="rId7" Type="http://schemas.openxmlformats.org/officeDocument/2006/relationships/image" Target="../media/image29.svg"/><Relationship Id="rId12"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4.xml"/><Relationship Id="rId6" Type="http://schemas.openxmlformats.org/officeDocument/2006/relationships/image" Target="../media/image43.png"/><Relationship Id="rId11" Type="http://schemas.openxmlformats.org/officeDocument/2006/relationships/image" Target="../media/image46.svg"/><Relationship Id="rId5" Type="http://schemas.openxmlformats.org/officeDocument/2006/relationships/image" Target="../media/image11.png"/><Relationship Id="rId10" Type="http://schemas.openxmlformats.org/officeDocument/2006/relationships/image" Target="../media/image45.svg"/><Relationship Id="rId4" Type="http://schemas.openxmlformats.org/officeDocument/2006/relationships/image" Target="../media/image10.png"/><Relationship Id="rId9"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1143360" y="3475440"/>
            <a:ext cx="10513440" cy="1323360"/>
          </a:xfrm>
          <a:prstGeom prst="rect">
            <a:avLst/>
          </a:prstGeom>
          <a:noFill/>
          <a:ln w="19080">
            <a:noFill/>
          </a:ln>
        </p:spPr>
        <p:txBody>
          <a:bodyPr lIns="91440" tIns="45720" rIns="91440" bIns="45720" anchor="ctr" anchorCtr="1">
            <a:normAutofit fontScale="90000"/>
          </a:bodyPr>
          <a:lstStyle/>
          <a:p>
            <a:pPr indent="0" algn="ctr">
              <a:lnSpc>
                <a:spcPct val="100000"/>
              </a:lnSpc>
              <a:spcBef>
                <a:spcPts val="283"/>
              </a:spcBef>
              <a:spcAft>
                <a:spcPts val="283"/>
              </a:spcAft>
              <a:buNone/>
              <a:tabLst>
                <a:tab pos="0" algn="l"/>
              </a:tabLst>
            </a:pPr>
            <a:r>
              <a:rPr lang="en-US" sz="3100" i="0" dirty="0">
                <a:solidFill>
                  <a:srgbClr val="000000"/>
                </a:solidFill>
                <a:effectLst/>
                <a:latin typeface="Times New Roman" panose="02020603050405020304" pitchFamily="18" charset="0"/>
                <a:cs typeface="Times New Roman" panose="02020603050405020304" pitchFamily="18" charset="0"/>
              </a:rPr>
              <a:t>A semi-supervised pipeline for a comprehensive and scalable analysis of immune heterogeneity in human samples</a:t>
            </a:r>
            <a:br>
              <a:rPr sz="3600" dirty="0"/>
            </a:br>
            <a:endParaRPr lang="en-US" sz="3600" b="0" u="none" strike="noStrike" dirty="0">
              <a:solidFill>
                <a:srgbClr val="000000"/>
              </a:solidFill>
              <a:effectLst/>
              <a:uFillTx/>
              <a:latin typeface="Arial"/>
            </a:endParaRPr>
          </a:p>
        </p:txBody>
      </p:sp>
      <p:sp>
        <p:nvSpPr>
          <p:cNvPr id="45" name="PlaceHolder 2"/>
          <p:cNvSpPr>
            <a:spLocks noGrp="1"/>
          </p:cNvSpPr>
          <p:nvPr>
            <p:ph/>
          </p:nvPr>
        </p:nvSpPr>
        <p:spPr>
          <a:xfrm>
            <a:off x="914760" y="4572000"/>
            <a:ext cx="10513440" cy="2512440"/>
          </a:xfrm>
          <a:prstGeom prst="rect">
            <a:avLst/>
          </a:prstGeom>
          <a:noFill/>
          <a:ln w="19080">
            <a:noFill/>
          </a:ln>
        </p:spPr>
        <p:txBody>
          <a:bodyPr lIns="91440" tIns="45720" rIns="91440" bIns="45720" anchor="t" anchorCtr="1">
            <a:normAutofit/>
          </a:bodyPr>
          <a:lstStyle/>
          <a:p>
            <a:pPr marL="432000" indent="0" algn="ctr">
              <a:lnSpc>
                <a:spcPts val="720"/>
              </a:lnSpc>
              <a:spcBef>
                <a:spcPts val="1417"/>
              </a:spcBef>
              <a:buNone/>
              <a:tabLst>
                <a:tab pos="0" algn="l"/>
              </a:tabLst>
            </a:pPr>
            <a:r>
              <a:rPr lang="en-US" sz="2000" b="0" u="none" strike="noStrike" dirty="0">
                <a:solidFill>
                  <a:srgbClr val="000000"/>
                </a:solidFill>
                <a:effectLst/>
                <a:uFillTx/>
                <a:latin typeface="Times New Roman" panose="02020603050405020304" pitchFamily="18" charset="0"/>
                <a:cs typeface="Times New Roman" panose="02020603050405020304" pitchFamily="18" charset="0"/>
              </a:rPr>
              <a:t>by David Rach</a:t>
            </a:r>
          </a:p>
          <a:p>
            <a:pPr marL="432000" indent="0" algn="ctr">
              <a:lnSpc>
                <a:spcPts val="720"/>
              </a:lnSpc>
              <a:spcBef>
                <a:spcPts val="1701"/>
              </a:spcBef>
              <a:spcAft>
                <a:spcPts val="283"/>
              </a:spcAft>
              <a:buNone/>
              <a:tabLst>
                <a:tab pos="0" algn="l"/>
              </a:tabLst>
            </a:pPr>
            <a:r>
              <a:rPr lang="en-US" sz="2000" b="0" u="none" strike="noStrike" dirty="0">
                <a:solidFill>
                  <a:srgbClr val="000000"/>
                </a:solidFill>
                <a:effectLst/>
                <a:uFillTx/>
                <a:latin typeface="Times New Roman" panose="02020603050405020304" pitchFamily="18" charset="0"/>
                <a:ea typeface="Noto Sans CJK SC"/>
                <a:cs typeface="Times New Roman" panose="02020603050405020304" pitchFamily="18" charset="0"/>
              </a:rPr>
              <a:t>UMGCCC Flow Cytometry Shared Resource </a:t>
            </a:r>
            <a:endParaRPr lang="en-US" sz="2000" b="0" u="none" strike="noStrike" dirty="0">
              <a:solidFill>
                <a:srgbClr val="000000"/>
              </a:solidFill>
              <a:effectLst/>
              <a:uFillTx/>
              <a:latin typeface="Times New Roman" panose="02020603050405020304" pitchFamily="18" charset="0"/>
              <a:cs typeface="Times New Roman" panose="02020603050405020304" pitchFamily="18" charset="0"/>
            </a:endParaRPr>
          </a:p>
          <a:p>
            <a:pPr marL="432000" indent="0" algn="ctr">
              <a:lnSpc>
                <a:spcPts val="720"/>
              </a:lnSpc>
              <a:spcBef>
                <a:spcPts val="1701"/>
              </a:spcBef>
              <a:spcAft>
                <a:spcPts val="283"/>
              </a:spcAft>
              <a:buNone/>
              <a:tabLst>
                <a:tab pos="0" algn="l"/>
              </a:tabLst>
            </a:pPr>
            <a:r>
              <a:rPr lang="en-US" sz="2000" b="0" u="none" strike="noStrike" dirty="0">
                <a:solidFill>
                  <a:srgbClr val="000000"/>
                </a:solidFill>
                <a:effectLst/>
                <a:uFillTx/>
                <a:latin typeface="Times New Roman" panose="02020603050405020304" pitchFamily="18" charset="0"/>
                <a:ea typeface="Noto Sans CJK SC"/>
                <a:cs typeface="Times New Roman" panose="02020603050405020304" pitchFamily="18" charset="0"/>
              </a:rPr>
              <a:t>June 9, 2026 </a:t>
            </a:r>
            <a:endParaRPr lang="en-US" sz="20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46" name="Graphic 45"/>
          <p:cNvPicPr/>
          <p:nvPr/>
        </p:nvPicPr>
        <p:blipFill>
          <a:blip>
            <a:extLst>
              <a:ext uri="{96DAC541-7B7A-43D3-8B79-37D633B846F1}">
                <asvg:svgBlip xmlns:asvg="http://schemas.microsoft.com/office/drawing/2016/SVG/main" r:embed="rId2"/>
              </a:ext>
            </a:extLst>
          </a:blip>
          <a:stretch/>
        </p:blipFill>
        <p:spPr>
          <a:xfrm>
            <a:off x="457200" y="228600"/>
            <a:ext cx="4116600" cy="1081440"/>
          </a:xfrm>
          <a:prstGeom prst="rect">
            <a:avLst/>
          </a:prstGeom>
          <a:noFill/>
          <a:ln w="0">
            <a:noFill/>
          </a:ln>
        </p:spPr>
      </p:pic>
      <p:pic>
        <p:nvPicPr>
          <p:cNvPr id="47" name="Picture 46"/>
          <p:cNvPicPr/>
          <p:nvPr/>
        </p:nvPicPr>
        <p:blipFill>
          <a:blip r:embed="rId3"/>
          <a:stretch/>
        </p:blipFill>
        <p:spPr>
          <a:xfrm>
            <a:off x="10435590" y="6172200"/>
            <a:ext cx="1143000" cy="401040"/>
          </a:xfrm>
          <a:prstGeom prst="rect">
            <a:avLst/>
          </a:prstGeom>
          <a:noFill/>
          <a:ln w="0">
            <a:noFill/>
          </a:ln>
        </p:spPr>
      </p:pic>
      <p:pic>
        <p:nvPicPr>
          <p:cNvPr id="48" name="Picture 47"/>
          <p:cNvPicPr/>
          <p:nvPr/>
        </p:nvPicPr>
        <p:blipFill>
          <a:blip r:embed="rId4"/>
          <a:stretch/>
        </p:blipFill>
        <p:spPr>
          <a:xfrm>
            <a:off x="8458200" y="228600"/>
            <a:ext cx="3426840" cy="1347840"/>
          </a:xfrm>
          <a:prstGeom prst="rect">
            <a:avLst/>
          </a:prstGeom>
          <a:noFill/>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b="0" u="none" strike="noStrike" dirty="0">
                <a:solidFill>
                  <a:srgbClr val="000000"/>
                </a:solidFill>
                <a:effectLst/>
                <a:uFillTx/>
                <a:latin typeface="Times New Roman" panose="02020603050405020304" pitchFamily="18" charset="0"/>
                <a:cs typeface="Times New Roman" panose="02020603050405020304" pitchFamily="18" charset="0"/>
              </a:rPr>
              <a:t>SFC is awesome!</a:t>
            </a:r>
          </a:p>
        </p:txBody>
      </p:sp>
      <p:sp>
        <p:nvSpPr>
          <p:cNvPr id="51" name="Rectangle 50"/>
          <p:cNvSpPr/>
          <p:nvPr/>
        </p:nvSpPr>
        <p:spPr>
          <a:xfrm>
            <a:off x="6177960" y="1205370"/>
            <a:ext cx="5388480" cy="246075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Whether 20 markers or 60, ability to rapidly acquire millions of cells in minutes. </a:t>
            </a: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expanding our understanding human immunology, potential for </a:t>
            </a:r>
            <a:r>
              <a:rPr lang="en-US" sz="2200" dirty="0" err="1">
                <a:latin typeface="Times New Roman" panose="02020603050405020304" pitchFamily="18" charset="0"/>
                <a:cs typeface="Times New Roman" panose="02020603050405020304" pitchFamily="18" charset="0"/>
              </a:rPr>
              <a:t>biologica</a:t>
            </a:r>
            <a:r>
              <a:rPr lang="en-US" sz="2200" dirty="0">
                <a:latin typeface="Times New Roman" panose="02020603050405020304" pitchFamily="18" charset="0"/>
                <a:cs typeface="Times New Roman" panose="02020603050405020304" pitchFamily="18" charset="0"/>
              </a:rPr>
              <a:t> characterization rarer subsets,</a:t>
            </a:r>
          </a:p>
          <a:p>
            <a:pPr marL="285750" indent="-28575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particularly invaluable for clinical specimens limited biospecimen.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23E3D3C-AD76-70F1-DC08-513503E79531}"/>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8FEC4701-60DC-22D9-D4D8-73EB2657DC9C}"/>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dirty="0">
                <a:solidFill>
                  <a:srgbClr val="000000"/>
                </a:solidFill>
                <a:latin typeface="Times New Roman" panose="02020603050405020304" pitchFamily="18" charset="0"/>
                <a:cs typeface="Times New Roman" panose="02020603050405020304" pitchFamily="18" charset="0"/>
              </a:rPr>
              <a:t>Cross-roads deal with the devil</a:t>
            </a:r>
            <a:endParaRPr lang="en-US" sz="3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9E409613-2A5B-D849-BD3F-E1B63DD690DF}"/>
              </a:ext>
            </a:extLst>
          </p:cNvPr>
          <p:cNvSpPr/>
          <p:nvPr/>
        </p:nvSpPr>
        <p:spPr>
          <a:xfrm>
            <a:off x="6177960" y="1205370"/>
            <a:ext cx="5388480" cy="246075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Elephants in the room. </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Uncertainty ~ marker "abundances",</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everything affect, tandem </a:t>
            </a:r>
            <a:r>
              <a:rPr lang="en-US" sz="2200" dirty="0" err="1">
                <a:latin typeface="Times New Roman" panose="02020603050405020304" pitchFamily="18" charset="0"/>
                <a:cs typeface="Times New Roman" panose="02020603050405020304" pitchFamily="18" charset="0"/>
              </a:rPr>
              <a:t>degradagtion</a:t>
            </a:r>
            <a:r>
              <a:rPr lang="en-US" sz="2200" dirty="0">
                <a:latin typeface="Times New Roman" panose="02020603050405020304" pitchFamily="18" charset="0"/>
                <a:cs typeface="Times New Roman" panose="02020603050405020304" pitchFamily="18" charset="0"/>
              </a:rPr>
              <a:t>, non-</a:t>
            </a:r>
            <a:r>
              <a:rPr lang="en-US" sz="2200" dirty="0" err="1">
                <a:latin typeface="Times New Roman" panose="02020603050405020304" pitchFamily="18" charset="0"/>
                <a:cs typeface="Times New Roman" panose="02020603050405020304" pitchFamily="18" charset="0"/>
              </a:rPr>
              <a:t>speicifc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af</a:t>
            </a:r>
            <a:r>
              <a:rPr lang="en-US" sz="2200" dirty="0">
                <a:latin typeface="Times New Roman" panose="02020603050405020304" pitchFamily="18" charset="0"/>
                <a:cs typeface="Times New Roman" panose="02020603050405020304" pitchFamily="18" charset="0"/>
              </a:rPr>
              <a:t> variation, </a:t>
            </a:r>
            <a:r>
              <a:rPr lang="en-US" sz="2200" dirty="0" err="1">
                <a:latin typeface="Times New Roman" panose="02020603050405020304" pitchFamily="18" charset="0"/>
                <a:cs typeface="Times New Roman" panose="02020603050405020304" pitchFamily="18" charset="0"/>
              </a:rPr>
              <a:t>coexpression</a:t>
            </a:r>
            <a:r>
              <a:rPr lang="en-US" sz="22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Caution in attributing to biology what could be technical artifact in these large panels. </a:t>
            </a:r>
          </a:p>
        </p:txBody>
      </p:sp>
    </p:spTree>
    <p:extLst>
      <p:ext uri="{BB962C8B-B14F-4D97-AF65-F5344CB8AC3E}">
        <p14:creationId xmlns:p14="http://schemas.microsoft.com/office/powerpoint/2010/main" val="2506908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B7759F-91D3-A8EB-8EF4-8CC218C689F9}"/>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11C9BF78-FFC9-145A-EC97-0ADBDDA170A8}"/>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b="0" u="none" strike="noStrike" dirty="0">
                <a:solidFill>
                  <a:srgbClr val="000000"/>
                </a:solidFill>
                <a:effectLst/>
                <a:uFillTx/>
                <a:latin typeface="Times New Roman" panose="02020603050405020304" pitchFamily="18" charset="0"/>
                <a:cs typeface="Times New Roman" panose="02020603050405020304" pitchFamily="18" charset="0"/>
              </a:rPr>
              <a:t>No cell left behind</a:t>
            </a:r>
          </a:p>
        </p:txBody>
      </p:sp>
      <p:sp>
        <p:nvSpPr>
          <p:cNvPr id="51" name="Rectangle 50">
            <a:extLst>
              <a:ext uri="{FF2B5EF4-FFF2-40B4-BE49-F238E27FC236}">
                <a16:creationId xmlns:a16="http://schemas.microsoft.com/office/drawing/2014/main" id="{305B6AD8-9167-9FE9-BB12-503B2407536D}"/>
              </a:ext>
            </a:extLst>
          </p:cNvPr>
          <p:cNvSpPr/>
          <p:nvPr/>
        </p:nvSpPr>
        <p:spPr>
          <a:xfrm>
            <a:off x="6177960" y="1205370"/>
            <a:ext cx="5388480" cy="31378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While if you are interested in a single cell population, the analysis remains essentially the same, </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there is one area I have constantly grappled with over my PhD. </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Namely, if we acquired 7 million cells to characterize 100 of our rare population, what is occurring in the rest of the cells.</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Especially if for a rare clinical cohort.</a:t>
            </a:r>
          </a:p>
        </p:txBody>
      </p:sp>
    </p:spTree>
    <p:extLst>
      <p:ext uri="{BB962C8B-B14F-4D97-AF65-F5344CB8AC3E}">
        <p14:creationId xmlns:p14="http://schemas.microsoft.com/office/powerpoint/2010/main" val="579048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77DF66D-931F-680B-858A-942BC3C549C8}"/>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906D30B3-E97A-1C5F-0A9B-5B66206792C4}"/>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b="0" u="none" strike="noStrike" dirty="0">
                <a:solidFill>
                  <a:srgbClr val="000000"/>
                </a:solidFill>
                <a:effectLst/>
                <a:uFillTx/>
                <a:latin typeface="Times New Roman" panose="02020603050405020304" pitchFamily="18" charset="0"/>
                <a:cs typeface="Times New Roman" panose="02020603050405020304" pitchFamily="18" charset="0"/>
              </a:rPr>
              <a:t>Unsupervised</a:t>
            </a:r>
          </a:p>
        </p:txBody>
      </p:sp>
      <p:sp>
        <p:nvSpPr>
          <p:cNvPr id="51" name="Rectangle 50">
            <a:extLst>
              <a:ext uri="{FF2B5EF4-FFF2-40B4-BE49-F238E27FC236}">
                <a16:creationId xmlns:a16="http://schemas.microsoft.com/office/drawing/2014/main" id="{347EDE15-88B3-120E-23B4-08AD0ACE2BEF}"/>
              </a:ext>
            </a:extLst>
          </p:cNvPr>
          <p:cNvSpPr/>
          <p:nvPr/>
        </p:nvSpPr>
        <p:spPr>
          <a:xfrm>
            <a:off x="6177960" y="1205370"/>
            <a:ext cx="5388480" cy="415353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Unsupervised analytical methods have often been touted as the solution, but in their current implementation, are they fully leveraging the entirety of our unique datasets? </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Or are they confined to skimming the surface. </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Similarly, we cluster, is the statistical test even biologically </a:t>
            </a:r>
            <a:r>
              <a:rPr lang="en-US" sz="2200" dirty="0" err="1">
                <a:latin typeface="Times New Roman" panose="02020603050405020304" pitchFamily="18" charset="0"/>
                <a:cs typeface="Times New Roman" panose="02020603050405020304" pitchFamily="18" charset="0"/>
              </a:rPr>
              <a:t>relavent</a:t>
            </a:r>
            <a:r>
              <a:rPr lang="en-US" sz="2200" dirty="0">
                <a:latin typeface="Times New Roman" panose="02020603050405020304" pitchFamily="18" charset="0"/>
                <a:cs typeface="Times New Roman" panose="02020603050405020304" pitchFamily="18" charset="0"/>
              </a:rPr>
              <a:t> if three distinct groups of cells ended smooshed together. </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And if our datasets have MFI batch effects, how reliable would they perform. </a:t>
            </a:r>
          </a:p>
        </p:txBody>
      </p:sp>
    </p:spTree>
    <p:extLst>
      <p:ext uri="{BB962C8B-B14F-4D97-AF65-F5344CB8AC3E}">
        <p14:creationId xmlns:p14="http://schemas.microsoft.com/office/powerpoint/2010/main" val="4031608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F7FB62-FE70-0451-C216-21CB2424E035}"/>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64D21DC3-2895-4272-BB88-3343E1BD7FA4}"/>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dirty="0">
                <a:solidFill>
                  <a:srgbClr val="000000"/>
                </a:solidFill>
                <a:latin typeface="Times New Roman" panose="02020603050405020304" pitchFamily="18" charset="0"/>
                <a:cs typeface="Times New Roman" panose="02020603050405020304" pitchFamily="18" charset="0"/>
              </a:rPr>
              <a:t>Where does a cell population vs. flavor begin</a:t>
            </a:r>
            <a:endParaRPr lang="en-US" sz="3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277D3F20-9621-8027-DAC4-C039A9A61C32}"/>
              </a:ext>
            </a:extLst>
          </p:cNvPr>
          <p:cNvSpPr/>
          <p:nvPr/>
        </p:nvSpPr>
        <p:spPr>
          <a:xfrm>
            <a:off x="6177960" y="1205370"/>
            <a:ext cx="5388480" cy="31378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Because at the end of the day, when it's 3 AM, I step back. </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On a spectrum, our discussions about clusters and </a:t>
            </a:r>
            <a:r>
              <a:rPr lang="en-US" sz="2200" dirty="0" err="1">
                <a:latin typeface="Times New Roman" panose="02020603050405020304" pitchFamily="18" charset="0"/>
                <a:cs typeface="Times New Roman" panose="02020603050405020304" pitchFamily="18" charset="0"/>
              </a:rPr>
              <a:t>metaclusters</a:t>
            </a:r>
            <a:r>
              <a:rPr lang="en-US" sz="2200" dirty="0">
                <a:latin typeface="Times New Roman" panose="02020603050405020304" pitchFamily="18" charset="0"/>
                <a:cs typeface="Times New Roman" panose="02020603050405020304" pitchFamily="18" charset="0"/>
              </a:rPr>
              <a:t> revolve about where we draw the lines. </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On one end every cell is in a cluster with itself. </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On the other everything is in the same cluster. </a:t>
            </a:r>
          </a:p>
        </p:txBody>
      </p:sp>
    </p:spTree>
    <p:extLst>
      <p:ext uri="{BB962C8B-B14F-4D97-AF65-F5344CB8AC3E}">
        <p14:creationId xmlns:p14="http://schemas.microsoft.com/office/powerpoint/2010/main" val="1647377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C989DC7-AD3D-4D05-48E1-ED6DF63D966A}"/>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6D8B9DF1-24B4-EC91-A44A-641C366B4027}"/>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b="0" u="none" strike="noStrike" dirty="0">
                <a:solidFill>
                  <a:srgbClr val="000000"/>
                </a:solidFill>
                <a:effectLst/>
                <a:uFillTx/>
                <a:latin typeface="Times New Roman" panose="02020603050405020304" pitchFamily="18" charset="0"/>
                <a:cs typeface="Times New Roman" panose="02020603050405020304" pitchFamily="18" charset="0"/>
              </a:rPr>
              <a:t>Every Panel Differs</a:t>
            </a:r>
          </a:p>
        </p:txBody>
      </p:sp>
      <p:sp>
        <p:nvSpPr>
          <p:cNvPr id="51" name="Rectangle 50">
            <a:extLst>
              <a:ext uri="{FF2B5EF4-FFF2-40B4-BE49-F238E27FC236}">
                <a16:creationId xmlns:a16="http://schemas.microsoft.com/office/drawing/2014/main" id="{9DF3B7E3-8D11-F4D5-3F3E-CE81EF334CAB}"/>
              </a:ext>
            </a:extLst>
          </p:cNvPr>
          <p:cNvSpPr/>
          <p:nvPr/>
        </p:nvSpPr>
        <p:spPr>
          <a:xfrm>
            <a:off x="6177960" y="1205370"/>
            <a:ext cx="5388480" cy="175287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750" indent="-285750">
              <a:buFont typeface="Wingdings" panose="05000000000000000000" pitchFamily="2" charset="2"/>
              <a:buChar char="q"/>
            </a:pPr>
            <a:r>
              <a:rPr lang="en-US" dirty="0"/>
              <a:t>Every panel, depending on our markers, has an ability to define cell populations that are present up to a certain point. </a:t>
            </a:r>
          </a:p>
          <a:p>
            <a:pPr marL="285750" indent="-285750">
              <a:buFont typeface="Wingdings" panose="05000000000000000000" pitchFamily="2" charset="2"/>
              <a:buChar char="q"/>
            </a:pPr>
            <a:r>
              <a:rPr lang="en-US" dirty="0"/>
              <a:t>And various groups have previous implementations of trying to corral cells of these phenotypes for biological insight. </a:t>
            </a:r>
          </a:p>
        </p:txBody>
      </p:sp>
    </p:spTree>
    <p:extLst>
      <p:ext uri="{BB962C8B-B14F-4D97-AF65-F5344CB8AC3E}">
        <p14:creationId xmlns:p14="http://schemas.microsoft.com/office/powerpoint/2010/main" val="3207311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75122A5-14C0-95AA-65ED-6729DA108957}"/>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5112902C-695D-1474-6C91-D4D5B358E3FE}"/>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b="0" u="none" strike="noStrike" dirty="0">
                <a:solidFill>
                  <a:srgbClr val="000000"/>
                </a:solidFill>
                <a:effectLst/>
                <a:uFillTx/>
                <a:latin typeface="Times New Roman" panose="02020603050405020304" pitchFamily="18" charset="0"/>
                <a:cs typeface="Times New Roman" panose="02020603050405020304" pitchFamily="18" charset="0"/>
              </a:rPr>
              <a:t>Just want to do the dataset justice</a:t>
            </a:r>
          </a:p>
        </p:txBody>
      </p:sp>
      <p:sp>
        <p:nvSpPr>
          <p:cNvPr id="51" name="Rectangle 50">
            <a:extLst>
              <a:ext uri="{FF2B5EF4-FFF2-40B4-BE49-F238E27FC236}">
                <a16:creationId xmlns:a16="http://schemas.microsoft.com/office/drawing/2014/main" id="{09375FED-105F-0073-DD59-A9AFE1706F1B}"/>
              </a:ext>
            </a:extLst>
          </p:cNvPr>
          <p:cNvSpPr/>
          <p:nvPr/>
        </p:nvSpPr>
        <p:spPr>
          <a:xfrm>
            <a:off x="6177960" y="1205370"/>
            <a:ext cx="5388480" cy="230687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750" indent="-285750">
              <a:buFont typeface="Wingdings" panose="05000000000000000000" pitchFamily="2" charset="2"/>
              <a:buChar char="q"/>
            </a:pPr>
            <a:r>
              <a:rPr lang="en-US" dirty="0"/>
              <a:t>At the end of the day, I want to leverage the clearest insight out of my panel. </a:t>
            </a:r>
          </a:p>
          <a:p>
            <a:pPr marL="285750" indent="-285750">
              <a:buFont typeface="Wingdings" panose="05000000000000000000" pitchFamily="2" charset="2"/>
              <a:buChar char="q"/>
            </a:pPr>
            <a:r>
              <a:rPr lang="en-US" dirty="0"/>
              <a:t>Just like I make my single-color controls each time because I don't want to spend hours after the fact trying to make things work,</a:t>
            </a:r>
          </a:p>
          <a:p>
            <a:pPr marL="285750" indent="-285750">
              <a:buFont typeface="Wingdings" panose="05000000000000000000" pitchFamily="2" charset="2"/>
              <a:buChar char="q"/>
            </a:pPr>
            <a:r>
              <a:rPr lang="en-US" dirty="0"/>
              <a:t> I don't see the point of clustering only to spend hours laboriously re-glue-</a:t>
            </a:r>
            <a:r>
              <a:rPr lang="en-US" dirty="0" err="1"/>
              <a:t>ing</a:t>
            </a:r>
            <a:r>
              <a:rPr lang="en-US" dirty="0"/>
              <a:t> things back together. (too much, tone it back?)</a:t>
            </a:r>
          </a:p>
        </p:txBody>
      </p:sp>
    </p:spTree>
    <p:extLst>
      <p:ext uri="{BB962C8B-B14F-4D97-AF65-F5344CB8AC3E}">
        <p14:creationId xmlns:p14="http://schemas.microsoft.com/office/powerpoint/2010/main" val="1645581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BA7C8E7-5044-B097-B993-F8E53BB6CE30}"/>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05AEF56D-C160-AEBE-1B3D-A283A671FEE5}"/>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b="0" u="none" strike="noStrike" dirty="0">
                <a:solidFill>
                  <a:srgbClr val="000000"/>
                </a:solidFill>
                <a:effectLst/>
                <a:uFillTx/>
                <a:latin typeface="Times New Roman" panose="02020603050405020304" pitchFamily="18" charset="0"/>
                <a:cs typeface="Times New Roman" panose="02020603050405020304" pitchFamily="18" charset="0"/>
              </a:rPr>
              <a:t>Cohort</a:t>
            </a:r>
          </a:p>
        </p:txBody>
      </p:sp>
      <p:sp>
        <p:nvSpPr>
          <p:cNvPr id="51" name="Rectangle 50">
            <a:extLst>
              <a:ext uri="{FF2B5EF4-FFF2-40B4-BE49-F238E27FC236}">
                <a16:creationId xmlns:a16="http://schemas.microsoft.com/office/drawing/2014/main" id="{CE6C66E5-819F-4636-85B8-AD212D9113D7}"/>
              </a:ext>
            </a:extLst>
          </p:cNvPr>
          <p:cNvSpPr/>
          <p:nvPr/>
        </p:nvSpPr>
        <p:spPr>
          <a:xfrm>
            <a:off x="6177960" y="1205370"/>
            <a:ext cx="5388480" cy="470752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We are working with a cohort of </a:t>
            </a:r>
            <a:r>
              <a:rPr lang="en-US" sz="2200" dirty="0" err="1">
                <a:latin typeface="Times New Roman" panose="02020603050405020304" pitchFamily="18" charset="0"/>
                <a:cs typeface="Times New Roman" panose="02020603050405020304" pitchFamily="18" charset="0"/>
              </a:rPr>
              <a:t>malawian</a:t>
            </a:r>
            <a:r>
              <a:rPr lang="en-US" sz="2200" dirty="0">
                <a:latin typeface="Times New Roman" panose="02020603050405020304" pitchFamily="18" charset="0"/>
                <a:cs typeface="Times New Roman" panose="02020603050405020304" pitchFamily="18" charset="0"/>
              </a:rPr>
              <a:t> infants, well </a:t>
            </a:r>
            <a:r>
              <a:rPr lang="en-US" sz="2200" dirty="0" err="1">
                <a:latin typeface="Times New Roman" panose="02020603050405020304" pitchFamily="18" charset="0"/>
                <a:cs typeface="Times New Roman" panose="02020603050405020304" pitchFamily="18" charset="0"/>
              </a:rPr>
              <a:t>stratefied</a:t>
            </a:r>
            <a:r>
              <a:rPr lang="en-US" sz="2200" dirty="0">
                <a:latin typeface="Times New Roman" panose="02020603050405020304" pitchFamily="18" charset="0"/>
                <a:cs typeface="Times New Roman" panose="02020603050405020304" pitchFamily="18" charset="0"/>
              </a:rPr>
              <a:t> HIV and ART exposure.</a:t>
            </a:r>
          </a:p>
          <a:p>
            <a:pPr marL="342900" indent="-342900">
              <a:buFont typeface="Wingdings" panose="05000000000000000000" pitchFamily="2" charset="2"/>
              <a:buChar char="q"/>
            </a:pP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Cryopreserved</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- 0,4,9 months</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Using a 32-fluorophore panel, intranuclear, high AB co-expression markers for cytokines and AIMs. </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Rested 6 hours, stimulated w PPD, SEB, w/o </a:t>
            </a:r>
            <a:r>
              <a:rPr lang="en-US" sz="2200" dirty="0" err="1">
                <a:latin typeface="Times New Roman" panose="02020603050405020304" pitchFamily="18" charset="0"/>
                <a:cs typeface="Times New Roman" panose="02020603050405020304" pitchFamily="18" charset="0"/>
              </a:rPr>
              <a:t>golgi</a:t>
            </a:r>
            <a:r>
              <a:rPr lang="en-US" sz="2200" dirty="0">
                <a:latin typeface="Times New Roman" panose="02020603050405020304" pitchFamily="18" charset="0"/>
                <a:cs typeface="Times New Roman" panose="02020603050405020304" pitchFamily="18" charset="0"/>
              </a:rPr>
              <a:t> for 3, with </a:t>
            </a:r>
            <a:r>
              <a:rPr lang="en-US" sz="2200" dirty="0" err="1">
                <a:latin typeface="Times New Roman" panose="02020603050405020304" pitchFamily="18" charset="0"/>
                <a:cs typeface="Times New Roman" panose="02020603050405020304" pitchFamily="18" charset="0"/>
              </a:rPr>
              <a:t>golgi</a:t>
            </a:r>
            <a:r>
              <a:rPr lang="en-US" sz="2200" dirty="0">
                <a:latin typeface="Times New Roman" panose="02020603050405020304" pitchFamily="18" charset="0"/>
                <a:cs typeface="Times New Roman" panose="02020603050405020304" pitchFamily="18" charset="0"/>
              </a:rPr>
              <a:t> for 9 hours. </a:t>
            </a:r>
          </a:p>
          <a:p>
            <a:pPr marL="342900" indent="-342900">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Acquired 5-laser </a:t>
            </a:r>
            <a:r>
              <a:rPr lang="en-US" sz="2200" dirty="0" err="1">
                <a:latin typeface="Times New Roman" panose="02020603050405020304" pitchFamily="18" charset="0"/>
                <a:cs typeface="Times New Roman" panose="02020603050405020304" pitchFamily="18" charset="0"/>
              </a:rPr>
              <a:t>cytek</a:t>
            </a:r>
            <a:r>
              <a:rPr lang="en-US" sz="2200" dirty="0">
                <a:latin typeface="Times New Roman" panose="02020603050405020304" pitchFamily="18" charset="0"/>
                <a:cs typeface="Times New Roman" panose="02020603050405020304" pitchFamily="18" charset="0"/>
              </a:rPr>
              <a:t> Aurora passed QC</a:t>
            </a:r>
          </a:p>
          <a:p>
            <a:br>
              <a:rPr lang="en-US" dirty="0"/>
            </a:br>
            <a:endParaRPr lang="en-US" dirty="0"/>
          </a:p>
        </p:txBody>
      </p:sp>
    </p:spTree>
    <p:extLst>
      <p:ext uri="{BB962C8B-B14F-4D97-AF65-F5344CB8AC3E}">
        <p14:creationId xmlns:p14="http://schemas.microsoft.com/office/powerpoint/2010/main" val="1363288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9CCC1C2-A485-F438-3A72-A302AC9B8B84}"/>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E5C63315-0836-912C-5468-5CDB943C0EAF}"/>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dirty="0">
                <a:solidFill>
                  <a:srgbClr val="000000"/>
                </a:solidFill>
                <a:latin typeface="Times New Roman" panose="02020603050405020304" pitchFamily="18" charset="0"/>
                <a:cs typeface="Times New Roman" panose="02020603050405020304" pitchFamily="18" charset="0"/>
              </a:rPr>
              <a:t>Pipeline</a:t>
            </a:r>
            <a:endParaRPr lang="en-US" sz="3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CAC0A216-C423-4F72-65C8-96DE763BEBE7}"/>
              </a:ext>
            </a:extLst>
          </p:cNvPr>
          <p:cNvSpPr/>
          <p:nvPr/>
        </p:nvSpPr>
        <p:spPr>
          <a:xfrm>
            <a:off x="6177960" y="1205370"/>
            <a:ext cx="5388480" cy="47998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dirty="0"/>
              <a:t>- Our analysis pipeline has evolved since our previous papers. Previously mainly FlowJo, increasingly in R, with skeleton elements of Rust taking over performance behind the scenes. However, still traditional cytometrist, so interconversion is critical. </a:t>
            </a:r>
          </a:p>
          <a:p>
            <a:br>
              <a:rPr lang="en-US" dirty="0"/>
            </a:br>
            <a:endParaRPr lang="en-US" dirty="0"/>
          </a:p>
          <a:p>
            <a:r>
              <a:rPr lang="en-US" dirty="0"/>
              <a:t>- Pre-Unmixing, we are using </a:t>
            </a:r>
            <a:r>
              <a:rPr lang="en-US" dirty="0" err="1"/>
              <a:t>Luciernaga</a:t>
            </a:r>
            <a:r>
              <a:rPr lang="en-US" dirty="0"/>
              <a:t> to screen our unmixing control signatures. Visualizing across time, pinpoint bad controls and remove. Similar approach for which samples are getting beads vs. cells. </a:t>
            </a:r>
          </a:p>
          <a:p>
            <a:br>
              <a:rPr lang="en-US" dirty="0"/>
            </a:br>
            <a:endParaRPr lang="en-US" dirty="0"/>
          </a:p>
          <a:p>
            <a:r>
              <a:rPr lang="en-US" dirty="0"/>
              <a:t>- Screening with PeacoQC, originally R version, but James </a:t>
            </a:r>
            <a:r>
              <a:rPr lang="en-US" dirty="0" err="1"/>
              <a:t>Moyihan's</a:t>
            </a:r>
            <a:r>
              <a:rPr lang="en-US" dirty="0"/>
              <a:t> Rust implementation is sweet!</a:t>
            </a:r>
          </a:p>
        </p:txBody>
      </p:sp>
    </p:spTree>
    <p:extLst>
      <p:ext uri="{BB962C8B-B14F-4D97-AF65-F5344CB8AC3E}">
        <p14:creationId xmlns:p14="http://schemas.microsoft.com/office/powerpoint/2010/main" val="789552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19FC631-853F-E12D-88B1-8BFBE309FDC7}"/>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E33E197A-58C5-B58E-B4D2-D7124B0AC130}"/>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dirty="0">
                <a:solidFill>
                  <a:srgbClr val="000000"/>
                </a:solidFill>
                <a:latin typeface="Times New Roman" panose="02020603050405020304" pitchFamily="18" charset="0"/>
                <a:cs typeface="Times New Roman" panose="02020603050405020304" pitchFamily="18" charset="0"/>
              </a:rPr>
              <a:t>Pipeline</a:t>
            </a:r>
            <a:endParaRPr lang="en-US" sz="3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5F3A42CC-0E65-C887-C161-6812126106BA}"/>
              </a:ext>
            </a:extLst>
          </p:cNvPr>
          <p:cNvSpPr/>
          <p:nvPr/>
        </p:nvSpPr>
        <p:spPr>
          <a:xfrm>
            <a:off x="6177960" y="1205370"/>
            <a:ext cx="5388480" cy="61848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br>
              <a:rPr lang="en-US" dirty="0"/>
            </a:br>
            <a:endParaRPr lang="en-US" dirty="0"/>
          </a:p>
          <a:p>
            <a:r>
              <a:rPr lang="en-US" dirty="0"/>
              <a:t>- Automated Gating to Cell Subsets: </a:t>
            </a:r>
            <a:r>
              <a:rPr lang="en-US" dirty="0" err="1"/>
              <a:t>openCyto</a:t>
            </a:r>
            <a:r>
              <a:rPr lang="en-US" dirty="0"/>
              <a:t> (mainly </a:t>
            </a:r>
            <a:r>
              <a:rPr lang="en-US" dirty="0" err="1"/>
              <a:t>mindensity</a:t>
            </a:r>
            <a:r>
              <a:rPr lang="en-US" dirty="0"/>
              <a:t> with a lot of </a:t>
            </a:r>
            <a:r>
              <a:rPr lang="en-US" dirty="0" err="1"/>
              <a:t>gate_range</a:t>
            </a:r>
            <a:r>
              <a:rPr lang="en-US" dirty="0"/>
              <a:t> arguments), but also </a:t>
            </a:r>
            <a:r>
              <a:rPr lang="en-US" dirty="0" err="1"/>
              <a:t>flowMagic</a:t>
            </a:r>
            <a:r>
              <a:rPr lang="en-US" dirty="0"/>
              <a:t> (both our own </a:t>
            </a:r>
            <a:r>
              <a:rPr lang="en-US" dirty="0" err="1"/>
              <a:t>GatingSet</a:t>
            </a:r>
            <a:r>
              <a:rPr lang="en-US" dirty="0"/>
              <a:t> implementation, but with </a:t>
            </a:r>
            <a:r>
              <a:rPr lang="en-US" dirty="0" err="1"/>
              <a:t>sebastianos</a:t>
            </a:r>
            <a:r>
              <a:rPr lang="en-US" dirty="0"/>
              <a:t> last update going his route). </a:t>
            </a:r>
          </a:p>
          <a:p>
            <a:br>
              <a:rPr lang="en-US" dirty="0"/>
            </a:br>
            <a:endParaRPr lang="en-US" dirty="0"/>
          </a:p>
          <a:p>
            <a:r>
              <a:rPr lang="en-US" dirty="0"/>
              <a:t>- Using the old </a:t>
            </a:r>
            <a:r>
              <a:rPr lang="en-US" dirty="0" err="1"/>
              <a:t>Cytoverse</a:t>
            </a:r>
            <a:r>
              <a:rPr lang="en-US" dirty="0"/>
              <a:t> docker container to go from a </a:t>
            </a:r>
            <a:r>
              <a:rPr lang="en-US" dirty="0" err="1"/>
              <a:t>GatingSet</a:t>
            </a:r>
            <a:r>
              <a:rPr lang="en-US" dirty="0"/>
              <a:t> back to FlowJo v.10 workspace to allow for corrections by traditional flow cytometrist. </a:t>
            </a:r>
          </a:p>
          <a:p>
            <a:br>
              <a:rPr lang="en-US" dirty="0"/>
            </a:br>
            <a:endParaRPr lang="en-US" dirty="0"/>
          </a:p>
          <a:p>
            <a:r>
              <a:rPr lang="en-US" dirty="0"/>
              <a:t>- </a:t>
            </a:r>
            <a:r>
              <a:rPr lang="en-US" dirty="0" err="1"/>
              <a:t>Coereba</a:t>
            </a:r>
            <a:r>
              <a:rPr lang="en-US" dirty="0"/>
              <a:t>: newer R packages. Main idea is on a per-cell basis defining a identity column that encompasses all the manual gated definitions for every marker interest. This then travels and can be used to cross-check assumptions for the dimensionality visualizations</a:t>
            </a:r>
          </a:p>
          <a:p>
            <a:br>
              <a:rPr lang="en-US" dirty="0"/>
            </a:br>
            <a:endParaRPr lang="en-US" dirty="0"/>
          </a:p>
        </p:txBody>
      </p:sp>
    </p:spTree>
    <p:extLst>
      <p:ext uri="{BB962C8B-B14F-4D97-AF65-F5344CB8AC3E}">
        <p14:creationId xmlns:p14="http://schemas.microsoft.com/office/powerpoint/2010/main" val="323838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904180B-FAF1-7271-2803-2CD3963BC602}"/>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0E45B45A-2B3B-99CC-FDF8-F07690F438A3}"/>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dirty="0">
                <a:solidFill>
                  <a:srgbClr val="000000"/>
                </a:solidFill>
                <a:latin typeface="Times New Roman" panose="02020603050405020304" pitchFamily="18" charset="0"/>
                <a:cs typeface="Times New Roman" panose="02020603050405020304" pitchFamily="18" charset="0"/>
              </a:rPr>
              <a:t>Pipeline</a:t>
            </a:r>
            <a:endParaRPr lang="en-US" sz="3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9CB4C362-5F6A-5128-B9B8-F17E909A004B}"/>
              </a:ext>
            </a:extLst>
          </p:cNvPr>
          <p:cNvSpPr/>
          <p:nvPr/>
        </p:nvSpPr>
        <p:spPr>
          <a:xfrm>
            <a:off x="6177960" y="1205370"/>
            <a:ext cx="5388480" cy="56308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US" dirty="0"/>
          </a:p>
          <a:p>
            <a:r>
              <a:rPr lang="en-US" dirty="0"/>
              <a:t>- Run </a:t>
            </a:r>
            <a:r>
              <a:rPr lang="en-US" dirty="0" err="1"/>
              <a:t>openCyto</a:t>
            </a:r>
            <a:r>
              <a:rPr lang="en-US" dirty="0"/>
              <a:t> </a:t>
            </a:r>
            <a:r>
              <a:rPr lang="en-US" dirty="0" err="1"/>
              <a:t>mindensity</a:t>
            </a:r>
            <a:r>
              <a:rPr lang="en-US" dirty="0"/>
              <a:t>, check, constrain. We interactively update the placements via a Shiny App. Then </a:t>
            </a:r>
            <a:r>
              <a:rPr lang="en-US" dirty="0" err="1"/>
              <a:t>Coereba</a:t>
            </a:r>
            <a:r>
              <a:rPr lang="en-US" dirty="0"/>
              <a:t> is run</a:t>
            </a:r>
          </a:p>
          <a:p>
            <a:br>
              <a:rPr lang="en-US" dirty="0"/>
            </a:br>
            <a:endParaRPr lang="en-US" dirty="0"/>
          </a:p>
          <a:p>
            <a:r>
              <a:rPr lang="en-US" dirty="0"/>
              <a:t>- Once column is incorporated, we can normalize. Trying </a:t>
            </a:r>
            <a:r>
              <a:rPr lang="en-US" dirty="0" err="1"/>
              <a:t>CytoNorm</a:t>
            </a:r>
            <a:r>
              <a:rPr lang="en-US" dirty="0"/>
              <a:t> and </a:t>
            </a:r>
            <a:r>
              <a:rPr lang="en-US" dirty="0" err="1"/>
              <a:t>CyCombine</a:t>
            </a:r>
            <a:r>
              <a:rPr lang="en-US" dirty="0"/>
              <a:t>, using a single-donor thaw specimen for each experiment. If anyone has suggestions, open, since so far results have been mixed. Typically applying at the cell node level rather than the whole file. </a:t>
            </a:r>
          </a:p>
          <a:p>
            <a:br>
              <a:rPr lang="en-US" dirty="0"/>
            </a:br>
            <a:endParaRPr lang="en-US" dirty="0"/>
          </a:p>
          <a:p>
            <a:r>
              <a:rPr lang="en-US" dirty="0"/>
              <a:t>- Point, choosing to either </a:t>
            </a:r>
            <a:r>
              <a:rPr lang="en-US" dirty="0" err="1"/>
              <a:t>downsample</a:t>
            </a:r>
            <a:r>
              <a:rPr lang="en-US" dirty="0"/>
              <a:t> for larger pops, or concatenate entire population.</a:t>
            </a:r>
          </a:p>
          <a:p>
            <a:br>
              <a:rPr lang="en-US" dirty="0"/>
            </a:br>
            <a:endParaRPr lang="en-US" dirty="0"/>
          </a:p>
          <a:p>
            <a:r>
              <a:rPr lang="en-US" dirty="0"/>
              <a:t>- Dimensionality Viz - UMAP or </a:t>
            </a:r>
            <a:r>
              <a:rPr lang="en-US" dirty="0" err="1"/>
              <a:t>PaCMAP</a:t>
            </a:r>
            <a:r>
              <a:rPr lang="en-US" dirty="0"/>
              <a:t> via Python</a:t>
            </a:r>
          </a:p>
        </p:txBody>
      </p:sp>
    </p:spTree>
    <p:extLst>
      <p:ext uri="{BB962C8B-B14F-4D97-AF65-F5344CB8AC3E}">
        <p14:creationId xmlns:p14="http://schemas.microsoft.com/office/powerpoint/2010/main" val="3846998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6033234-B196-FD33-912B-FECBA3C523DB}"/>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250232D5-388F-E67C-8073-D9730F5210C5}"/>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dirty="0">
                <a:solidFill>
                  <a:srgbClr val="000000"/>
                </a:solidFill>
                <a:latin typeface="Times New Roman" panose="02020603050405020304" pitchFamily="18" charset="0"/>
                <a:cs typeface="Times New Roman" panose="02020603050405020304" pitchFamily="18" charset="0"/>
              </a:rPr>
              <a:t>Pipeline</a:t>
            </a:r>
            <a:endParaRPr lang="en-US" sz="3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64051A95-06AE-60FA-3B36-3F3DFB9A17E8}"/>
              </a:ext>
            </a:extLst>
          </p:cNvPr>
          <p:cNvSpPr/>
          <p:nvPr/>
        </p:nvSpPr>
        <p:spPr>
          <a:xfrm>
            <a:off x="6235110" y="475072"/>
            <a:ext cx="5388480" cy="59078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US" dirty="0"/>
          </a:p>
          <a:p>
            <a:r>
              <a:rPr lang="en-US" dirty="0"/>
              <a:t>- Gate on "clusters/islands/pick-your-terminology", process of </a:t>
            </a:r>
            <a:r>
              <a:rPr lang="en-US" dirty="0" err="1"/>
              <a:t>CoerebaID</a:t>
            </a:r>
            <a:r>
              <a:rPr lang="en-US" dirty="0"/>
              <a:t> incorporation is reversible, and we retrieve/</a:t>
            </a:r>
            <a:r>
              <a:rPr lang="en-US" dirty="0" err="1"/>
              <a:t>rederrive</a:t>
            </a:r>
            <a:r>
              <a:rPr lang="en-US" dirty="0"/>
              <a:t> the proportion cells from each donor that ended up in the area that were positive or negative for each marker. </a:t>
            </a:r>
          </a:p>
          <a:p>
            <a:br>
              <a:rPr lang="en-US" dirty="0"/>
            </a:br>
            <a:endParaRPr lang="en-US" dirty="0"/>
          </a:p>
          <a:p>
            <a:r>
              <a:rPr lang="en-US" dirty="0"/>
              <a:t>- Likewise, these outputs get incorporated into Bioconductor </a:t>
            </a:r>
            <a:r>
              <a:rPr lang="en-US" dirty="0" err="1"/>
              <a:t>SummarizedExperiment</a:t>
            </a:r>
            <a:r>
              <a:rPr lang="en-US" dirty="0"/>
              <a:t> object, allowing for filtering, renumeration, and passing to downstream statistical analysis packages. </a:t>
            </a:r>
          </a:p>
          <a:p>
            <a:br>
              <a:rPr lang="en-US" dirty="0"/>
            </a:br>
            <a:endParaRPr lang="en-US" dirty="0"/>
          </a:p>
          <a:p>
            <a:r>
              <a:rPr lang="en-US" dirty="0"/>
              <a:t>- As suspected, not all dimensionality methods are separating down to pure populations when visualized. </a:t>
            </a:r>
          </a:p>
          <a:p>
            <a:br>
              <a:rPr lang="en-US" dirty="0"/>
            </a:br>
            <a:endParaRPr lang="en-US" dirty="0"/>
          </a:p>
          <a:p>
            <a:r>
              <a:rPr lang="en-US" dirty="0"/>
              <a:t>- However, we can quickly iterate out the marker expression plots for an individual specimen. </a:t>
            </a:r>
          </a:p>
        </p:txBody>
      </p:sp>
    </p:spTree>
    <p:extLst>
      <p:ext uri="{BB962C8B-B14F-4D97-AF65-F5344CB8AC3E}">
        <p14:creationId xmlns:p14="http://schemas.microsoft.com/office/powerpoint/2010/main" val="1799218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1E15107-9115-6D26-52FC-EA3281FE048F}"/>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F5C768A1-0C99-ACE7-3C8D-FA504C314BB8}"/>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b="0" u="none" strike="noStrike" dirty="0">
                <a:solidFill>
                  <a:srgbClr val="000000"/>
                </a:solidFill>
                <a:effectLst/>
                <a:uFillTx/>
                <a:latin typeface="Times New Roman" panose="02020603050405020304" pitchFamily="18" charset="0"/>
                <a:cs typeface="Times New Roman" panose="02020603050405020304" pitchFamily="18" charset="0"/>
              </a:rPr>
              <a:t>Enough to anger both sides</a:t>
            </a:r>
          </a:p>
        </p:txBody>
      </p:sp>
      <p:sp>
        <p:nvSpPr>
          <p:cNvPr id="51" name="Rectangle 50">
            <a:extLst>
              <a:ext uri="{FF2B5EF4-FFF2-40B4-BE49-F238E27FC236}">
                <a16:creationId xmlns:a16="http://schemas.microsoft.com/office/drawing/2014/main" id="{669DC067-CB00-A67C-2754-2688A3FF5BFD}"/>
              </a:ext>
            </a:extLst>
          </p:cNvPr>
          <p:cNvSpPr/>
          <p:nvPr/>
        </p:nvSpPr>
        <p:spPr>
          <a:xfrm>
            <a:off x="6177960" y="1205370"/>
            <a:ext cx="5388480" cy="381497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2200" dirty="0">
                <a:latin typeface="Times New Roman" panose="02020603050405020304" pitchFamily="18" charset="0"/>
                <a:cs typeface="Times New Roman" panose="02020603050405020304" pitchFamily="18" charset="0"/>
              </a:rPr>
              <a:t>- Enough to anger both sides of the automated gating vs. unsupervised clustering camps</a:t>
            </a:r>
          </a:p>
          <a:p>
            <a:r>
              <a:rPr lang="en-US" sz="2200" dirty="0">
                <a:latin typeface="Times New Roman" panose="02020603050405020304" pitchFamily="18" charset="0"/>
                <a:cs typeface="Times New Roman" panose="02020603050405020304" pitchFamily="18" charset="0"/>
              </a:rPr>
              <a:t>- Strong emphasis at the moment on exploratory data analysis. </a:t>
            </a:r>
          </a:p>
          <a:p>
            <a:r>
              <a:rPr lang="en-US" sz="2200" dirty="0">
                <a:latin typeface="Times New Roman" panose="02020603050405020304" pitchFamily="18" charset="0"/>
                <a:cs typeface="Times New Roman" panose="02020603050405020304" pitchFamily="18" charset="0"/>
              </a:rPr>
              <a:t>- No stand at this point on where to draw the clustering continuum </a:t>
            </a:r>
          </a:p>
          <a:p>
            <a:r>
              <a:rPr lang="en-US" sz="2200" dirty="0">
                <a:latin typeface="Times New Roman" panose="02020603050405020304" pitchFamily="18" charset="0"/>
                <a:cs typeface="Times New Roman" panose="02020603050405020304" pitchFamily="18" charset="0"/>
              </a:rPr>
              <a:t>- Individual nodes are too noisy for standard tests</a:t>
            </a:r>
          </a:p>
          <a:p>
            <a:r>
              <a:rPr lang="en-US" sz="2200" dirty="0">
                <a:latin typeface="Times New Roman" panose="02020603050405020304" pitchFamily="18" charset="0"/>
                <a:cs typeface="Times New Roman" panose="02020603050405020304" pitchFamily="18" charset="0"/>
              </a:rPr>
              <a:t>- Off-target uses are those that are fascinating, more programmatic outputs that not have in typical flow cytometry analysis</a:t>
            </a:r>
          </a:p>
        </p:txBody>
      </p:sp>
    </p:spTree>
    <p:extLst>
      <p:ext uri="{BB962C8B-B14F-4D97-AF65-F5344CB8AC3E}">
        <p14:creationId xmlns:p14="http://schemas.microsoft.com/office/powerpoint/2010/main" val="980699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DDF470D-F06E-4635-D151-A6211FD1D6AB}"/>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8125AE88-B0A8-E1C3-27DA-A6378923658D}"/>
              </a:ext>
            </a:extLst>
          </p:cNvPr>
          <p:cNvSpPr>
            <a:spLocks noGrp="1"/>
          </p:cNvSpPr>
          <p:nvPr>
            <p:ph type="title"/>
          </p:nvPr>
        </p:nvSpPr>
        <p:spPr>
          <a:xfrm>
            <a:off x="0" y="46080"/>
            <a:ext cx="12114000" cy="639720"/>
          </a:xfrm>
          <a:prstGeom prst="rect">
            <a:avLst/>
          </a:prstGeom>
          <a:noFill/>
          <a:ln w="19080">
            <a:noFill/>
          </a:ln>
        </p:spPr>
        <p:txBody>
          <a:bodyPr lIns="91440" tIns="45720" rIns="91440" bIns="45720" anchor="ctr" anchorCtr="1">
            <a:normAutofit fontScale="90000"/>
          </a:bodyPr>
          <a:lstStyle/>
          <a:p>
            <a:pPr indent="0" algn="ctr">
              <a:lnSpc>
                <a:spcPct val="100000"/>
              </a:lnSpc>
              <a:buNone/>
              <a:tabLst>
                <a:tab pos="0" algn="l"/>
              </a:tabLst>
            </a:pPr>
            <a:r>
              <a:rPr lang="en-US" sz="3600" dirty="0">
                <a:solidFill>
                  <a:srgbClr val="000000"/>
                </a:solidFill>
                <a:latin typeface="Times New Roman" panose="02020603050405020304" pitchFamily="18" charset="0"/>
                <a:cs typeface="Times New Roman" panose="02020603050405020304" pitchFamily="18" charset="0"/>
              </a:rPr>
              <a:t>Targeting more difficult questions</a:t>
            </a:r>
            <a:endParaRPr lang="en-US" sz="3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61FD759D-F6DC-C1DF-669D-3BADAB563D66}"/>
              </a:ext>
            </a:extLst>
          </p:cNvPr>
          <p:cNvSpPr/>
          <p:nvPr/>
        </p:nvSpPr>
        <p:spPr>
          <a:xfrm>
            <a:off x="6177960" y="1205370"/>
            <a:ext cx="5388480" cy="119887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85750" indent="-285750">
              <a:buFont typeface="Wingdings" panose="05000000000000000000" pitchFamily="2" charset="2"/>
              <a:buChar char="q"/>
            </a:pPr>
            <a:r>
              <a:rPr lang="en-US" dirty="0"/>
              <a:t>- Identify freezer burned specimens otherwise would have included. </a:t>
            </a:r>
          </a:p>
          <a:p>
            <a:pPr marL="285750" indent="-285750">
              <a:buFont typeface="Wingdings" panose="05000000000000000000" pitchFamily="2" charset="2"/>
              <a:buChar char="q"/>
            </a:pPr>
            <a:r>
              <a:rPr lang="en-US" dirty="0"/>
              <a:t>- Overnight staining vs. day of, differential population loss?</a:t>
            </a:r>
          </a:p>
        </p:txBody>
      </p:sp>
    </p:spTree>
    <p:extLst>
      <p:ext uri="{BB962C8B-B14F-4D97-AF65-F5344CB8AC3E}">
        <p14:creationId xmlns:p14="http://schemas.microsoft.com/office/powerpoint/2010/main" val="1658005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3BC4810-34C2-CDC2-C8DA-75B7077F0D5D}"/>
            </a:ext>
          </a:extLst>
        </p:cNvPr>
        <p:cNvGrpSpPr/>
        <p:nvPr/>
      </p:nvGrpSpPr>
      <p:grpSpPr>
        <a:xfrm>
          <a:off x="0" y="0"/>
          <a:ext cx="0" cy="0"/>
          <a:chOff x="0" y="0"/>
          <a:chExt cx="0" cy="0"/>
        </a:xfrm>
      </p:grpSpPr>
      <p:sp>
        <p:nvSpPr>
          <p:cNvPr id="49" name="PlaceHolder 1">
            <a:extLst>
              <a:ext uri="{FF2B5EF4-FFF2-40B4-BE49-F238E27FC236}">
                <a16:creationId xmlns:a16="http://schemas.microsoft.com/office/drawing/2014/main" id="{296AF070-768E-7299-2367-A28E483E0BF0}"/>
              </a:ext>
            </a:extLst>
          </p:cNvPr>
          <p:cNvSpPr>
            <a:spLocks noGrp="1"/>
          </p:cNvSpPr>
          <p:nvPr>
            <p:ph type="title"/>
          </p:nvPr>
        </p:nvSpPr>
        <p:spPr>
          <a:xfrm>
            <a:off x="0" y="46080"/>
            <a:ext cx="1211400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Spectral Flow Cytometry (SFC) is awesome!</a:t>
            </a:r>
          </a:p>
        </p:txBody>
      </p:sp>
      <p:pic>
        <p:nvPicPr>
          <p:cNvPr id="50" name="Picture 20" descr="A graph of different colored lines&#10;&#10;AI-generated content may be incorrect.">
            <a:extLst>
              <a:ext uri="{FF2B5EF4-FFF2-40B4-BE49-F238E27FC236}">
                <a16:creationId xmlns:a16="http://schemas.microsoft.com/office/drawing/2014/main" id="{72ED1AF0-DA22-8E32-EA25-0687C07266D6}"/>
              </a:ext>
            </a:extLst>
          </p:cNvPr>
          <p:cNvPicPr/>
          <p:nvPr/>
        </p:nvPicPr>
        <p:blipFill>
          <a:blip r:embed="rId2"/>
          <a:srcRect t="8333"/>
          <a:stretch/>
        </p:blipFill>
        <p:spPr>
          <a:xfrm>
            <a:off x="457200" y="1443600"/>
            <a:ext cx="5712840" cy="3926880"/>
          </a:xfrm>
          <a:prstGeom prst="rect">
            <a:avLst/>
          </a:prstGeom>
          <a:noFill/>
          <a:ln w="0">
            <a:noFill/>
          </a:ln>
        </p:spPr>
      </p:pic>
      <p:sp>
        <p:nvSpPr>
          <p:cNvPr id="51" name="Rectangle 50">
            <a:extLst>
              <a:ext uri="{FF2B5EF4-FFF2-40B4-BE49-F238E27FC236}">
                <a16:creationId xmlns:a16="http://schemas.microsoft.com/office/drawing/2014/main" id="{4F61DFF2-9C26-7C5C-ED6E-640C66E03C37}"/>
              </a:ext>
            </a:extLst>
          </p:cNvPr>
          <p:cNvSpPr/>
          <p:nvPr/>
        </p:nvSpPr>
        <p:spPr>
          <a:xfrm>
            <a:off x="6498000" y="1445400"/>
            <a:ext cx="538848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dirty="0">
                <a:solidFill>
                  <a:srgbClr val="000000"/>
                </a:solidFill>
                <a:effectLst/>
                <a:uFillTx/>
                <a:latin typeface="Arial"/>
                <a:ea typeface="DejaVu Sans"/>
              </a:rPr>
              <a:t>Capacity to resolve spectrally similar fluorophores:</a:t>
            </a:r>
            <a:r>
              <a:rPr lang="en-US" sz="1800" b="0" u="sng" strike="noStrike" dirty="0">
                <a:solidFill>
                  <a:srgbClr val="000000"/>
                </a:solidFill>
                <a:effectLst/>
                <a:uFillTx/>
                <a:latin typeface="Arial"/>
                <a:ea typeface="DejaVu Sans"/>
              </a:rPr>
              <a:t> greater number markers</a:t>
            </a:r>
            <a:r>
              <a:rPr lang="en-US" sz="1800" b="0" u="none" strike="noStrike" dirty="0">
                <a:solidFill>
                  <a:srgbClr val="000000"/>
                </a:solidFill>
                <a:effectLst/>
                <a:uFillTx/>
                <a:latin typeface="Arial"/>
                <a:ea typeface="DejaVu Sans"/>
              </a:rPr>
              <a:t> per panel than Conventional Flow Cytometry (CFC)</a:t>
            </a:r>
            <a:endParaRPr lang="en-US" sz="1800" b="0" u="none" strike="noStrike" dirty="0">
              <a:solidFill>
                <a:srgbClr val="000000"/>
              </a:solidFill>
              <a:effectLst/>
              <a:uFillTx/>
              <a:latin typeface="Arial"/>
            </a:endParaRPr>
          </a:p>
        </p:txBody>
      </p:sp>
      <p:sp>
        <p:nvSpPr>
          <p:cNvPr id="52" name="Rectangle 51">
            <a:extLst>
              <a:ext uri="{FF2B5EF4-FFF2-40B4-BE49-F238E27FC236}">
                <a16:creationId xmlns:a16="http://schemas.microsoft.com/office/drawing/2014/main" id="{9C38E656-AC17-352C-709B-4183C3831486}"/>
              </a:ext>
            </a:extLst>
          </p:cNvPr>
          <p:cNvSpPr/>
          <p:nvPr/>
        </p:nvSpPr>
        <p:spPr>
          <a:xfrm>
            <a:off x="6498000" y="2586600"/>
            <a:ext cx="49302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Faster acquisition speed: typically </a:t>
            </a:r>
            <a:r>
              <a:rPr lang="en-US" sz="1800" b="0" u="sng" strike="noStrike">
                <a:solidFill>
                  <a:srgbClr val="000000"/>
                </a:solidFill>
                <a:effectLst/>
                <a:uFillTx/>
                <a:latin typeface="Arial"/>
                <a:ea typeface="DejaVu Sans"/>
              </a:rPr>
              <a:t>far more cells per .fcs file</a:t>
            </a:r>
            <a:r>
              <a:rPr lang="en-US" sz="1800" b="0" u="none" strike="noStrike">
                <a:solidFill>
                  <a:srgbClr val="000000"/>
                </a:solidFill>
                <a:effectLst/>
                <a:uFillTx/>
                <a:latin typeface="Arial"/>
                <a:ea typeface="DejaVu Sans"/>
              </a:rPr>
              <a:t> than Mass Cytometry (MC)</a:t>
            </a:r>
            <a:endParaRPr lang="en-US" sz="1800" b="0" u="none" strike="noStrike">
              <a:solidFill>
                <a:srgbClr val="000000"/>
              </a:solidFill>
              <a:effectLst/>
              <a:uFillTx/>
              <a:latin typeface="Arial"/>
            </a:endParaRPr>
          </a:p>
        </p:txBody>
      </p:sp>
      <p:sp>
        <p:nvSpPr>
          <p:cNvPr id="53" name="Rectangle 52">
            <a:extLst>
              <a:ext uri="{FF2B5EF4-FFF2-40B4-BE49-F238E27FC236}">
                <a16:creationId xmlns:a16="http://schemas.microsoft.com/office/drawing/2014/main" id="{2C6B175F-D617-7C61-9AB0-4EBC19A990CD}"/>
              </a:ext>
            </a:extLst>
          </p:cNvPr>
          <p:cNvSpPr/>
          <p:nvPr/>
        </p:nvSpPr>
        <p:spPr>
          <a:xfrm>
            <a:off x="6498000" y="3357000"/>
            <a:ext cx="49302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Analytical breadth and depth permits characterization rare cell populations (and potentially millions of other non-target cells)</a:t>
            </a:r>
            <a:endParaRPr lang="en-US" sz="1800" b="0" u="none" strike="noStrike">
              <a:solidFill>
                <a:srgbClr val="000000"/>
              </a:solidFill>
              <a:effectLst/>
              <a:uFillTx/>
              <a:latin typeface="Arial"/>
            </a:endParaRPr>
          </a:p>
        </p:txBody>
      </p:sp>
      <p:sp>
        <p:nvSpPr>
          <p:cNvPr id="54" name="Rectangle 53">
            <a:extLst>
              <a:ext uri="{FF2B5EF4-FFF2-40B4-BE49-F238E27FC236}">
                <a16:creationId xmlns:a16="http://schemas.microsoft.com/office/drawing/2014/main" id="{27B9FC38-0C5B-0A84-55BB-33406D555475}"/>
              </a:ext>
            </a:extLst>
          </p:cNvPr>
          <p:cNvSpPr/>
          <p:nvPr/>
        </p:nvSpPr>
        <p:spPr>
          <a:xfrm>
            <a:off x="6498000" y="4415400"/>
            <a:ext cx="49302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Invaluable for human clinical samples with limited biospecimen</a:t>
            </a:r>
            <a:endParaRPr lang="en-US" sz="1800" b="0" u="none" strike="noStrike">
              <a:solidFill>
                <a:srgbClr val="000000"/>
              </a:solidFill>
              <a:effectLst/>
              <a:uFillTx/>
              <a:latin typeface="Arial"/>
            </a:endParaRPr>
          </a:p>
        </p:txBody>
      </p:sp>
    </p:spTree>
    <p:extLst>
      <p:ext uri="{BB962C8B-B14F-4D97-AF65-F5344CB8AC3E}">
        <p14:creationId xmlns:p14="http://schemas.microsoft.com/office/powerpoint/2010/main" val="3692174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0" y="-182520"/>
            <a:ext cx="1219032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Complex Datasets, Combinatorially Exponential Clusters</a:t>
            </a:r>
          </a:p>
        </p:txBody>
      </p:sp>
      <p:pic>
        <p:nvPicPr>
          <p:cNvPr id="56" name="Picture 55"/>
          <p:cNvPicPr/>
          <p:nvPr/>
        </p:nvPicPr>
        <p:blipFill>
          <a:blip r:embed="rId2"/>
          <a:stretch/>
        </p:blipFill>
        <p:spPr>
          <a:xfrm>
            <a:off x="6629400" y="960840"/>
            <a:ext cx="5027040" cy="4471920"/>
          </a:xfrm>
          <a:prstGeom prst="rect">
            <a:avLst/>
          </a:prstGeom>
          <a:noFill/>
          <a:ln w="0">
            <a:noFill/>
          </a:ln>
        </p:spPr>
      </p:pic>
      <p:sp>
        <p:nvSpPr>
          <p:cNvPr id="57" name="Rectangle 56"/>
          <p:cNvSpPr/>
          <p:nvPr/>
        </p:nvSpPr>
        <p:spPr>
          <a:xfrm>
            <a:off x="554400" y="1155600"/>
            <a:ext cx="63018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If you are interested in a single population of cells, analysis process remains essentially unchanged.</a:t>
            </a:r>
            <a:endParaRPr lang="en-US" sz="1800" b="0" u="none" strike="noStrike">
              <a:solidFill>
                <a:srgbClr val="000000"/>
              </a:solidFill>
              <a:effectLst/>
              <a:uFillTx/>
              <a:latin typeface="Arial"/>
            </a:endParaRPr>
          </a:p>
        </p:txBody>
      </p:sp>
      <p:sp>
        <p:nvSpPr>
          <p:cNvPr id="58" name="Rectangle 57"/>
          <p:cNvSpPr/>
          <p:nvPr/>
        </p:nvSpPr>
        <p:spPr>
          <a:xfrm>
            <a:off x="554400" y="1854000"/>
            <a:ext cx="60732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If your goal is to characterize all cell populations that may be present, the breadth and depth complicate the analysis.  </a:t>
            </a:r>
            <a:endParaRPr lang="en-US" sz="18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0" y="-182520"/>
            <a:ext cx="1219032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Complex Datasets, Combinatorially Exponential Clusters</a:t>
            </a:r>
          </a:p>
        </p:txBody>
      </p:sp>
      <p:pic>
        <p:nvPicPr>
          <p:cNvPr id="60" name="Picture 59"/>
          <p:cNvPicPr/>
          <p:nvPr/>
        </p:nvPicPr>
        <p:blipFill>
          <a:blip r:embed="rId2"/>
          <a:stretch/>
        </p:blipFill>
        <p:spPr>
          <a:xfrm>
            <a:off x="6629400" y="960840"/>
            <a:ext cx="5027040" cy="4471920"/>
          </a:xfrm>
          <a:prstGeom prst="rect">
            <a:avLst/>
          </a:prstGeom>
          <a:noFill/>
          <a:ln w="0">
            <a:noFill/>
          </a:ln>
        </p:spPr>
      </p:pic>
      <p:sp>
        <p:nvSpPr>
          <p:cNvPr id="61" name="Rectangle 60"/>
          <p:cNvSpPr/>
          <p:nvPr/>
        </p:nvSpPr>
        <p:spPr>
          <a:xfrm>
            <a:off x="554400" y="1155600"/>
            <a:ext cx="63018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If you are interested in a single population of cells, analysis process remains essentially unchanged.</a:t>
            </a:r>
            <a:endParaRPr lang="en-US" sz="1800" b="0" u="none" strike="noStrike">
              <a:solidFill>
                <a:srgbClr val="000000"/>
              </a:solidFill>
              <a:effectLst/>
              <a:uFillTx/>
              <a:latin typeface="Arial"/>
            </a:endParaRPr>
          </a:p>
        </p:txBody>
      </p:sp>
      <p:sp>
        <p:nvSpPr>
          <p:cNvPr id="62" name="Rectangle 61"/>
          <p:cNvSpPr/>
          <p:nvPr/>
        </p:nvSpPr>
        <p:spPr>
          <a:xfrm>
            <a:off x="554400" y="1854000"/>
            <a:ext cx="60732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If your goal is to characterize all cell populations that may be present, the breadth and depth complicate the analysis.  </a:t>
            </a:r>
            <a:endParaRPr lang="en-US" sz="1800" b="0" u="none" strike="noStrike">
              <a:solidFill>
                <a:srgbClr val="000000"/>
              </a:solidFill>
              <a:effectLst/>
              <a:uFillTx/>
              <a:latin typeface="Arial"/>
            </a:endParaRPr>
          </a:p>
        </p:txBody>
      </p:sp>
      <p:sp>
        <p:nvSpPr>
          <p:cNvPr id="63" name="Rectangle 62"/>
          <p:cNvSpPr/>
          <p:nvPr/>
        </p:nvSpPr>
        <p:spPr>
          <a:xfrm>
            <a:off x="554400" y="2806200"/>
            <a:ext cx="6073560" cy="1866600"/>
          </a:xfrm>
          <a:prstGeom prst="rect">
            <a:avLst/>
          </a:prstGeom>
          <a:noFill/>
          <a:ln w="36720">
            <a:solidFill>
              <a:srgbClr val="3465A4"/>
            </a:solidFill>
            <a:round/>
          </a:ln>
        </p:spPr>
        <p:style>
          <a:lnRef idx="0">
            <a:scrgbClr r="0" g="0" b="0"/>
          </a:lnRef>
          <a:fillRef idx="0">
            <a:scrgbClr r="0" g="0" b="0"/>
          </a:fillRef>
          <a:effectRef idx="0">
            <a:scrgbClr r="0" g="0" b="0"/>
          </a:effectRef>
          <a:fontRef idx="minor"/>
        </p:style>
        <p:txBody>
          <a:bodyPr lIns="108360" tIns="63360" rIns="108360" bIns="63360" anchor="t">
            <a:spAutoFit/>
          </a:bodyPr>
          <a:lstStyle/>
          <a:p>
            <a:pPr>
              <a:lnSpc>
                <a:spcPts val="1585"/>
              </a:lnSpc>
              <a:spcBef>
                <a:spcPts val="624"/>
              </a:spcBef>
              <a:spcAft>
                <a:spcPts val="425"/>
              </a:spcAft>
            </a:pPr>
            <a:r>
              <a:rPr lang="en-US" sz="1800" b="0" u="none" strike="noStrike">
                <a:solidFill>
                  <a:srgbClr val="000000"/>
                </a:solidFill>
                <a:effectLst/>
                <a:uFillTx/>
                <a:latin typeface="Arial"/>
                <a:ea typeface="DejaVu Sans"/>
              </a:rPr>
              <a:t>If we step back, and consider </a:t>
            </a:r>
            <a:r>
              <a:rPr lang="en-US" sz="1800" b="0" u="sng" strike="noStrike">
                <a:solidFill>
                  <a:srgbClr val="000000"/>
                </a:solidFill>
                <a:effectLst/>
                <a:uFillTx/>
                <a:latin typeface="Arial"/>
                <a:ea typeface="DejaVu Sans"/>
              </a:rPr>
              <a:t>for a given marker</a:t>
            </a:r>
            <a:r>
              <a:rPr lang="en-US" sz="1800" b="0" u="none" strike="noStrike">
                <a:solidFill>
                  <a:srgbClr val="000000"/>
                </a:solidFill>
                <a:effectLst/>
                <a:uFillTx/>
                <a:latin typeface="Arial"/>
                <a:ea typeface="DejaVu Sans"/>
              </a:rPr>
              <a:t>:  </a:t>
            </a:r>
            <a:endParaRPr lang="en-US" sz="1800" b="0" u="none" strike="noStrike">
              <a:solidFill>
                <a:srgbClr val="000000"/>
              </a:solidFill>
              <a:effectLst/>
              <a:uFillTx/>
              <a:latin typeface="Arial"/>
            </a:endParaRPr>
          </a:p>
          <a:p>
            <a:pPr>
              <a:lnSpc>
                <a:spcPts val="1585"/>
              </a:lnSpc>
              <a:spcBef>
                <a:spcPts val="624"/>
              </a:spcBef>
              <a:spcAft>
                <a:spcPts val="425"/>
              </a:spcAft>
            </a:pPr>
            <a:r>
              <a:rPr lang="en-US" sz="1800" b="0" u="none" strike="noStrike">
                <a:solidFill>
                  <a:srgbClr val="000000"/>
                </a:solidFill>
                <a:effectLst/>
                <a:uFillTx/>
                <a:latin typeface="Arial"/>
                <a:ea typeface="DejaVu Sans"/>
              </a:rPr>
              <a:t>- We split cells </a:t>
            </a:r>
            <a:r>
              <a:rPr lang="en-US" sz="1800" b="0" u="sng" strike="noStrike">
                <a:solidFill>
                  <a:srgbClr val="000000"/>
                </a:solidFill>
                <a:effectLst/>
                <a:uFillTx/>
                <a:latin typeface="Arial"/>
                <a:ea typeface="DejaVu Sans"/>
              </a:rPr>
              <a:t>positive</a:t>
            </a:r>
            <a:r>
              <a:rPr lang="en-US" sz="1800" b="0" u="none" strike="noStrike">
                <a:solidFill>
                  <a:srgbClr val="000000"/>
                </a:solidFill>
                <a:effectLst/>
                <a:uFillTx/>
                <a:latin typeface="Arial"/>
                <a:ea typeface="DejaVu Sans"/>
              </a:rPr>
              <a:t> and </a:t>
            </a:r>
            <a:r>
              <a:rPr lang="en-US" sz="1800" b="0" u="sng" strike="noStrike">
                <a:solidFill>
                  <a:srgbClr val="000000"/>
                </a:solidFill>
                <a:effectLst/>
                <a:uFillTx/>
                <a:latin typeface="Arial"/>
                <a:ea typeface="DejaVu Sans"/>
              </a:rPr>
              <a:t>negative</a:t>
            </a:r>
            <a:r>
              <a:rPr lang="en-US" sz="1800" b="0" u="none" strike="noStrike">
                <a:solidFill>
                  <a:srgbClr val="000000"/>
                </a:solidFill>
                <a:effectLst/>
                <a:uFillTx/>
                <a:latin typeface="Arial"/>
                <a:ea typeface="DejaVu Sans"/>
              </a:rPr>
              <a:t> populations</a:t>
            </a:r>
            <a:endParaRPr lang="en-US" sz="1800" b="0" u="none" strike="noStrike">
              <a:solidFill>
                <a:srgbClr val="000000"/>
              </a:solidFill>
              <a:effectLst/>
              <a:uFillTx/>
              <a:latin typeface="Arial"/>
            </a:endParaRPr>
          </a:p>
          <a:p>
            <a:pPr>
              <a:lnSpc>
                <a:spcPts val="1585"/>
              </a:lnSpc>
              <a:spcBef>
                <a:spcPts val="624"/>
              </a:spcBef>
              <a:spcAft>
                <a:spcPts val="425"/>
              </a:spcAft>
            </a:pPr>
            <a:r>
              <a:rPr lang="en-US" sz="1800" b="0" u="none" strike="noStrike">
                <a:solidFill>
                  <a:srgbClr val="000000"/>
                </a:solidFill>
                <a:effectLst/>
                <a:uFillTx/>
                <a:latin typeface="Arial"/>
                <a:ea typeface="DejaVu Sans"/>
              </a:rPr>
              <a:t>- </a:t>
            </a:r>
            <a:r>
              <a:rPr lang="en-US" sz="1800" b="0" u="sng" strike="noStrike">
                <a:solidFill>
                  <a:srgbClr val="000000"/>
                </a:solidFill>
                <a:effectLst/>
                <a:uFillTx/>
                <a:latin typeface="Arial"/>
                <a:ea typeface="DejaVu Sans"/>
              </a:rPr>
              <a:t>Repeat</a:t>
            </a:r>
            <a:r>
              <a:rPr lang="en-US" sz="1800" b="0" u="none" strike="noStrike">
                <a:solidFill>
                  <a:srgbClr val="000000"/>
                </a:solidFill>
                <a:effectLst/>
                <a:uFillTx/>
                <a:latin typeface="Arial"/>
                <a:ea typeface="DejaVu Sans"/>
              </a:rPr>
              <a:t> the splitting process </a:t>
            </a:r>
            <a:r>
              <a:rPr lang="en-US" sz="1800" b="0" u="sng" strike="noStrike">
                <a:solidFill>
                  <a:srgbClr val="000000"/>
                </a:solidFill>
                <a:effectLst/>
                <a:uFillTx/>
                <a:latin typeface="Arial"/>
                <a:ea typeface="DejaVu Sans"/>
              </a:rPr>
              <a:t>for every marker</a:t>
            </a:r>
            <a:endParaRPr lang="en-US" sz="1800" b="0" u="none" strike="noStrike">
              <a:solidFill>
                <a:srgbClr val="000000"/>
              </a:solidFill>
              <a:effectLst/>
              <a:uFillTx/>
              <a:latin typeface="Arial"/>
            </a:endParaRPr>
          </a:p>
          <a:p>
            <a:pPr>
              <a:lnSpc>
                <a:spcPts val="1585"/>
              </a:lnSpc>
              <a:spcBef>
                <a:spcPts val="624"/>
              </a:spcBef>
              <a:spcAft>
                <a:spcPts val="425"/>
              </a:spcAft>
            </a:pPr>
            <a:r>
              <a:rPr lang="en-US" sz="1800" b="0" u="none" strike="noStrike">
                <a:solidFill>
                  <a:srgbClr val="000000"/>
                </a:solidFill>
                <a:effectLst/>
                <a:uFillTx/>
                <a:latin typeface="Arial"/>
                <a:ea typeface="DejaVu Sans"/>
              </a:rPr>
              <a:t>- Group cells that have shared expression of every single marker</a:t>
            </a:r>
            <a:endParaRPr lang="en-US" sz="1800" b="0" u="none" strike="noStrike">
              <a:solidFill>
                <a:srgbClr val="000000"/>
              </a:solidFill>
              <a:effectLst/>
              <a:uFillTx/>
              <a:latin typeface="Arial"/>
            </a:endParaRPr>
          </a:p>
          <a:p>
            <a:pPr>
              <a:lnSpc>
                <a:spcPts val="1585"/>
              </a:lnSpc>
              <a:spcBef>
                <a:spcPts val="624"/>
              </a:spcBef>
              <a:spcAft>
                <a:spcPts val="425"/>
              </a:spcAft>
            </a:pPr>
            <a:r>
              <a:rPr lang="en-US" sz="1800" b="0" u="none" strike="noStrike">
                <a:solidFill>
                  <a:srgbClr val="000000"/>
                </a:solidFill>
                <a:effectLst/>
                <a:uFillTx/>
                <a:latin typeface="Arial"/>
                <a:ea typeface="DejaVu Sans"/>
              </a:rPr>
              <a:t>- Theoretical upper number of clusters would be 2</a:t>
            </a:r>
            <a:r>
              <a:rPr lang="en-US" sz="1800" b="0" u="none" strike="noStrike" baseline="33000">
                <a:solidFill>
                  <a:srgbClr val="000000"/>
                </a:solidFill>
                <a:effectLst/>
                <a:uFillTx/>
                <a:latin typeface="Arial"/>
                <a:ea typeface="DejaVu Sans"/>
              </a:rPr>
              <a:t>n</a:t>
            </a:r>
            <a:endParaRPr lang="en-US" sz="18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0" y="-182520"/>
            <a:ext cx="1219032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Complex Datasets, Combinatorially Exponential Clusters</a:t>
            </a:r>
          </a:p>
        </p:txBody>
      </p:sp>
      <p:pic>
        <p:nvPicPr>
          <p:cNvPr id="65" name="Picture 64"/>
          <p:cNvPicPr/>
          <p:nvPr/>
        </p:nvPicPr>
        <p:blipFill>
          <a:blip r:embed="rId2"/>
          <a:stretch/>
        </p:blipFill>
        <p:spPr>
          <a:xfrm>
            <a:off x="6629400" y="960840"/>
            <a:ext cx="5027040" cy="4471920"/>
          </a:xfrm>
          <a:prstGeom prst="rect">
            <a:avLst/>
          </a:prstGeom>
          <a:noFill/>
          <a:ln w="0">
            <a:noFill/>
          </a:ln>
        </p:spPr>
      </p:pic>
      <p:sp>
        <p:nvSpPr>
          <p:cNvPr id="66" name="Rectangle 65"/>
          <p:cNvSpPr/>
          <p:nvPr/>
        </p:nvSpPr>
        <p:spPr>
          <a:xfrm>
            <a:off x="554400" y="1155600"/>
            <a:ext cx="63018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If you are interested in a single population of cells, analysis process remains essentially unchanged.</a:t>
            </a:r>
            <a:endParaRPr lang="en-US" sz="1800" b="0" u="none" strike="noStrike">
              <a:solidFill>
                <a:srgbClr val="000000"/>
              </a:solidFill>
              <a:effectLst/>
              <a:uFillTx/>
              <a:latin typeface="Arial"/>
            </a:endParaRPr>
          </a:p>
        </p:txBody>
      </p:sp>
      <p:sp>
        <p:nvSpPr>
          <p:cNvPr id="67" name="Rectangle 66"/>
          <p:cNvSpPr/>
          <p:nvPr/>
        </p:nvSpPr>
        <p:spPr>
          <a:xfrm>
            <a:off x="554400" y="1854000"/>
            <a:ext cx="60732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If your goal is to characterize all cell populations that may be present, the breadth and depth complicate the analysis.  </a:t>
            </a:r>
            <a:endParaRPr lang="en-US" sz="1800" b="0" u="none" strike="noStrike">
              <a:solidFill>
                <a:srgbClr val="000000"/>
              </a:solidFill>
              <a:effectLst/>
              <a:uFillTx/>
              <a:latin typeface="Arial"/>
            </a:endParaRPr>
          </a:p>
        </p:txBody>
      </p:sp>
      <p:sp>
        <p:nvSpPr>
          <p:cNvPr id="68" name="Rectangle 67"/>
          <p:cNvSpPr/>
          <p:nvPr/>
        </p:nvSpPr>
        <p:spPr>
          <a:xfrm>
            <a:off x="554400" y="2806200"/>
            <a:ext cx="6073560" cy="1866600"/>
          </a:xfrm>
          <a:prstGeom prst="rect">
            <a:avLst/>
          </a:prstGeom>
          <a:noFill/>
          <a:ln w="36720">
            <a:solidFill>
              <a:srgbClr val="3465A4"/>
            </a:solidFill>
            <a:round/>
          </a:ln>
        </p:spPr>
        <p:style>
          <a:lnRef idx="0">
            <a:scrgbClr r="0" g="0" b="0"/>
          </a:lnRef>
          <a:fillRef idx="0">
            <a:scrgbClr r="0" g="0" b="0"/>
          </a:fillRef>
          <a:effectRef idx="0">
            <a:scrgbClr r="0" g="0" b="0"/>
          </a:effectRef>
          <a:fontRef idx="minor"/>
        </p:style>
        <p:txBody>
          <a:bodyPr lIns="108360" tIns="63360" rIns="108360" bIns="63360" anchor="t">
            <a:spAutoFit/>
          </a:bodyPr>
          <a:lstStyle/>
          <a:p>
            <a:pPr>
              <a:lnSpc>
                <a:spcPts val="1585"/>
              </a:lnSpc>
              <a:spcBef>
                <a:spcPts val="624"/>
              </a:spcBef>
              <a:spcAft>
                <a:spcPts val="425"/>
              </a:spcAft>
            </a:pPr>
            <a:r>
              <a:rPr lang="en-US" sz="1800" b="0" u="none" strike="noStrike">
                <a:solidFill>
                  <a:srgbClr val="000000"/>
                </a:solidFill>
                <a:effectLst/>
                <a:uFillTx/>
                <a:latin typeface="Arial"/>
                <a:ea typeface="DejaVu Sans"/>
              </a:rPr>
              <a:t>If we step back, and consider </a:t>
            </a:r>
            <a:r>
              <a:rPr lang="en-US" sz="1800" b="0" u="sng" strike="noStrike">
                <a:solidFill>
                  <a:srgbClr val="000000"/>
                </a:solidFill>
                <a:effectLst/>
                <a:uFillTx/>
                <a:latin typeface="Arial"/>
                <a:ea typeface="DejaVu Sans"/>
              </a:rPr>
              <a:t>for a given marker</a:t>
            </a:r>
            <a:r>
              <a:rPr lang="en-US" sz="1800" b="0" u="none" strike="noStrike">
                <a:solidFill>
                  <a:srgbClr val="000000"/>
                </a:solidFill>
                <a:effectLst/>
                <a:uFillTx/>
                <a:latin typeface="Arial"/>
                <a:ea typeface="DejaVu Sans"/>
              </a:rPr>
              <a:t>:  </a:t>
            </a:r>
            <a:endParaRPr lang="en-US" sz="1800" b="0" u="none" strike="noStrike">
              <a:solidFill>
                <a:srgbClr val="000000"/>
              </a:solidFill>
              <a:effectLst/>
              <a:uFillTx/>
              <a:latin typeface="Arial"/>
            </a:endParaRPr>
          </a:p>
          <a:p>
            <a:pPr>
              <a:lnSpc>
                <a:spcPts val="1585"/>
              </a:lnSpc>
              <a:spcBef>
                <a:spcPts val="624"/>
              </a:spcBef>
              <a:spcAft>
                <a:spcPts val="425"/>
              </a:spcAft>
            </a:pPr>
            <a:r>
              <a:rPr lang="en-US" sz="1800" b="0" u="none" strike="noStrike">
                <a:solidFill>
                  <a:srgbClr val="000000"/>
                </a:solidFill>
                <a:effectLst/>
                <a:uFillTx/>
                <a:latin typeface="Arial"/>
                <a:ea typeface="DejaVu Sans"/>
              </a:rPr>
              <a:t>- We split cells </a:t>
            </a:r>
            <a:r>
              <a:rPr lang="en-US" sz="1800" b="0" u="sng" strike="noStrike">
                <a:solidFill>
                  <a:srgbClr val="000000"/>
                </a:solidFill>
                <a:effectLst/>
                <a:uFillTx/>
                <a:latin typeface="Arial"/>
                <a:ea typeface="DejaVu Sans"/>
              </a:rPr>
              <a:t>positive</a:t>
            </a:r>
            <a:r>
              <a:rPr lang="en-US" sz="1800" b="0" u="none" strike="noStrike">
                <a:solidFill>
                  <a:srgbClr val="000000"/>
                </a:solidFill>
                <a:effectLst/>
                <a:uFillTx/>
                <a:latin typeface="Arial"/>
                <a:ea typeface="DejaVu Sans"/>
              </a:rPr>
              <a:t> and </a:t>
            </a:r>
            <a:r>
              <a:rPr lang="en-US" sz="1800" b="0" u="sng" strike="noStrike">
                <a:solidFill>
                  <a:srgbClr val="000000"/>
                </a:solidFill>
                <a:effectLst/>
                <a:uFillTx/>
                <a:latin typeface="Arial"/>
                <a:ea typeface="DejaVu Sans"/>
              </a:rPr>
              <a:t>negative</a:t>
            </a:r>
            <a:r>
              <a:rPr lang="en-US" sz="1800" b="0" u="none" strike="noStrike">
                <a:solidFill>
                  <a:srgbClr val="000000"/>
                </a:solidFill>
                <a:effectLst/>
                <a:uFillTx/>
                <a:latin typeface="Arial"/>
                <a:ea typeface="DejaVu Sans"/>
              </a:rPr>
              <a:t> populations</a:t>
            </a:r>
            <a:endParaRPr lang="en-US" sz="1800" b="0" u="none" strike="noStrike">
              <a:solidFill>
                <a:srgbClr val="000000"/>
              </a:solidFill>
              <a:effectLst/>
              <a:uFillTx/>
              <a:latin typeface="Arial"/>
            </a:endParaRPr>
          </a:p>
          <a:p>
            <a:pPr>
              <a:lnSpc>
                <a:spcPts val="1585"/>
              </a:lnSpc>
              <a:spcBef>
                <a:spcPts val="624"/>
              </a:spcBef>
              <a:spcAft>
                <a:spcPts val="425"/>
              </a:spcAft>
            </a:pPr>
            <a:r>
              <a:rPr lang="en-US" sz="1800" b="0" u="none" strike="noStrike">
                <a:solidFill>
                  <a:srgbClr val="000000"/>
                </a:solidFill>
                <a:effectLst/>
                <a:uFillTx/>
                <a:latin typeface="Arial"/>
                <a:ea typeface="DejaVu Sans"/>
              </a:rPr>
              <a:t>- </a:t>
            </a:r>
            <a:r>
              <a:rPr lang="en-US" sz="1800" b="0" u="sng" strike="noStrike">
                <a:solidFill>
                  <a:srgbClr val="000000"/>
                </a:solidFill>
                <a:effectLst/>
                <a:uFillTx/>
                <a:latin typeface="Arial"/>
                <a:ea typeface="DejaVu Sans"/>
              </a:rPr>
              <a:t>Repeat</a:t>
            </a:r>
            <a:r>
              <a:rPr lang="en-US" sz="1800" b="0" u="none" strike="noStrike">
                <a:solidFill>
                  <a:srgbClr val="000000"/>
                </a:solidFill>
                <a:effectLst/>
                <a:uFillTx/>
                <a:latin typeface="Arial"/>
                <a:ea typeface="DejaVu Sans"/>
              </a:rPr>
              <a:t> the splitting process </a:t>
            </a:r>
            <a:r>
              <a:rPr lang="en-US" sz="1800" b="0" u="sng" strike="noStrike">
                <a:solidFill>
                  <a:srgbClr val="000000"/>
                </a:solidFill>
                <a:effectLst/>
                <a:uFillTx/>
                <a:latin typeface="Arial"/>
                <a:ea typeface="DejaVu Sans"/>
              </a:rPr>
              <a:t>for every marker</a:t>
            </a:r>
            <a:endParaRPr lang="en-US" sz="1800" b="0" u="none" strike="noStrike">
              <a:solidFill>
                <a:srgbClr val="000000"/>
              </a:solidFill>
              <a:effectLst/>
              <a:uFillTx/>
              <a:latin typeface="Arial"/>
            </a:endParaRPr>
          </a:p>
          <a:p>
            <a:pPr>
              <a:lnSpc>
                <a:spcPts val="1585"/>
              </a:lnSpc>
              <a:spcBef>
                <a:spcPts val="624"/>
              </a:spcBef>
              <a:spcAft>
                <a:spcPts val="425"/>
              </a:spcAft>
            </a:pPr>
            <a:r>
              <a:rPr lang="en-US" sz="1800" b="0" u="none" strike="noStrike">
                <a:solidFill>
                  <a:srgbClr val="000000"/>
                </a:solidFill>
                <a:effectLst/>
                <a:uFillTx/>
                <a:latin typeface="Arial"/>
                <a:ea typeface="DejaVu Sans"/>
              </a:rPr>
              <a:t>- Group cells that have shared expression of every single marker</a:t>
            </a:r>
            <a:endParaRPr lang="en-US" sz="1800" b="0" u="none" strike="noStrike">
              <a:solidFill>
                <a:srgbClr val="000000"/>
              </a:solidFill>
              <a:effectLst/>
              <a:uFillTx/>
              <a:latin typeface="Arial"/>
            </a:endParaRPr>
          </a:p>
          <a:p>
            <a:pPr>
              <a:lnSpc>
                <a:spcPts val="1585"/>
              </a:lnSpc>
              <a:spcBef>
                <a:spcPts val="624"/>
              </a:spcBef>
              <a:spcAft>
                <a:spcPts val="425"/>
              </a:spcAft>
            </a:pPr>
            <a:r>
              <a:rPr lang="en-US" sz="1800" b="0" u="none" strike="noStrike">
                <a:solidFill>
                  <a:srgbClr val="000000"/>
                </a:solidFill>
                <a:effectLst/>
                <a:uFillTx/>
                <a:latin typeface="Arial"/>
                <a:ea typeface="DejaVu Sans"/>
              </a:rPr>
              <a:t>- Theoretical upper number of clusters would be 2</a:t>
            </a:r>
            <a:r>
              <a:rPr lang="en-US" sz="1800" b="0" u="none" strike="noStrike" baseline="33000">
                <a:solidFill>
                  <a:srgbClr val="000000"/>
                </a:solidFill>
                <a:effectLst/>
                <a:uFillTx/>
                <a:latin typeface="Arial"/>
                <a:ea typeface="DejaVu Sans"/>
              </a:rPr>
              <a:t>n</a:t>
            </a:r>
            <a:endParaRPr lang="en-US" sz="1800" b="0" u="none" strike="noStrike">
              <a:solidFill>
                <a:srgbClr val="000000"/>
              </a:solidFill>
              <a:effectLst/>
              <a:uFillTx/>
              <a:latin typeface="Arial"/>
            </a:endParaRPr>
          </a:p>
        </p:txBody>
      </p:sp>
      <p:sp>
        <p:nvSpPr>
          <p:cNvPr id="69" name="Rectangle 68"/>
          <p:cNvSpPr/>
          <p:nvPr/>
        </p:nvSpPr>
        <p:spPr>
          <a:xfrm>
            <a:off x="555480" y="4800600"/>
            <a:ext cx="515880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1" u="none" strike="noStrike">
                <a:solidFill>
                  <a:srgbClr val="000000"/>
                </a:solidFill>
                <a:effectLst/>
                <a:uFillTx/>
                <a:latin typeface="Arial"/>
                <a:ea typeface="DejaVu Sans"/>
              </a:rPr>
              <a:t>9-color</a:t>
            </a:r>
            <a:r>
              <a:rPr lang="en-US" sz="1800" b="0" u="none" strike="noStrike">
                <a:solidFill>
                  <a:srgbClr val="000000"/>
                </a:solidFill>
                <a:effectLst/>
                <a:uFillTx/>
                <a:latin typeface="Arial"/>
                <a:ea typeface="DejaVu Sans"/>
              </a:rPr>
              <a:t> CFC panel: </a:t>
            </a:r>
            <a:r>
              <a:rPr lang="en-US" sz="1800" b="1" u="none" strike="noStrike">
                <a:solidFill>
                  <a:srgbClr val="000000"/>
                </a:solidFill>
                <a:effectLst/>
                <a:uFillTx/>
                <a:latin typeface="Arial"/>
                <a:ea typeface="DejaVu Sans"/>
              </a:rPr>
              <a:t>512 </a:t>
            </a:r>
            <a:r>
              <a:rPr lang="en-US" sz="1800" b="0" u="none" strike="noStrike">
                <a:solidFill>
                  <a:srgbClr val="000000"/>
                </a:solidFill>
                <a:effectLst/>
                <a:uFillTx/>
                <a:latin typeface="Arial"/>
                <a:ea typeface="DejaVu Sans"/>
              </a:rPr>
              <a:t>clusters at most</a:t>
            </a:r>
            <a:endParaRPr lang="en-US" sz="1800" b="0" u="none" strike="noStrike">
              <a:solidFill>
                <a:srgbClr val="000000"/>
              </a:solidFill>
              <a:effectLst/>
              <a:uFillTx/>
              <a:latin typeface="Arial"/>
            </a:endParaRPr>
          </a:p>
        </p:txBody>
      </p:sp>
      <p:sp>
        <p:nvSpPr>
          <p:cNvPr id="70" name="Rectangle 69"/>
          <p:cNvSpPr/>
          <p:nvPr/>
        </p:nvSpPr>
        <p:spPr>
          <a:xfrm>
            <a:off x="529200" y="5065200"/>
            <a:ext cx="584460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spcBef>
                <a:spcPts val="1191"/>
              </a:spcBef>
              <a:spcAft>
                <a:spcPts val="992"/>
              </a:spcAft>
              <a:buClr>
                <a:srgbClr val="000000"/>
              </a:buClr>
              <a:buSzPct val="45000"/>
              <a:buFont typeface="Wingdings" charset="2"/>
              <a:buChar char=""/>
            </a:pPr>
            <a:r>
              <a:rPr lang="en-US" sz="1800" b="1" u="none" strike="noStrike">
                <a:solidFill>
                  <a:srgbClr val="000000"/>
                </a:solidFill>
                <a:effectLst/>
                <a:uFillTx/>
                <a:latin typeface="Arial"/>
                <a:ea typeface="DejaVu Sans"/>
              </a:rPr>
              <a:t>40-color</a:t>
            </a:r>
            <a:r>
              <a:rPr lang="en-US" sz="1800" b="0" u="none" strike="noStrike">
                <a:solidFill>
                  <a:srgbClr val="000000"/>
                </a:solidFill>
                <a:effectLst/>
                <a:uFillTx/>
                <a:latin typeface="Arial"/>
                <a:ea typeface="DejaVu Sans"/>
              </a:rPr>
              <a:t> SFC panel: </a:t>
            </a:r>
            <a:r>
              <a:rPr lang="en-US" sz="1800" b="1" u="none" strike="noStrike">
                <a:solidFill>
                  <a:srgbClr val="000000"/>
                </a:solidFill>
                <a:effectLst/>
                <a:uFillTx/>
                <a:latin typeface="Arial"/>
                <a:ea typeface="DejaVu Sans"/>
              </a:rPr>
              <a:t>1.09e+12 </a:t>
            </a:r>
            <a:r>
              <a:rPr lang="en-US" sz="1800" b="0" u="none" strike="noStrike">
                <a:solidFill>
                  <a:srgbClr val="000000"/>
                </a:solidFill>
                <a:effectLst/>
                <a:uFillTx/>
                <a:latin typeface="Arial"/>
                <a:ea typeface="DejaVu Sans"/>
              </a:rPr>
              <a:t>clusters at most</a:t>
            </a:r>
            <a:r>
              <a:rPr lang="en-US" sz="1800" b="1" u="none" strike="noStrike">
                <a:solidFill>
                  <a:srgbClr val="000000"/>
                </a:solidFill>
                <a:effectLst/>
                <a:uFillTx/>
                <a:latin typeface="Arial"/>
                <a:ea typeface="DejaVu Sans"/>
              </a:rPr>
              <a:t> </a:t>
            </a:r>
            <a:endParaRPr lang="en-US" sz="18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0" y="0"/>
            <a:ext cx="1219032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A crossroads deal with the Spectral Signature Devil</a:t>
            </a:r>
          </a:p>
        </p:txBody>
      </p:sp>
      <p:pic>
        <p:nvPicPr>
          <p:cNvPr id="72" name="Picture 71"/>
          <p:cNvPicPr/>
          <p:nvPr/>
        </p:nvPicPr>
        <p:blipFill>
          <a:blip r:embed="rId2"/>
          <a:stretch/>
        </p:blipFill>
        <p:spPr>
          <a:xfrm>
            <a:off x="392040" y="1600200"/>
            <a:ext cx="5549400" cy="3883680"/>
          </a:xfrm>
          <a:prstGeom prst="rect">
            <a:avLst/>
          </a:prstGeom>
          <a:noFill/>
          <a:ln w="0">
            <a:noFill/>
          </a:ln>
        </p:spPr>
      </p:pic>
      <p:sp>
        <p:nvSpPr>
          <p:cNvPr id="73" name="Rectangle 72"/>
          <p:cNvSpPr/>
          <p:nvPr/>
        </p:nvSpPr>
        <p:spPr>
          <a:xfrm>
            <a:off x="6172200" y="1600200"/>
            <a:ext cx="57132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Consequently, there is a need for semi-supervised and unsupervised algorithmic analytical approaches</a:t>
            </a:r>
            <a:endParaRPr lang="en-US" sz="1800" b="0" u="none" strike="noStrike">
              <a:solidFill>
                <a:srgbClr val="000000"/>
              </a:solidFill>
              <a:effectLst/>
              <a:uFillTx/>
              <a:latin typeface="Arial"/>
            </a:endParaRPr>
          </a:p>
        </p:txBody>
      </p:sp>
      <p:sp>
        <p:nvSpPr>
          <p:cNvPr id="74" name="Rectangle 73"/>
          <p:cNvSpPr/>
          <p:nvPr/>
        </p:nvSpPr>
        <p:spPr>
          <a:xfrm>
            <a:off x="6213960" y="2403000"/>
            <a:ext cx="5442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Immense potential for biological discovery, but at the cost of a major trade-off</a:t>
            </a:r>
            <a:endParaRPr lang="en-US" sz="1800" b="0" u="none" strike="noStrike">
              <a:solidFill>
                <a:srgbClr val="000000"/>
              </a:solidFill>
              <a:effectLst/>
              <a:uFillTx/>
              <a:latin typeface="Arial"/>
            </a:endParaRPr>
          </a:p>
        </p:txBody>
      </p:sp>
      <p:sp>
        <p:nvSpPr>
          <p:cNvPr id="75" name="Rectangle 74"/>
          <p:cNvSpPr/>
          <p:nvPr/>
        </p:nvSpPr>
        <p:spPr>
          <a:xfrm>
            <a:off x="6213960" y="4114800"/>
            <a:ext cx="5442840" cy="118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spcBef>
                <a:spcPts val="1191"/>
              </a:spcBef>
              <a:spcAft>
                <a:spcPts val="992"/>
              </a:spcAft>
              <a:buClr>
                <a:srgbClr val="000000"/>
              </a:buClr>
              <a:buSzPct val="45000"/>
              <a:buFont typeface="Wingdings" charset="2"/>
              <a:buChar char=""/>
            </a:pPr>
            <a:r>
              <a:rPr lang="en-US" sz="1800" b="0" u="none" strike="noStrike">
                <a:solidFill>
                  <a:srgbClr val="000000"/>
                </a:solidFill>
                <a:effectLst/>
                <a:uFillTx/>
                <a:latin typeface="Arial"/>
                <a:ea typeface="DejaVu Sans"/>
              </a:rPr>
              <a:t>How closely the fluorescent signatures of our unmixing controls (single-color and unstained)  match the spectral signatures as present on the full-stained cells is critical to this final data quality. </a:t>
            </a:r>
            <a:endParaRPr lang="en-US" sz="1800" b="0" u="none" strike="noStrike">
              <a:solidFill>
                <a:srgbClr val="000000"/>
              </a:solidFill>
              <a:effectLst/>
              <a:uFillTx/>
              <a:latin typeface="Arial"/>
            </a:endParaRPr>
          </a:p>
        </p:txBody>
      </p:sp>
      <p:sp>
        <p:nvSpPr>
          <p:cNvPr id="76" name="Rectangle 75"/>
          <p:cNvSpPr/>
          <p:nvPr/>
        </p:nvSpPr>
        <p:spPr>
          <a:xfrm>
            <a:off x="6213960" y="3200400"/>
            <a:ext cx="544284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spcBef>
                <a:spcPts val="1191"/>
              </a:spcBef>
              <a:spcAft>
                <a:spcPts val="992"/>
              </a:spcAft>
              <a:buClr>
                <a:srgbClr val="000000"/>
              </a:buClr>
              <a:buSzPct val="45000"/>
              <a:buFont typeface="Wingdings" charset="2"/>
              <a:buChar char=""/>
            </a:pPr>
            <a:r>
              <a:rPr lang="en-US" sz="1800" b="0" u="none" strike="noStrike">
                <a:solidFill>
                  <a:srgbClr val="000000"/>
                </a:solidFill>
                <a:effectLst/>
                <a:uFillTx/>
                <a:latin typeface="Arial"/>
                <a:ea typeface="DejaVu Sans"/>
              </a:rPr>
              <a:t>Quality of our final data depends on our ability to infer the fluorophores present on individual fully-stained cells </a:t>
            </a:r>
            <a:endParaRPr lang="en-US" sz="18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0" y="0"/>
            <a:ext cx="1219032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“We discovered this new dendritic cell cluster….”</a:t>
            </a:r>
          </a:p>
        </p:txBody>
      </p:sp>
      <p:pic>
        <p:nvPicPr>
          <p:cNvPr id="78" name="Picture 77"/>
          <p:cNvPicPr/>
          <p:nvPr/>
        </p:nvPicPr>
        <p:blipFill>
          <a:blip r:embed="rId2"/>
          <a:stretch/>
        </p:blipFill>
        <p:spPr>
          <a:xfrm>
            <a:off x="1987200" y="914400"/>
            <a:ext cx="6693480" cy="4653000"/>
          </a:xfrm>
          <a:prstGeom prst="rect">
            <a:avLst/>
          </a:prstGeom>
          <a:noFill/>
          <a:ln w="0">
            <a:noFill/>
          </a:ln>
        </p:spPr>
      </p:pic>
      <p:pic>
        <p:nvPicPr>
          <p:cNvPr id="79" name="Graphic 78"/>
          <p:cNvPicPr/>
          <p:nvPr/>
        </p:nvPicPr>
        <p:blipFill>
          <a:blip>
            <a:extLst>
              <a:ext uri="{96DAC541-7B7A-43D3-8B79-37D633B846F1}">
                <asvg:svgBlip xmlns:asvg="http://schemas.microsoft.com/office/drawing/2016/SVG/main" r:embed="rId3"/>
              </a:ext>
            </a:extLst>
          </a:blip>
          <a:stretch/>
        </p:blipFill>
        <p:spPr>
          <a:xfrm>
            <a:off x="9372600" y="2391120"/>
            <a:ext cx="1722600" cy="1722600"/>
          </a:xfrm>
          <a:prstGeom prst="rect">
            <a:avLst/>
          </a:prstGeom>
          <a:noFill/>
          <a:ln w="0">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0" y="46080"/>
            <a:ext cx="1219032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More unmixing errors, more downstream batch effects </a:t>
            </a:r>
          </a:p>
        </p:txBody>
      </p:sp>
      <p:pic>
        <p:nvPicPr>
          <p:cNvPr id="81" name="Picture 80"/>
          <p:cNvPicPr/>
          <p:nvPr/>
        </p:nvPicPr>
        <p:blipFill>
          <a:blip r:embed="rId2"/>
          <a:stretch/>
        </p:blipFill>
        <p:spPr>
          <a:xfrm>
            <a:off x="262080" y="1780200"/>
            <a:ext cx="6136560" cy="2969640"/>
          </a:xfrm>
          <a:prstGeom prst="rect">
            <a:avLst/>
          </a:prstGeom>
          <a:noFill/>
          <a:ln w="0">
            <a:noFill/>
          </a:ln>
        </p:spPr>
      </p:pic>
      <p:sp>
        <p:nvSpPr>
          <p:cNvPr id="82" name="Rectangle 81"/>
          <p:cNvSpPr/>
          <p:nvPr/>
        </p:nvSpPr>
        <p:spPr>
          <a:xfrm>
            <a:off x="6401520" y="2372400"/>
            <a:ext cx="548496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Existing quality control algorithms (PeacoQC, FlowAI, etc.) primarily focus on detecting laser and fluidic issues in already acquired .fcs files</a:t>
            </a:r>
            <a:endParaRPr lang="en-US" sz="1800" b="0" u="none" strike="noStrike">
              <a:solidFill>
                <a:srgbClr val="000000"/>
              </a:solidFill>
              <a:effectLst/>
              <a:uFillTx/>
              <a:latin typeface="Arial"/>
            </a:endParaRPr>
          </a:p>
        </p:txBody>
      </p:sp>
      <p:sp>
        <p:nvSpPr>
          <p:cNvPr id="83" name="Rectangle 82"/>
          <p:cNvSpPr/>
          <p:nvPr/>
        </p:nvSpPr>
        <p:spPr>
          <a:xfrm>
            <a:off x="6401520" y="1371600"/>
            <a:ext cx="548496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Despite the critical importance unmixing controls play, few tools permit us to determine quality of the individual control before unmixing occurs</a:t>
            </a:r>
            <a:endParaRPr lang="en-US" sz="1800" b="0" u="none" strike="noStrike">
              <a:solidFill>
                <a:srgbClr val="000000"/>
              </a:solidFill>
              <a:effectLst/>
              <a:uFillTx/>
              <a:latin typeface="Arial"/>
            </a:endParaRPr>
          </a:p>
        </p:txBody>
      </p:sp>
      <p:sp>
        <p:nvSpPr>
          <p:cNvPr id="84" name="Rectangle 83"/>
          <p:cNvSpPr/>
          <p:nvPr/>
        </p:nvSpPr>
        <p:spPr>
          <a:xfrm>
            <a:off x="6401160" y="3380400"/>
            <a:ext cx="54846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Unmixing errors can be introduced by tandem degradation, additional autofluorescences, undiagnosed instrumental issues, etc.</a:t>
            </a:r>
            <a:endParaRPr lang="en-US" sz="1800" b="0" u="none" strike="noStrike">
              <a:solidFill>
                <a:srgbClr val="000000"/>
              </a:solidFill>
              <a:effectLst/>
              <a:uFillTx/>
              <a:latin typeface="Arial"/>
            </a:endParaRPr>
          </a:p>
        </p:txBody>
      </p:sp>
      <p:sp>
        <p:nvSpPr>
          <p:cNvPr id="85" name="Rectangle 84"/>
          <p:cNvSpPr/>
          <p:nvPr/>
        </p:nvSpPr>
        <p:spPr>
          <a:xfrm>
            <a:off x="6400800" y="4368600"/>
            <a:ext cx="548496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Unmixing errors contribute to batch effects, and require complicated troubleshooting to be able to proceed with the downstream analysis</a:t>
            </a:r>
            <a:endParaRPr lang="en-US" sz="18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 name="PlaceHolder 1"/>
          <p:cNvSpPr>
            <a:spLocks noGrp="1"/>
          </p:cNvSpPr>
          <p:nvPr>
            <p:ph type="title"/>
          </p:nvPr>
        </p:nvSpPr>
        <p:spPr>
          <a:xfrm>
            <a:off x="0" y="46080"/>
            <a:ext cx="1219032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Open-source tool sets specifically for</a:t>
            </a:r>
            <a:br>
              <a:rPr sz="3600"/>
            </a:br>
            <a:r>
              <a:rPr lang="en-US" sz="3600" b="0" u="none" strike="noStrike">
                <a:solidFill>
                  <a:srgbClr val="000000"/>
                </a:solidFill>
                <a:effectLst/>
                <a:uFillTx/>
                <a:latin typeface="Arial"/>
              </a:rPr>
              <a:t> Spectral Flow Cytometry’s quirks</a:t>
            </a:r>
          </a:p>
        </p:txBody>
      </p:sp>
      <p:pic>
        <p:nvPicPr>
          <p:cNvPr id="87" name="Picture 86"/>
          <p:cNvPicPr/>
          <p:nvPr/>
        </p:nvPicPr>
        <p:blipFill>
          <a:blip r:embed="rId2"/>
          <a:stretch/>
        </p:blipFill>
        <p:spPr>
          <a:xfrm>
            <a:off x="5391360" y="1828800"/>
            <a:ext cx="1922040" cy="2220120"/>
          </a:xfrm>
          <a:prstGeom prst="rect">
            <a:avLst/>
          </a:prstGeom>
          <a:noFill/>
          <a:ln w="0">
            <a:noFill/>
          </a:ln>
        </p:spPr>
      </p:pic>
      <p:pic>
        <p:nvPicPr>
          <p:cNvPr id="88" name="Picture 87"/>
          <p:cNvPicPr/>
          <p:nvPr/>
        </p:nvPicPr>
        <p:blipFill>
          <a:blip r:embed="rId3"/>
          <a:stretch/>
        </p:blipFill>
        <p:spPr>
          <a:xfrm>
            <a:off x="1371600" y="2057400"/>
            <a:ext cx="2109240" cy="1826640"/>
          </a:xfrm>
          <a:prstGeom prst="rect">
            <a:avLst/>
          </a:prstGeom>
          <a:noFill/>
          <a:ln w="0">
            <a:noFill/>
          </a:ln>
        </p:spPr>
      </p:pic>
      <p:pic>
        <p:nvPicPr>
          <p:cNvPr id="89" name="Picture 88"/>
          <p:cNvPicPr/>
          <p:nvPr/>
        </p:nvPicPr>
        <p:blipFill>
          <a:blip r:embed="rId4"/>
          <a:stretch/>
        </p:blipFill>
        <p:spPr>
          <a:xfrm>
            <a:off x="10654920" y="343080"/>
            <a:ext cx="1325520" cy="1026720"/>
          </a:xfrm>
          <a:prstGeom prst="rect">
            <a:avLst/>
          </a:prstGeom>
          <a:noFill/>
          <a:ln w="0">
            <a:noFill/>
          </a:ln>
        </p:spPr>
      </p:pic>
      <p:pic>
        <p:nvPicPr>
          <p:cNvPr id="90" name="Picture 89"/>
          <p:cNvPicPr/>
          <p:nvPr/>
        </p:nvPicPr>
        <p:blipFill>
          <a:blip r:embed="rId5"/>
          <a:stretch/>
        </p:blipFill>
        <p:spPr>
          <a:xfrm rot="3600">
            <a:off x="227160" y="174240"/>
            <a:ext cx="1423440" cy="1423440"/>
          </a:xfrm>
          <a:prstGeom prst="rect">
            <a:avLst/>
          </a:prstGeom>
          <a:noFill/>
          <a:ln w="0">
            <a:noFill/>
          </a:ln>
        </p:spPr>
      </p:pic>
      <p:pic>
        <p:nvPicPr>
          <p:cNvPr id="91" name="Picture 90"/>
          <p:cNvPicPr/>
          <p:nvPr/>
        </p:nvPicPr>
        <p:blipFill>
          <a:blip r:embed="rId6"/>
          <a:stretch/>
        </p:blipFill>
        <p:spPr>
          <a:xfrm>
            <a:off x="9144000" y="1910880"/>
            <a:ext cx="2279160" cy="1973520"/>
          </a:xfrm>
          <a:prstGeom prst="rect">
            <a:avLst/>
          </a:prstGeom>
          <a:noFill/>
          <a:ln w="0">
            <a:noFill/>
          </a:ln>
        </p:spPr>
      </p:pic>
      <p:sp>
        <p:nvSpPr>
          <p:cNvPr id="92" name="Rectangle 91"/>
          <p:cNvSpPr/>
          <p:nvPr/>
        </p:nvSpPr>
        <p:spPr>
          <a:xfrm>
            <a:off x="685800" y="4114800"/>
            <a:ext cx="34272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800" b="0" u="none" strike="noStrike">
                <a:solidFill>
                  <a:srgbClr val="000000"/>
                </a:solidFill>
                <a:effectLst/>
                <a:uFillTx/>
                <a:latin typeface="Arial"/>
                <a:ea typeface="DejaVu Sans"/>
              </a:rPr>
              <a:t>Spectral Signature Characterization and Isolation</a:t>
            </a:r>
            <a:endParaRPr lang="en-US" sz="1800" b="0" u="none" strike="noStrike">
              <a:solidFill>
                <a:srgbClr val="000000"/>
              </a:solidFill>
              <a:effectLst/>
              <a:uFillTx/>
              <a:latin typeface="Arial"/>
            </a:endParaRPr>
          </a:p>
        </p:txBody>
      </p:sp>
      <p:sp>
        <p:nvSpPr>
          <p:cNvPr id="93" name="Rectangle 92"/>
          <p:cNvSpPr/>
          <p:nvPr/>
        </p:nvSpPr>
        <p:spPr>
          <a:xfrm>
            <a:off x="4572000" y="4114800"/>
            <a:ext cx="34272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800" b="0" u="none" strike="noStrike">
                <a:solidFill>
                  <a:srgbClr val="000000"/>
                </a:solidFill>
                <a:effectLst/>
                <a:uFillTx/>
                <a:latin typeface="Arial"/>
                <a:ea typeface="DejaVu Sans"/>
              </a:rPr>
              <a:t>Automated Instrument </a:t>
            </a:r>
            <a:endParaRPr lang="en-US" sz="1800" b="0" u="none" strike="noStrike">
              <a:solidFill>
                <a:srgbClr val="000000"/>
              </a:solidFill>
              <a:effectLst/>
              <a:uFillTx/>
              <a:latin typeface="Arial"/>
            </a:endParaRPr>
          </a:p>
          <a:p>
            <a:pPr algn="ctr">
              <a:lnSpc>
                <a:spcPct val="100000"/>
              </a:lnSpc>
            </a:pPr>
            <a:r>
              <a:rPr lang="en-US" sz="1800" b="0" u="none" strike="noStrike">
                <a:solidFill>
                  <a:srgbClr val="000000"/>
                </a:solidFill>
                <a:effectLst/>
                <a:uFillTx/>
                <a:latin typeface="Arial"/>
                <a:ea typeface="DejaVu Sans"/>
              </a:rPr>
              <a:t>Quality-Control Dashboards</a:t>
            </a:r>
            <a:endParaRPr lang="en-US" sz="1800" b="0" u="none" strike="noStrike">
              <a:solidFill>
                <a:srgbClr val="000000"/>
              </a:solidFill>
              <a:effectLst/>
              <a:uFillTx/>
              <a:latin typeface="Arial"/>
            </a:endParaRPr>
          </a:p>
        </p:txBody>
      </p:sp>
      <p:sp>
        <p:nvSpPr>
          <p:cNvPr id="94" name="Rectangle 93"/>
          <p:cNvSpPr/>
          <p:nvPr/>
        </p:nvSpPr>
        <p:spPr>
          <a:xfrm>
            <a:off x="8458200" y="4114800"/>
            <a:ext cx="34272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800" b="0" u="none" strike="noStrike">
                <a:solidFill>
                  <a:srgbClr val="000000"/>
                </a:solidFill>
                <a:effectLst/>
                <a:uFillTx/>
                <a:latin typeface="Arial"/>
                <a:ea typeface="DejaVu Sans"/>
              </a:rPr>
              <a:t>Semi-supervised analysis via incorporation of manually-annotated gating information</a:t>
            </a:r>
            <a:endParaRPr lang="en-US" sz="18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2275920" y="228600"/>
            <a:ext cx="7998840" cy="1323360"/>
          </a:xfrm>
          <a:prstGeom prst="rect">
            <a:avLst/>
          </a:prstGeom>
          <a:noFill/>
          <a:ln w="19080">
            <a:noFill/>
          </a:ln>
        </p:spPr>
        <p:txBody>
          <a:bodyPr lIns="91440" tIns="45720" rIns="91440" bIns="45720" anchor="ctr">
            <a:normAutofit/>
          </a:bodyPr>
          <a:lstStyle/>
          <a:p>
            <a:pPr indent="0" algn="ctr">
              <a:lnSpc>
                <a:spcPct val="100000"/>
              </a:lnSpc>
              <a:buNone/>
              <a:tabLst>
                <a:tab pos="0" algn="l"/>
              </a:tabLst>
            </a:pPr>
            <a:r>
              <a:rPr lang="en-US" sz="3600" b="0" u="none" strike="noStrike">
                <a:solidFill>
                  <a:srgbClr val="000000"/>
                </a:solidFill>
                <a:effectLst/>
                <a:uFillTx/>
                <a:latin typeface="Arial"/>
              </a:rPr>
              <a:t>Spectral Signature Characterization and Clustering</a:t>
            </a:r>
          </a:p>
        </p:txBody>
      </p:sp>
      <p:pic>
        <p:nvPicPr>
          <p:cNvPr id="96" name="Picture 95"/>
          <p:cNvPicPr/>
          <p:nvPr/>
        </p:nvPicPr>
        <p:blipFill>
          <a:blip r:embed="rId2"/>
          <a:stretch/>
        </p:blipFill>
        <p:spPr>
          <a:xfrm>
            <a:off x="6553440" y="1600200"/>
            <a:ext cx="2817360" cy="2112480"/>
          </a:xfrm>
          <a:prstGeom prst="rect">
            <a:avLst/>
          </a:prstGeom>
          <a:noFill/>
          <a:ln w="0">
            <a:noFill/>
          </a:ln>
        </p:spPr>
      </p:pic>
      <p:sp>
        <p:nvSpPr>
          <p:cNvPr id="97" name="Rectangle 96"/>
          <p:cNvSpPr/>
          <p:nvPr/>
        </p:nvSpPr>
        <p:spPr>
          <a:xfrm>
            <a:off x="277200" y="1923840"/>
            <a:ext cx="55926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spcBef>
                <a:spcPts val="1191"/>
              </a:spcBef>
              <a:spcAft>
                <a:spcPts val="992"/>
              </a:spcAft>
              <a:buClr>
                <a:srgbClr val="000000"/>
              </a:buClr>
              <a:buSzPct val="45000"/>
              <a:buFont typeface="Wingdings" charset="2"/>
              <a:buChar char=""/>
            </a:pPr>
            <a:r>
              <a:rPr lang="en-US" sz="1800" b="0" u="none" strike="noStrike">
                <a:solidFill>
                  <a:srgbClr val="000000"/>
                </a:solidFill>
                <a:effectLst/>
                <a:uFillTx/>
                <a:latin typeface="Arial"/>
                <a:ea typeface="DejaVu Sans"/>
              </a:rPr>
              <a:t>For individual cells, it characterizes the cell’s normalized fluorescent signature</a:t>
            </a:r>
            <a:endParaRPr lang="en-US" sz="1800" b="0" u="none" strike="noStrike">
              <a:solidFill>
                <a:srgbClr val="000000"/>
              </a:solidFill>
              <a:effectLst/>
              <a:uFillTx/>
              <a:latin typeface="Arial"/>
            </a:endParaRPr>
          </a:p>
        </p:txBody>
      </p:sp>
      <p:pic>
        <p:nvPicPr>
          <p:cNvPr id="98" name="Picture 97"/>
          <p:cNvPicPr/>
          <p:nvPr/>
        </p:nvPicPr>
        <p:blipFill>
          <a:blip r:embed="rId3"/>
          <a:stretch/>
        </p:blipFill>
        <p:spPr>
          <a:xfrm>
            <a:off x="228600" y="198360"/>
            <a:ext cx="1616760" cy="1400040"/>
          </a:xfrm>
          <a:prstGeom prst="rect">
            <a:avLst/>
          </a:prstGeom>
          <a:noFill/>
          <a:ln w="0">
            <a:noFill/>
          </a:ln>
        </p:spPr>
      </p:pic>
      <p:pic>
        <p:nvPicPr>
          <p:cNvPr id="99" name="Graphic 98"/>
          <p:cNvPicPr/>
          <p:nvPr/>
        </p:nvPicPr>
        <p:blipFill>
          <a:blip>
            <a:extLst>
              <a:ext uri="{96DAC541-7B7A-43D3-8B79-37D633B846F1}">
                <asvg:svgBlip xmlns:asvg="http://schemas.microsoft.com/office/drawing/2016/SVG/main" r:embed="rId4"/>
              </a:ext>
            </a:extLst>
          </a:blip>
          <a:stretch/>
        </p:blipFill>
        <p:spPr>
          <a:xfrm>
            <a:off x="10515600" y="152280"/>
            <a:ext cx="1446120" cy="1446120"/>
          </a:xfrm>
          <a:prstGeom prst="rect">
            <a:avLst/>
          </a:prstGeom>
          <a:noFill/>
          <a:ln w="0">
            <a:noFill/>
          </a:ln>
        </p:spPr>
      </p:pic>
      <p:sp>
        <p:nvSpPr>
          <p:cNvPr id="100" name="Rectangle 99"/>
          <p:cNvSpPr/>
          <p:nvPr/>
        </p:nvSpPr>
        <p:spPr>
          <a:xfrm>
            <a:off x="277200" y="2562120"/>
            <a:ext cx="58446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spcBef>
                <a:spcPts val="1191"/>
              </a:spcBef>
              <a:spcAft>
                <a:spcPts val="992"/>
              </a:spcAft>
              <a:buClr>
                <a:srgbClr val="000000"/>
              </a:buClr>
              <a:buSzPct val="45000"/>
              <a:buFont typeface="Wingdings" charset="2"/>
              <a:buChar char=""/>
            </a:pPr>
            <a:r>
              <a:rPr lang="en-US" sz="1800" b="0" u="none" strike="noStrike">
                <a:solidFill>
                  <a:srgbClr val="000000"/>
                </a:solidFill>
                <a:effectLst/>
                <a:uFillTx/>
                <a:latin typeface="Arial"/>
                <a:ea typeface="DejaVu Sans"/>
              </a:rPr>
              <a:t>Cells that share normalized spectral signature peaks at individual detectors are then clustered</a:t>
            </a:r>
            <a:endParaRPr lang="en-US" sz="1800" b="0" u="none" strike="noStrike">
              <a:solidFill>
                <a:srgbClr val="000000"/>
              </a:solidFill>
              <a:effectLst/>
              <a:uFillTx/>
              <a:latin typeface="Arial"/>
            </a:endParaRPr>
          </a:p>
        </p:txBody>
      </p:sp>
      <p:sp>
        <p:nvSpPr>
          <p:cNvPr id="101" name="Rectangle 100"/>
          <p:cNvSpPr/>
          <p:nvPr/>
        </p:nvSpPr>
        <p:spPr>
          <a:xfrm>
            <a:off x="325800" y="3202200"/>
            <a:ext cx="63018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spcBef>
                <a:spcPts val="1191"/>
              </a:spcBef>
              <a:spcAft>
                <a:spcPts val="992"/>
              </a:spcAft>
              <a:buClr>
                <a:srgbClr val="000000"/>
              </a:buClr>
              <a:buSzPct val="45000"/>
              <a:buFont typeface="Wingdings" charset="2"/>
              <a:buChar char=""/>
            </a:pPr>
            <a:r>
              <a:rPr lang="en-US" sz="1800" b="1" u="sng" strike="noStrike">
                <a:solidFill>
                  <a:srgbClr val="000000"/>
                </a:solidFill>
                <a:effectLst/>
                <a:uFillTx/>
                <a:latin typeface="Arial"/>
                <a:ea typeface="DejaVu Sans"/>
              </a:rPr>
              <a:t>Fluorophore vials in good condition</a:t>
            </a:r>
            <a:r>
              <a:rPr lang="en-US" sz="1800" b="1" u="none" strike="noStrike">
                <a:solidFill>
                  <a:srgbClr val="000000"/>
                </a:solidFill>
                <a:effectLst/>
                <a:uFillTx/>
                <a:latin typeface="Arial"/>
                <a:ea typeface="DejaVu Sans"/>
              </a:rPr>
              <a:t>:</a:t>
            </a:r>
            <a:r>
              <a:rPr lang="en-US" sz="1800" b="0" u="none" strike="noStrike">
                <a:solidFill>
                  <a:srgbClr val="000000"/>
                </a:solidFill>
                <a:effectLst/>
                <a:uFillTx/>
                <a:latin typeface="Arial"/>
                <a:ea typeface="DejaVu Sans"/>
              </a:rPr>
              <a:t> we retrieve few normalized signatures from the raw .fcs file for each single-color unmixing control</a:t>
            </a:r>
            <a:endParaRPr lang="en-US" sz="1800" b="0" u="none" strike="noStrike">
              <a:solidFill>
                <a:srgbClr val="000000"/>
              </a:solidFill>
              <a:effectLst/>
              <a:uFillTx/>
              <a:latin typeface="Arial"/>
            </a:endParaRPr>
          </a:p>
        </p:txBody>
      </p:sp>
      <p:sp>
        <p:nvSpPr>
          <p:cNvPr id="102" name="Rectangle 101"/>
          <p:cNvSpPr/>
          <p:nvPr/>
        </p:nvSpPr>
        <p:spPr>
          <a:xfrm>
            <a:off x="253800" y="4114800"/>
            <a:ext cx="6303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spcBef>
                <a:spcPts val="1191"/>
              </a:spcBef>
              <a:spcAft>
                <a:spcPts val="992"/>
              </a:spcAft>
              <a:buClr>
                <a:srgbClr val="000000"/>
              </a:buClr>
              <a:buSzPct val="45000"/>
              <a:buFont typeface="Wingdings" charset="2"/>
              <a:buChar char=""/>
            </a:pPr>
            <a:r>
              <a:rPr lang="en-US" sz="1800" b="0" u="none" strike="noStrike">
                <a:solidFill>
                  <a:srgbClr val="000000"/>
                </a:solidFill>
                <a:effectLst/>
                <a:uFillTx/>
                <a:latin typeface="Arial"/>
                <a:ea typeface="DejaVu Sans"/>
              </a:rPr>
              <a:t>When the</a:t>
            </a:r>
            <a:r>
              <a:rPr lang="en-US" sz="1800" b="0" u="sng" strike="noStrike">
                <a:solidFill>
                  <a:srgbClr val="000000"/>
                </a:solidFill>
                <a:effectLst/>
                <a:uFillTx/>
                <a:latin typeface="Arial"/>
                <a:ea typeface="DejaVu Sans"/>
              </a:rPr>
              <a:t> </a:t>
            </a:r>
            <a:r>
              <a:rPr lang="en-US" sz="1800" b="1" u="sng" strike="noStrike">
                <a:solidFill>
                  <a:srgbClr val="000000"/>
                </a:solidFill>
                <a:effectLst/>
                <a:uFillTx/>
                <a:latin typeface="Arial"/>
                <a:ea typeface="DejaVu Sans"/>
              </a:rPr>
              <a:t>tandem fluorophore decouples or degrades</a:t>
            </a:r>
            <a:r>
              <a:rPr lang="en-US" sz="1800" b="0" u="none" strike="noStrike">
                <a:solidFill>
                  <a:srgbClr val="000000"/>
                </a:solidFill>
                <a:effectLst/>
                <a:uFillTx/>
                <a:latin typeface="Arial"/>
                <a:ea typeface="DejaVu Sans"/>
              </a:rPr>
              <a:t>, noticeable increase in variant signatures, flag the issue</a:t>
            </a:r>
            <a:endParaRPr lang="en-US" sz="1800" b="0" u="none" strike="noStrike">
              <a:solidFill>
                <a:srgbClr val="000000"/>
              </a:solidFill>
              <a:effectLst/>
              <a:uFillTx/>
              <a:latin typeface="Arial"/>
            </a:endParaRPr>
          </a:p>
        </p:txBody>
      </p:sp>
      <p:sp>
        <p:nvSpPr>
          <p:cNvPr id="103" name="Rectangle 102"/>
          <p:cNvSpPr/>
          <p:nvPr/>
        </p:nvSpPr>
        <p:spPr>
          <a:xfrm>
            <a:off x="228600" y="4800600"/>
            <a:ext cx="61704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Setting up automation to retrieve and process reference controls for individual users experiments during off-hours</a:t>
            </a:r>
            <a:endParaRPr lang="en-US" sz="1800" b="0" u="none" strike="noStrike">
              <a:solidFill>
                <a:srgbClr val="000000"/>
              </a:solidFill>
              <a:effectLst/>
              <a:uFillTx/>
              <a:latin typeface="Arial"/>
            </a:endParaRPr>
          </a:p>
        </p:txBody>
      </p:sp>
      <p:pic>
        <p:nvPicPr>
          <p:cNvPr id="104" name="Picture 103"/>
          <p:cNvPicPr/>
          <p:nvPr/>
        </p:nvPicPr>
        <p:blipFill>
          <a:blip r:embed="rId5"/>
          <a:stretch/>
        </p:blipFill>
        <p:spPr>
          <a:xfrm>
            <a:off x="6629400" y="3714480"/>
            <a:ext cx="5256000" cy="1710360"/>
          </a:xfrm>
          <a:prstGeom prst="rect">
            <a:avLst/>
          </a:prstGeom>
          <a:noFill/>
          <a:ln w="0">
            <a:noFill/>
          </a:ln>
        </p:spPr>
      </p:pic>
      <p:pic>
        <p:nvPicPr>
          <p:cNvPr id="105" name="Picture 104"/>
          <p:cNvPicPr/>
          <p:nvPr/>
        </p:nvPicPr>
        <p:blipFill>
          <a:blip r:embed="rId6"/>
          <a:srcRect t="6352" r="45113"/>
          <a:stretch/>
        </p:blipFill>
        <p:spPr>
          <a:xfrm>
            <a:off x="9372600" y="1600200"/>
            <a:ext cx="2284200" cy="2055600"/>
          </a:xfrm>
          <a:prstGeom prst="rect">
            <a:avLst/>
          </a:prstGeom>
          <a:noFill/>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914400" y="298080"/>
            <a:ext cx="10513440" cy="1094760"/>
          </a:xfrm>
          <a:prstGeom prst="rect">
            <a:avLst/>
          </a:prstGeom>
          <a:noFill/>
          <a:ln w="19080">
            <a:noFill/>
          </a:ln>
        </p:spPr>
        <p:txBody>
          <a:bodyPr lIns="91440" tIns="45720" rIns="91440" bIns="45720" anchor="ctr">
            <a:normAutofit fontScale="90000"/>
          </a:bodyPr>
          <a:lstStyle/>
          <a:p>
            <a:pPr indent="0" algn="ctr">
              <a:lnSpc>
                <a:spcPct val="100000"/>
              </a:lnSpc>
              <a:buNone/>
              <a:tabLst>
                <a:tab pos="0" algn="l"/>
              </a:tabLst>
            </a:pPr>
            <a:r>
              <a:rPr lang="en-US" sz="3600" b="0" u="none" strike="noStrike">
                <a:solidFill>
                  <a:srgbClr val="000000"/>
                </a:solidFill>
                <a:effectLst/>
                <a:uFillTx/>
                <a:latin typeface="Arial"/>
              </a:rPr>
              <a:t>Automated isolation of autofluorescence signatures</a:t>
            </a:r>
          </a:p>
        </p:txBody>
      </p:sp>
      <p:pic>
        <p:nvPicPr>
          <p:cNvPr id="107" name="Picture 106"/>
          <p:cNvPicPr/>
          <p:nvPr/>
        </p:nvPicPr>
        <p:blipFill>
          <a:blip r:embed="rId2"/>
          <a:stretch/>
        </p:blipFill>
        <p:spPr>
          <a:xfrm>
            <a:off x="4703400" y="1564200"/>
            <a:ext cx="2969640" cy="2226600"/>
          </a:xfrm>
          <a:prstGeom prst="rect">
            <a:avLst/>
          </a:prstGeom>
          <a:noFill/>
          <a:ln w="0">
            <a:noFill/>
          </a:ln>
        </p:spPr>
      </p:pic>
      <p:pic>
        <p:nvPicPr>
          <p:cNvPr id="108" name="Picture 107"/>
          <p:cNvPicPr/>
          <p:nvPr/>
        </p:nvPicPr>
        <p:blipFill>
          <a:blip r:embed="rId3"/>
          <a:stretch/>
        </p:blipFill>
        <p:spPr>
          <a:xfrm>
            <a:off x="9932760" y="1632240"/>
            <a:ext cx="2257560" cy="2023560"/>
          </a:xfrm>
          <a:prstGeom prst="rect">
            <a:avLst/>
          </a:prstGeom>
          <a:noFill/>
          <a:ln w="0">
            <a:noFill/>
          </a:ln>
        </p:spPr>
      </p:pic>
      <p:pic>
        <p:nvPicPr>
          <p:cNvPr id="109" name="Picture 108"/>
          <p:cNvPicPr/>
          <p:nvPr/>
        </p:nvPicPr>
        <p:blipFill>
          <a:blip r:embed="rId4"/>
          <a:stretch/>
        </p:blipFill>
        <p:spPr>
          <a:xfrm>
            <a:off x="7774920" y="1652760"/>
            <a:ext cx="2053080" cy="2003040"/>
          </a:xfrm>
          <a:prstGeom prst="rect">
            <a:avLst/>
          </a:prstGeom>
          <a:noFill/>
          <a:ln w="0">
            <a:noFill/>
          </a:ln>
        </p:spPr>
      </p:pic>
      <p:sp>
        <p:nvSpPr>
          <p:cNvPr id="110" name="Rectangle 109"/>
          <p:cNvSpPr/>
          <p:nvPr/>
        </p:nvSpPr>
        <p:spPr>
          <a:xfrm>
            <a:off x="205200" y="1602000"/>
            <a:ext cx="548604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Adapt this appproach to isolate out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normalized autofluorescence signatures</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from unstained controls </a:t>
            </a:r>
            <a:endParaRPr lang="en-US" sz="1800" b="0" u="none" strike="noStrike">
              <a:solidFill>
                <a:srgbClr val="000000"/>
              </a:solidFill>
              <a:effectLst/>
              <a:uFillTx/>
              <a:latin typeface="Arial"/>
            </a:endParaRPr>
          </a:p>
        </p:txBody>
      </p:sp>
      <p:pic>
        <p:nvPicPr>
          <p:cNvPr id="111" name="Picture 110"/>
          <p:cNvPicPr/>
          <p:nvPr/>
        </p:nvPicPr>
        <p:blipFill>
          <a:blip r:embed="rId5"/>
          <a:stretch/>
        </p:blipFill>
        <p:spPr>
          <a:xfrm>
            <a:off x="156600" y="70560"/>
            <a:ext cx="1598040" cy="1383840"/>
          </a:xfrm>
          <a:prstGeom prst="rect">
            <a:avLst/>
          </a:prstGeom>
          <a:noFill/>
          <a:ln w="0">
            <a:noFill/>
          </a:ln>
        </p:spPr>
      </p:pic>
      <p:pic>
        <p:nvPicPr>
          <p:cNvPr id="112" name="Graphic 111"/>
          <p:cNvPicPr/>
          <p:nvPr/>
        </p:nvPicPr>
        <p:blipFill>
          <a:blip>
            <a:extLst>
              <a:ext uri="{96DAC541-7B7A-43D3-8B79-37D633B846F1}">
                <asvg:svgBlip xmlns:asvg="http://schemas.microsoft.com/office/drawing/2016/SVG/main" r:embed="rId6"/>
              </a:ext>
            </a:extLst>
          </a:blip>
          <a:stretch/>
        </p:blipFill>
        <p:spPr>
          <a:xfrm>
            <a:off x="10744200" y="118080"/>
            <a:ext cx="1369800" cy="1369800"/>
          </a:xfrm>
          <a:prstGeom prst="rect">
            <a:avLst/>
          </a:prstGeom>
          <a:noFill/>
          <a:ln w="0">
            <a:noFill/>
          </a:ln>
        </p:spPr>
      </p:pic>
      <p:sp>
        <p:nvSpPr>
          <p:cNvPr id="113" name="Rectangle 112"/>
          <p:cNvSpPr/>
          <p:nvPr/>
        </p:nvSpPr>
        <p:spPr>
          <a:xfrm>
            <a:off x="218520" y="2624760"/>
            <a:ext cx="44730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Create .fcs files with purified autofloresence signatures, to use for unmixing with commercial software.</a:t>
            </a:r>
            <a:endParaRPr lang="en-US" sz="1800" b="0" u="none" strike="noStrike">
              <a:solidFill>
                <a:srgbClr val="000000"/>
              </a:solidFill>
              <a:effectLst/>
              <a:uFillTx/>
              <a:latin typeface="Arial"/>
            </a:endParaRPr>
          </a:p>
        </p:txBody>
      </p:sp>
      <p:sp>
        <p:nvSpPr>
          <p:cNvPr id="114" name="Rectangle 113"/>
          <p:cNvSpPr/>
          <p:nvPr/>
        </p:nvSpPr>
        <p:spPr>
          <a:xfrm>
            <a:off x="228600" y="3639960"/>
            <a:ext cx="4571640" cy="173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Isolated cells share same normalized signature, only differing in brightness, unlike the current Autoflorescence Explorer or gating a dimensionality-visualized island style approaches to autofluorescence isolation</a:t>
            </a:r>
            <a:endParaRPr lang="en-US" sz="1800" b="0" u="none" strike="noStrike">
              <a:solidFill>
                <a:srgbClr val="000000"/>
              </a:solidFill>
              <a:effectLst/>
              <a:uFillTx/>
              <a:latin typeface="Arial"/>
            </a:endParaRPr>
          </a:p>
        </p:txBody>
      </p:sp>
      <p:pic>
        <p:nvPicPr>
          <p:cNvPr id="115" name="Picture 114"/>
          <p:cNvPicPr/>
          <p:nvPr/>
        </p:nvPicPr>
        <p:blipFill>
          <a:blip r:embed="rId7"/>
          <a:srcRect l="43916" t="-1016" r="12149"/>
          <a:stretch/>
        </p:blipFill>
        <p:spPr>
          <a:xfrm>
            <a:off x="6858000" y="3756600"/>
            <a:ext cx="1952640" cy="1775520"/>
          </a:xfrm>
          <a:prstGeom prst="rect">
            <a:avLst/>
          </a:prstGeom>
          <a:noFill/>
          <a:ln w="0">
            <a:noFill/>
          </a:ln>
        </p:spPr>
      </p:pic>
      <p:pic>
        <p:nvPicPr>
          <p:cNvPr id="116" name="Picture 115"/>
          <p:cNvPicPr/>
          <p:nvPr/>
        </p:nvPicPr>
        <p:blipFill>
          <a:blip r:embed="rId7"/>
          <a:srcRect r="56071"/>
          <a:stretch/>
        </p:blipFill>
        <p:spPr>
          <a:xfrm>
            <a:off x="4800600" y="3746520"/>
            <a:ext cx="1827000" cy="1780560"/>
          </a:xfrm>
          <a:prstGeom prst="rect">
            <a:avLst/>
          </a:prstGeom>
          <a:noFill/>
          <a:ln w="0">
            <a:noFill/>
          </a:ln>
        </p:spPr>
      </p:pic>
      <p:pic>
        <p:nvPicPr>
          <p:cNvPr id="117" name="Picture 116"/>
          <p:cNvPicPr/>
          <p:nvPr/>
        </p:nvPicPr>
        <p:blipFill>
          <a:blip r:embed="rId8"/>
          <a:srcRect r="53638" b="49991"/>
          <a:stretch/>
        </p:blipFill>
        <p:spPr>
          <a:xfrm>
            <a:off x="8915400" y="3814200"/>
            <a:ext cx="1827000" cy="1794240"/>
          </a:xfrm>
          <a:prstGeom prst="rect">
            <a:avLst/>
          </a:prstGeom>
          <a:noFill/>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8" name="PlaceHolder 1"/>
          <p:cNvSpPr>
            <a:spLocks noGrp="1"/>
          </p:cNvSpPr>
          <p:nvPr>
            <p:ph type="title"/>
          </p:nvPr>
        </p:nvSpPr>
        <p:spPr>
          <a:xfrm>
            <a:off x="228600" y="228600"/>
            <a:ext cx="11656440" cy="1323360"/>
          </a:xfrm>
          <a:prstGeom prst="rect">
            <a:avLst/>
          </a:prstGeom>
          <a:noFill/>
          <a:ln w="19080">
            <a:noFill/>
          </a:ln>
        </p:spPr>
        <p:txBody>
          <a:bodyPr lIns="91440" tIns="45720" rIns="91440" bIns="45720" anchor="ctr">
            <a:normAutofit/>
          </a:bodyPr>
          <a:lstStyle/>
          <a:p>
            <a:pPr indent="0" algn="ctr">
              <a:lnSpc>
                <a:spcPct val="100000"/>
              </a:lnSpc>
              <a:buNone/>
              <a:tabLst>
                <a:tab pos="0" algn="l"/>
              </a:tabLst>
            </a:pPr>
            <a:r>
              <a:rPr lang="en-US" sz="3600" b="0" u="none" strike="noStrike">
                <a:solidFill>
                  <a:srgbClr val="000000"/>
                </a:solidFill>
                <a:effectLst/>
                <a:uFillTx/>
                <a:latin typeface="Arial"/>
              </a:rPr>
              <a:t>Residual Autofluorescence peaks</a:t>
            </a:r>
            <a:br>
              <a:rPr sz="3600"/>
            </a:br>
            <a:r>
              <a:rPr lang="en-US" sz="3600" b="0" u="none" strike="noStrike">
                <a:solidFill>
                  <a:srgbClr val="000000"/>
                </a:solidFill>
                <a:effectLst/>
                <a:uFillTx/>
                <a:latin typeface="Arial"/>
              </a:rPr>
              <a:t>in Single-Color Signatures</a:t>
            </a:r>
          </a:p>
        </p:txBody>
      </p:sp>
      <p:pic>
        <p:nvPicPr>
          <p:cNvPr id="119" name="Picture 118"/>
          <p:cNvPicPr/>
          <p:nvPr/>
        </p:nvPicPr>
        <p:blipFill>
          <a:blip r:embed="rId2"/>
          <a:srcRect b="45221"/>
          <a:stretch/>
        </p:blipFill>
        <p:spPr>
          <a:xfrm>
            <a:off x="228600" y="1828800"/>
            <a:ext cx="11630160" cy="2512800"/>
          </a:xfrm>
          <a:prstGeom prst="rect">
            <a:avLst/>
          </a:prstGeom>
          <a:noFill/>
          <a:ln w="0">
            <a:noFill/>
          </a:ln>
        </p:spPr>
      </p:pic>
      <p:pic>
        <p:nvPicPr>
          <p:cNvPr id="120" name="Picture 119"/>
          <p:cNvPicPr/>
          <p:nvPr/>
        </p:nvPicPr>
        <p:blipFill>
          <a:blip r:embed="rId3"/>
          <a:stretch/>
        </p:blipFill>
        <p:spPr>
          <a:xfrm>
            <a:off x="228600" y="214200"/>
            <a:ext cx="1598400" cy="1384200"/>
          </a:xfrm>
          <a:prstGeom prst="rect">
            <a:avLst/>
          </a:prstGeom>
          <a:noFill/>
          <a:ln w="0">
            <a:noFill/>
          </a:ln>
        </p:spPr>
      </p:pic>
      <p:pic>
        <p:nvPicPr>
          <p:cNvPr id="121" name="Graphic 120"/>
          <p:cNvPicPr/>
          <p:nvPr/>
        </p:nvPicPr>
        <p:blipFill>
          <a:blip>
            <a:extLst>
              <a:ext uri="{96DAC541-7B7A-43D3-8B79-37D633B846F1}">
                <asvg:svgBlip xmlns:asvg="http://schemas.microsoft.com/office/drawing/2016/SVG/main" r:embed="rId4"/>
              </a:ext>
            </a:extLst>
          </a:blip>
          <a:stretch/>
        </p:blipFill>
        <p:spPr>
          <a:xfrm>
            <a:off x="10697760" y="182520"/>
            <a:ext cx="1415880" cy="1415880"/>
          </a:xfrm>
          <a:prstGeom prst="rect">
            <a:avLst/>
          </a:prstGeom>
          <a:noFill/>
          <a:ln w="0">
            <a:noFill/>
          </a:ln>
        </p:spPr>
      </p:pic>
      <p:sp>
        <p:nvSpPr>
          <p:cNvPr id="122" name="Rectangle 121"/>
          <p:cNvSpPr/>
          <p:nvPr/>
        </p:nvSpPr>
        <p:spPr>
          <a:xfrm>
            <a:off x="228600" y="4547520"/>
            <a:ext cx="11656800" cy="1004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2000" b="0" u="none" strike="noStrike">
                <a:solidFill>
                  <a:srgbClr val="000000"/>
                </a:solidFill>
                <a:effectLst/>
                <a:uFillTx/>
                <a:latin typeface="Arial"/>
                <a:ea typeface="DejaVu Sans"/>
              </a:rPr>
              <a:t>For cell controls with a </a:t>
            </a:r>
            <a:r>
              <a:rPr lang="en-US" sz="2000" b="1" u="sng" strike="noStrike">
                <a:solidFill>
                  <a:srgbClr val="000000"/>
                </a:solidFill>
                <a:effectLst/>
                <a:uFillTx/>
                <a:latin typeface="Arial"/>
                <a:ea typeface="DejaVu Sans"/>
              </a:rPr>
              <a:t>moderate density antigen</a:t>
            </a:r>
            <a:r>
              <a:rPr lang="en-US" sz="2000" b="0" u="none" strike="noStrike">
                <a:solidFill>
                  <a:srgbClr val="000000"/>
                </a:solidFill>
                <a:effectLst/>
                <a:uFillTx/>
                <a:latin typeface="Arial"/>
                <a:ea typeface="DejaVu Sans"/>
              </a:rPr>
              <a:t> on </a:t>
            </a:r>
            <a:r>
              <a:rPr lang="en-US" sz="2000" b="1" u="sng" strike="noStrike">
                <a:solidFill>
                  <a:srgbClr val="000000"/>
                </a:solidFill>
                <a:effectLst/>
                <a:uFillTx/>
                <a:latin typeface="Arial"/>
                <a:ea typeface="DejaVu Sans"/>
              </a:rPr>
              <a:t>bright fluorophores</a:t>
            </a:r>
            <a:r>
              <a:rPr lang="en-US" sz="2000" b="0" u="none" strike="noStrike">
                <a:solidFill>
                  <a:srgbClr val="000000"/>
                </a:solidFill>
                <a:effectLst/>
                <a:uFillTx/>
                <a:latin typeface="Arial"/>
                <a:ea typeface="DejaVu Sans"/>
              </a:rPr>
              <a:t>, we see that any</a:t>
            </a:r>
            <a:endParaRPr lang="en-US" sz="2000" b="0" u="none" strike="noStrike">
              <a:solidFill>
                <a:srgbClr val="000000"/>
              </a:solidFill>
              <a:effectLst/>
              <a:uFillTx/>
              <a:latin typeface="Arial"/>
            </a:endParaRPr>
          </a:p>
          <a:p>
            <a:pPr algn="ctr">
              <a:lnSpc>
                <a:spcPct val="100000"/>
              </a:lnSpc>
            </a:pPr>
            <a:r>
              <a:rPr lang="en-US" sz="2000" b="0" u="none" strike="noStrike">
                <a:solidFill>
                  <a:srgbClr val="000000"/>
                </a:solidFill>
                <a:effectLst/>
                <a:uFillTx/>
                <a:latin typeface="Arial"/>
                <a:ea typeface="DejaVu Sans"/>
              </a:rPr>
              <a:t> residual autofluorescence contributes minimally to the overall isolated single-color signature</a:t>
            </a:r>
            <a:endParaRPr lang="en-US" sz="2000" b="0" u="none" strike="noStrike">
              <a:solidFill>
                <a:srgbClr val="000000"/>
              </a:solidFill>
              <a:effectLst/>
              <a:uFillTx/>
              <a:latin typeface="Arial"/>
            </a:endParaRPr>
          </a:p>
          <a:p>
            <a:pPr algn="ctr">
              <a:lnSpc>
                <a:spcPct val="100000"/>
              </a:lnSpc>
            </a:pPr>
            <a:r>
              <a:rPr lang="en-US" sz="2000" b="0" u="none" strike="noStrike">
                <a:solidFill>
                  <a:srgbClr val="000000"/>
                </a:solidFill>
                <a:effectLst/>
                <a:uFillTx/>
                <a:latin typeface="Arial"/>
                <a:ea typeface="DejaVu Sans"/>
              </a:rPr>
              <a:t> when gated according to best practices</a:t>
            </a:r>
            <a:endParaRPr lang="en-US" sz="2000" b="0" u="none" strike="noStrike">
              <a:solidFill>
                <a:srgbClr val="000000"/>
              </a:solidFill>
              <a:effectLst/>
              <a:uFillTx/>
              <a:latin typeface="Arial"/>
            </a:endParaRPr>
          </a:p>
        </p:txBody>
      </p:sp>
      <p:sp>
        <p:nvSpPr>
          <p:cNvPr id="123" name="Rectangle 122"/>
          <p:cNvSpPr/>
          <p:nvPr/>
        </p:nvSpPr>
        <p:spPr>
          <a:xfrm>
            <a:off x="228600" y="4114800"/>
            <a:ext cx="684000" cy="226800"/>
          </a:xfrm>
          <a:prstGeom prst="rect">
            <a:avLst/>
          </a:prstGeom>
          <a:solidFill>
            <a:srgbClr val="FFFFFF"/>
          </a:solidFill>
          <a:ln w="0">
            <a:solidFill>
              <a:srgbClr val="FFFFF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u="none" strike="noStrike">
              <a:solidFill>
                <a:srgbClr val="000000"/>
              </a:solidFill>
              <a:effectLst/>
              <a:uFillTx/>
              <a:latin typeface="Arial"/>
              <a:ea typeface="DejaVu Sans"/>
            </a:endParaRPr>
          </a:p>
        </p:txBody>
      </p:sp>
      <p:sp>
        <p:nvSpPr>
          <p:cNvPr id="124" name="Rectangle 123"/>
          <p:cNvSpPr/>
          <p:nvPr/>
        </p:nvSpPr>
        <p:spPr>
          <a:xfrm>
            <a:off x="4114800" y="4114800"/>
            <a:ext cx="684000" cy="226800"/>
          </a:xfrm>
          <a:prstGeom prst="rect">
            <a:avLst/>
          </a:prstGeom>
          <a:solidFill>
            <a:srgbClr val="FFFFFF"/>
          </a:solidFill>
          <a:ln w="0">
            <a:solidFill>
              <a:srgbClr val="FFFFF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u="none" strike="noStrike">
              <a:solidFill>
                <a:srgbClr val="000000"/>
              </a:solidFill>
              <a:effectLst/>
              <a:uFillTx/>
              <a:latin typeface="Arial"/>
              <a:ea typeface="DejaVu Sans"/>
            </a:endParaRPr>
          </a:p>
        </p:txBody>
      </p:sp>
      <p:sp>
        <p:nvSpPr>
          <p:cNvPr id="125" name="Rectangle 124"/>
          <p:cNvSpPr/>
          <p:nvPr/>
        </p:nvSpPr>
        <p:spPr>
          <a:xfrm>
            <a:off x="8458200" y="4114800"/>
            <a:ext cx="684000" cy="226800"/>
          </a:xfrm>
          <a:prstGeom prst="rect">
            <a:avLst/>
          </a:prstGeom>
          <a:solidFill>
            <a:srgbClr val="FFFFFF"/>
          </a:solidFill>
          <a:ln w="0">
            <a:solidFill>
              <a:srgbClr val="FFFFF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u="none" strike="noStrike">
              <a:solidFill>
                <a:srgbClr val="000000"/>
              </a:solidFill>
              <a:effectLst/>
              <a:uFillTx/>
              <a:latin typeface="Arial"/>
              <a:ea typeface="DejaVu Sans"/>
            </a:endParaRPr>
          </a:p>
        </p:txBody>
      </p:sp>
      <p:sp>
        <p:nvSpPr>
          <p:cNvPr id="126" name="Rectangle 125"/>
          <p:cNvSpPr/>
          <p:nvPr/>
        </p:nvSpPr>
        <p:spPr>
          <a:xfrm rot="144600">
            <a:off x="5058720" y="4235040"/>
            <a:ext cx="3430440" cy="231480"/>
          </a:xfrm>
          <a:prstGeom prst="rect">
            <a:avLst/>
          </a:prstGeom>
          <a:solidFill>
            <a:srgbClr val="FFFFFF"/>
          </a:solidFill>
          <a:ln w="0">
            <a:solidFill>
              <a:srgbClr val="FFFFF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u="none" strike="noStrike">
              <a:solidFill>
                <a:srgbClr val="000000"/>
              </a:solidFill>
              <a:effectLst/>
              <a:uFillTx/>
              <a:latin typeface="Arial"/>
              <a:ea typeface="DejaVu Sans"/>
            </a:endParaRPr>
          </a:p>
        </p:txBody>
      </p:sp>
      <p:sp>
        <p:nvSpPr>
          <p:cNvPr id="127" name="Rectangle 126"/>
          <p:cNvSpPr/>
          <p:nvPr/>
        </p:nvSpPr>
        <p:spPr>
          <a:xfrm rot="144600">
            <a:off x="8644320" y="4222800"/>
            <a:ext cx="3430440" cy="231480"/>
          </a:xfrm>
          <a:prstGeom prst="rect">
            <a:avLst/>
          </a:prstGeom>
          <a:solidFill>
            <a:srgbClr val="FFFFFF"/>
          </a:solidFill>
          <a:ln w="0">
            <a:solidFill>
              <a:srgbClr val="FFFFF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u="none" strike="noStrike">
              <a:solidFill>
                <a:srgbClr val="000000"/>
              </a:solidFill>
              <a:effectLst/>
              <a:uFillTx/>
              <a:latin typeface="Arial"/>
              <a:ea typeface="DejaVu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228600" y="228600"/>
            <a:ext cx="11656440" cy="1323360"/>
          </a:xfrm>
          <a:prstGeom prst="rect">
            <a:avLst/>
          </a:prstGeom>
          <a:noFill/>
          <a:ln w="19080">
            <a:noFill/>
          </a:ln>
        </p:spPr>
        <p:txBody>
          <a:bodyPr lIns="91440" tIns="45720" rIns="91440" bIns="45720" anchor="ctr">
            <a:normAutofit/>
          </a:bodyPr>
          <a:lstStyle/>
          <a:p>
            <a:pPr indent="0" algn="ctr">
              <a:lnSpc>
                <a:spcPct val="100000"/>
              </a:lnSpc>
              <a:buNone/>
              <a:tabLst>
                <a:tab pos="0" algn="l"/>
              </a:tabLst>
            </a:pPr>
            <a:r>
              <a:rPr lang="en-US" sz="3600" b="0" u="none" strike="noStrike">
                <a:solidFill>
                  <a:srgbClr val="000000"/>
                </a:solidFill>
                <a:effectLst/>
                <a:uFillTx/>
                <a:latin typeface="Arial"/>
              </a:rPr>
              <a:t>Residual Autofluorescence peaks</a:t>
            </a:r>
            <a:br>
              <a:rPr sz="3600"/>
            </a:br>
            <a:r>
              <a:rPr lang="en-US" sz="3600" b="0" u="none" strike="noStrike">
                <a:solidFill>
                  <a:srgbClr val="000000"/>
                </a:solidFill>
                <a:effectLst/>
                <a:uFillTx/>
                <a:latin typeface="Arial"/>
              </a:rPr>
              <a:t>in Single-Color Signatures</a:t>
            </a:r>
          </a:p>
        </p:txBody>
      </p:sp>
      <p:sp>
        <p:nvSpPr>
          <p:cNvPr id="129" name="Rectangle 128"/>
          <p:cNvSpPr/>
          <p:nvPr/>
        </p:nvSpPr>
        <p:spPr>
          <a:xfrm>
            <a:off x="228600" y="4619520"/>
            <a:ext cx="11656800" cy="1004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2000" b="0" u="none" strike="noStrike">
                <a:solidFill>
                  <a:srgbClr val="000000"/>
                </a:solidFill>
                <a:effectLst/>
                <a:uFillTx/>
                <a:latin typeface="Arial"/>
                <a:ea typeface="DejaVu Sans"/>
              </a:rPr>
              <a:t>For cell controls with a </a:t>
            </a:r>
            <a:r>
              <a:rPr lang="en-US" sz="2000" b="1" u="none" strike="noStrike">
                <a:solidFill>
                  <a:srgbClr val="000000"/>
                </a:solidFill>
                <a:effectLst/>
                <a:uFillTx/>
                <a:latin typeface="Arial"/>
                <a:ea typeface="DejaVu Sans"/>
              </a:rPr>
              <a:t>moderate density antigen </a:t>
            </a:r>
            <a:r>
              <a:rPr lang="en-US" sz="2000" b="0" u="none" strike="noStrike">
                <a:solidFill>
                  <a:srgbClr val="000000"/>
                </a:solidFill>
                <a:effectLst/>
                <a:uFillTx/>
                <a:latin typeface="Arial"/>
                <a:ea typeface="DejaVu Sans"/>
              </a:rPr>
              <a:t>on </a:t>
            </a:r>
            <a:r>
              <a:rPr lang="en-US" sz="2000" b="1" u="none" strike="noStrike">
                <a:solidFill>
                  <a:srgbClr val="000000"/>
                </a:solidFill>
                <a:effectLst/>
                <a:uFillTx/>
                <a:latin typeface="Arial"/>
                <a:ea typeface="DejaVu Sans"/>
              </a:rPr>
              <a:t>dim fluorophores, </a:t>
            </a:r>
            <a:r>
              <a:rPr lang="en-US" sz="2000" b="0" u="none" strike="noStrike">
                <a:solidFill>
                  <a:srgbClr val="000000"/>
                </a:solidFill>
                <a:effectLst/>
                <a:uFillTx/>
                <a:latin typeface="Arial"/>
                <a:ea typeface="DejaVu Sans"/>
              </a:rPr>
              <a:t>we see substantial </a:t>
            </a:r>
            <a:endParaRPr lang="en-US" sz="2000" b="0" u="none" strike="noStrike">
              <a:solidFill>
                <a:srgbClr val="000000"/>
              </a:solidFill>
              <a:effectLst/>
              <a:uFillTx/>
              <a:latin typeface="Arial"/>
            </a:endParaRPr>
          </a:p>
          <a:p>
            <a:pPr algn="ctr">
              <a:lnSpc>
                <a:spcPct val="100000"/>
              </a:lnSpc>
            </a:pPr>
            <a:r>
              <a:rPr lang="en-US" sz="2000" b="0" u="none" strike="noStrike">
                <a:solidFill>
                  <a:srgbClr val="000000"/>
                </a:solidFill>
                <a:effectLst/>
                <a:uFillTx/>
                <a:latin typeface="Arial"/>
                <a:ea typeface="DejaVu Sans"/>
              </a:rPr>
              <a:t>residual autofluorescence contributions to the isolated single-color normalized signatures even</a:t>
            </a:r>
            <a:endParaRPr lang="en-US" sz="2000" b="0" u="none" strike="noStrike">
              <a:solidFill>
                <a:srgbClr val="000000"/>
              </a:solidFill>
              <a:effectLst/>
              <a:uFillTx/>
              <a:latin typeface="Arial"/>
            </a:endParaRPr>
          </a:p>
          <a:p>
            <a:pPr algn="ctr">
              <a:lnSpc>
                <a:spcPct val="100000"/>
              </a:lnSpc>
            </a:pPr>
            <a:r>
              <a:rPr lang="en-US" sz="2000" b="0" u="none" strike="noStrike">
                <a:solidFill>
                  <a:srgbClr val="000000"/>
                </a:solidFill>
                <a:effectLst/>
                <a:uFillTx/>
                <a:latin typeface="Arial"/>
                <a:ea typeface="DejaVu Sans"/>
              </a:rPr>
              <a:t> when gated according to best practices</a:t>
            </a:r>
            <a:endParaRPr lang="en-US" sz="2000" b="0" u="none" strike="noStrike">
              <a:solidFill>
                <a:srgbClr val="000000"/>
              </a:solidFill>
              <a:effectLst/>
              <a:uFillTx/>
              <a:latin typeface="Arial"/>
            </a:endParaRPr>
          </a:p>
        </p:txBody>
      </p:sp>
      <p:pic>
        <p:nvPicPr>
          <p:cNvPr id="130" name="Picture 129"/>
          <p:cNvPicPr/>
          <p:nvPr/>
        </p:nvPicPr>
        <p:blipFill>
          <a:blip r:embed="rId2"/>
          <a:stretch/>
        </p:blipFill>
        <p:spPr>
          <a:xfrm>
            <a:off x="228600" y="214200"/>
            <a:ext cx="1598400" cy="1384200"/>
          </a:xfrm>
          <a:prstGeom prst="rect">
            <a:avLst/>
          </a:prstGeom>
          <a:noFill/>
          <a:ln w="0">
            <a:noFill/>
          </a:ln>
        </p:spPr>
      </p:pic>
      <p:pic>
        <p:nvPicPr>
          <p:cNvPr id="131" name="Graphic 130"/>
          <p:cNvPicPr/>
          <p:nvPr/>
        </p:nvPicPr>
        <p:blipFill>
          <a:blip>
            <a:extLst>
              <a:ext uri="{96DAC541-7B7A-43D3-8B79-37D633B846F1}">
                <asvg:svgBlip xmlns:asvg="http://schemas.microsoft.com/office/drawing/2016/SVG/main" r:embed="rId3"/>
              </a:ext>
            </a:extLst>
          </a:blip>
          <a:stretch/>
        </p:blipFill>
        <p:spPr>
          <a:xfrm>
            <a:off x="10697760" y="182520"/>
            <a:ext cx="1415880" cy="1415880"/>
          </a:xfrm>
          <a:prstGeom prst="rect">
            <a:avLst/>
          </a:prstGeom>
          <a:noFill/>
          <a:ln w="0">
            <a:noFill/>
          </a:ln>
        </p:spPr>
      </p:pic>
      <p:grpSp>
        <p:nvGrpSpPr>
          <p:cNvPr id="132" name="Group 131"/>
          <p:cNvGrpSpPr/>
          <p:nvPr/>
        </p:nvGrpSpPr>
        <p:grpSpPr>
          <a:xfrm>
            <a:off x="0" y="1756800"/>
            <a:ext cx="11885400" cy="2584800"/>
            <a:chOff x="0" y="1756800"/>
            <a:chExt cx="11885400" cy="2584800"/>
          </a:xfrm>
        </p:grpSpPr>
        <p:pic>
          <p:nvPicPr>
            <p:cNvPr id="133" name="Picture 132"/>
            <p:cNvPicPr/>
            <p:nvPr/>
          </p:nvPicPr>
          <p:blipFill>
            <a:blip r:embed="rId4"/>
            <a:srcRect t="47914"/>
            <a:stretch/>
          </p:blipFill>
          <p:spPr>
            <a:xfrm>
              <a:off x="0" y="1900080"/>
              <a:ext cx="11885400" cy="2441520"/>
            </a:xfrm>
            <a:prstGeom prst="rect">
              <a:avLst/>
            </a:prstGeom>
            <a:noFill/>
            <a:ln w="0">
              <a:noFill/>
            </a:ln>
          </p:spPr>
        </p:pic>
        <p:sp>
          <p:nvSpPr>
            <p:cNvPr id="134" name="Rectangle 133"/>
            <p:cNvSpPr/>
            <p:nvPr/>
          </p:nvSpPr>
          <p:spPr>
            <a:xfrm>
              <a:off x="0" y="1788840"/>
              <a:ext cx="4113000" cy="226800"/>
            </a:xfrm>
            <a:prstGeom prst="rect">
              <a:avLst/>
            </a:prstGeom>
            <a:solidFill>
              <a:srgbClr val="FFFFFF"/>
            </a:solidFill>
            <a:ln w="0">
              <a:solidFill>
                <a:srgbClr val="FFFFF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u="none" strike="noStrike">
                <a:solidFill>
                  <a:srgbClr val="000000"/>
                </a:solidFill>
                <a:effectLst/>
                <a:uFillTx/>
                <a:latin typeface="Arial"/>
                <a:ea typeface="DejaVu Sans"/>
              </a:endParaRPr>
            </a:p>
          </p:txBody>
        </p:sp>
        <p:sp>
          <p:nvSpPr>
            <p:cNvPr id="135" name="Rectangle 134"/>
            <p:cNvSpPr/>
            <p:nvPr/>
          </p:nvSpPr>
          <p:spPr>
            <a:xfrm>
              <a:off x="4343400" y="1756800"/>
              <a:ext cx="4113000" cy="226800"/>
            </a:xfrm>
            <a:prstGeom prst="rect">
              <a:avLst/>
            </a:prstGeom>
            <a:solidFill>
              <a:srgbClr val="FFFFFF"/>
            </a:solidFill>
            <a:ln w="0">
              <a:solidFill>
                <a:srgbClr val="FFFFF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u="none" strike="noStrike">
                <a:solidFill>
                  <a:srgbClr val="000000"/>
                </a:solidFill>
                <a:effectLst/>
                <a:uFillTx/>
                <a:latin typeface="Arial"/>
                <a:ea typeface="DejaVu Sans"/>
              </a:endParaRPr>
            </a:p>
          </p:txBody>
        </p:sp>
        <p:sp>
          <p:nvSpPr>
            <p:cNvPr id="136" name="Rectangle 135"/>
            <p:cNvSpPr/>
            <p:nvPr/>
          </p:nvSpPr>
          <p:spPr>
            <a:xfrm>
              <a:off x="7772400" y="1756800"/>
              <a:ext cx="4113000" cy="226800"/>
            </a:xfrm>
            <a:prstGeom prst="rect">
              <a:avLst/>
            </a:prstGeom>
            <a:solidFill>
              <a:srgbClr val="FFFFFF"/>
            </a:solidFill>
            <a:ln w="0">
              <a:solidFill>
                <a:srgbClr val="FFFFF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u="none" strike="noStrike">
                <a:solidFill>
                  <a:srgbClr val="000000"/>
                </a:solidFill>
                <a:effectLst/>
                <a:uFillTx/>
                <a:latin typeface="Arial"/>
                <a:ea typeface="DejaVu San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7" name="PlaceHolder 1"/>
          <p:cNvSpPr>
            <a:spLocks noGrp="1"/>
          </p:cNvSpPr>
          <p:nvPr>
            <p:ph type="title"/>
          </p:nvPr>
        </p:nvSpPr>
        <p:spPr>
          <a:xfrm>
            <a:off x="228600" y="228600"/>
            <a:ext cx="11656440" cy="1323360"/>
          </a:xfrm>
          <a:prstGeom prst="rect">
            <a:avLst/>
          </a:prstGeom>
          <a:noFill/>
          <a:ln w="19080">
            <a:noFill/>
          </a:ln>
        </p:spPr>
        <p:txBody>
          <a:bodyPr lIns="91440" tIns="45720" rIns="91440" bIns="45720" anchor="ctr">
            <a:normAutofit/>
          </a:bodyPr>
          <a:lstStyle/>
          <a:p>
            <a:pPr indent="0" algn="ctr">
              <a:lnSpc>
                <a:spcPct val="100000"/>
              </a:lnSpc>
              <a:buNone/>
              <a:tabLst>
                <a:tab pos="0" algn="l"/>
              </a:tabLst>
            </a:pPr>
            <a:r>
              <a:rPr lang="en-US" sz="3600" b="0" u="none" strike="noStrike">
                <a:solidFill>
                  <a:srgbClr val="000000"/>
                </a:solidFill>
                <a:effectLst/>
                <a:uFillTx/>
                <a:latin typeface="Arial"/>
              </a:rPr>
              <a:t>Residual Autofluorescence peaks</a:t>
            </a:r>
            <a:br>
              <a:rPr sz="3600"/>
            </a:br>
            <a:r>
              <a:rPr lang="en-US" sz="3600" b="0" u="none" strike="noStrike">
                <a:solidFill>
                  <a:srgbClr val="000000"/>
                </a:solidFill>
                <a:effectLst/>
                <a:uFillTx/>
                <a:latin typeface="Arial"/>
              </a:rPr>
              <a:t>in Single-Color Signatures</a:t>
            </a:r>
          </a:p>
        </p:txBody>
      </p:sp>
      <p:pic>
        <p:nvPicPr>
          <p:cNvPr id="138" name="Picture 137"/>
          <p:cNvPicPr/>
          <p:nvPr/>
        </p:nvPicPr>
        <p:blipFill>
          <a:blip r:embed="rId2"/>
          <a:stretch/>
        </p:blipFill>
        <p:spPr>
          <a:xfrm>
            <a:off x="228600" y="214200"/>
            <a:ext cx="1598400" cy="1384200"/>
          </a:xfrm>
          <a:prstGeom prst="rect">
            <a:avLst/>
          </a:prstGeom>
          <a:noFill/>
          <a:ln w="0">
            <a:noFill/>
          </a:ln>
        </p:spPr>
      </p:pic>
      <p:pic>
        <p:nvPicPr>
          <p:cNvPr id="139" name="Graphic 138"/>
          <p:cNvPicPr/>
          <p:nvPr/>
        </p:nvPicPr>
        <p:blipFill>
          <a:blip>
            <a:extLst>
              <a:ext uri="{96DAC541-7B7A-43D3-8B79-37D633B846F1}">
                <asvg:svgBlip xmlns:asvg="http://schemas.microsoft.com/office/drawing/2016/SVG/main" r:embed="rId3"/>
              </a:ext>
            </a:extLst>
          </a:blip>
          <a:stretch/>
        </p:blipFill>
        <p:spPr>
          <a:xfrm>
            <a:off x="10697760" y="182520"/>
            <a:ext cx="1415880" cy="1415880"/>
          </a:xfrm>
          <a:prstGeom prst="rect">
            <a:avLst/>
          </a:prstGeom>
          <a:noFill/>
          <a:ln w="0">
            <a:noFill/>
          </a:ln>
        </p:spPr>
      </p:pic>
      <p:pic>
        <p:nvPicPr>
          <p:cNvPr id="140" name="Picture 26" descr="A group of images of a square&#10;&#10;AI-generated content may be incorrect."/>
          <p:cNvPicPr/>
          <p:nvPr/>
        </p:nvPicPr>
        <p:blipFill>
          <a:blip r:embed="rId4"/>
          <a:srcRect t="67054"/>
          <a:stretch/>
        </p:blipFill>
        <p:spPr>
          <a:xfrm>
            <a:off x="2347560" y="1754640"/>
            <a:ext cx="7023240" cy="3357360"/>
          </a:xfrm>
          <a:prstGeom prst="rect">
            <a:avLst/>
          </a:prstGeom>
          <a:noFill/>
          <a:ln w="0">
            <a:noFill/>
          </a:ln>
        </p:spPr>
      </p:pic>
      <p:sp>
        <p:nvSpPr>
          <p:cNvPr id="141" name="TextBox 5"/>
          <p:cNvSpPr/>
          <p:nvPr/>
        </p:nvSpPr>
        <p:spPr>
          <a:xfrm>
            <a:off x="228600" y="2875320"/>
            <a:ext cx="25128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defTabSz="457200">
              <a:lnSpc>
                <a:spcPct val="100000"/>
              </a:lnSpc>
            </a:pPr>
            <a:r>
              <a:rPr lang="en-US" sz="1800" b="1" u="none" strike="noStrike">
                <a:solidFill>
                  <a:schemeClr val="dk1"/>
                </a:solidFill>
                <a:effectLst/>
                <a:uFillTx/>
                <a:latin typeface="Times New Roman"/>
                <a:ea typeface="DejaVu Sans"/>
              </a:rPr>
              <a:t>PE signature with </a:t>
            </a:r>
            <a:endParaRPr lang="en-US" sz="1800" b="0" u="none" strike="noStrike">
              <a:solidFill>
                <a:srgbClr val="000000"/>
              </a:solidFill>
              <a:effectLst/>
              <a:uFillTx/>
              <a:latin typeface="Arial"/>
            </a:endParaRPr>
          </a:p>
          <a:p>
            <a:pPr algn="ctr" defTabSz="457200">
              <a:lnSpc>
                <a:spcPct val="100000"/>
              </a:lnSpc>
            </a:pPr>
            <a:r>
              <a:rPr lang="en-US" sz="1800" b="1" u="none" strike="noStrike">
                <a:solidFill>
                  <a:schemeClr val="dk1"/>
                </a:solidFill>
                <a:effectLst/>
                <a:uFillTx/>
                <a:latin typeface="Times New Roman"/>
                <a:ea typeface="DejaVu Sans"/>
              </a:rPr>
              <a:t>residual AF</a:t>
            </a:r>
            <a:endParaRPr lang="en-US" sz="1800" b="0" u="none" strike="noStrike">
              <a:solidFill>
                <a:srgbClr val="000000"/>
              </a:solidFill>
              <a:effectLst/>
              <a:uFillTx/>
              <a:latin typeface="Arial"/>
            </a:endParaRPr>
          </a:p>
        </p:txBody>
      </p:sp>
      <p:sp>
        <p:nvSpPr>
          <p:cNvPr id="142" name="TextBox 8"/>
          <p:cNvSpPr/>
          <p:nvPr/>
        </p:nvSpPr>
        <p:spPr>
          <a:xfrm>
            <a:off x="9372600" y="2827800"/>
            <a:ext cx="24379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defTabSz="457200">
              <a:lnSpc>
                <a:spcPct val="100000"/>
              </a:lnSpc>
            </a:pPr>
            <a:r>
              <a:rPr lang="en-US" sz="1800" b="1" u="none" strike="noStrike">
                <a:solidFill>
                  <a:schemeClr val="dk1"/>
                </a:solidFill>
                <a:effectLst/>
                <a:uFillTx/>
                <a:latin typeface="Times New Roman"/>
                <a:ea typeface="DejaVu Sans"/>
              </a:rPr>
              <a:t>PE signature without </a:t>
            </a:r>
            <a:endParaRPr lang="en-US" sz="1800" b="0" u="none" strike="noStrike">
              <a:solidFill>
                <a:srgbClr val="000000"/>
              </a:solidFill>
              <a:effectLst/>
              <a:uFillTx/>
              <a:latin typeface="Arial"/>
            </a:endParaRPr>
          </a:p>
          <a:p>
            <a:pPr algn="ctr" defTabSz="457200">
              <a:lnSpc>
                <a:spcPct val="100000"/>
              </a:lnSpc>
            </a:pPr>
            <a:r>
              <a:rPr lang="en-US" sz="1800" b="1" u="none" strike="noStrike">
                <a:solidFill>
                  <a:schemeClr val="dk1"/>
                </a:solidFill>
                <a:effectLst/>
                <a:uFillTx/>
                <a:latin typeface="Times New Roman"/>
                <a:ea typeface="DejaVu Sans"/>
              </a:rPr>
              <a:t>residual AF</a:t>
            </a:r>
            <a:endParaRPr lang="en-US" sz="1800" b="0" u="none" strike="noStrike">
              <a:solidFill>
                <a:srgbClr val="000000"/>
              </a:solidFill>
              <a:effectLst/>
              <a:uFillTx/>
              <a:latin typeface="Arial"/>
            </a:endParaRPr>
          </a:p>
        </p:txBody>
      </p:sp>
      <p:sp>
        <p:nvSpPr>
          <p:cNvPr id="143" name="Rectangle 142"/>
          <p:cNvSpPr/>
          <p:nvPr/>
        </p:nvSpPr>
        <p:spPr>
          <a:xfrm>
            <a:off x="228600" y="4871520"/>
            <a:ext cx="11656800" cy="69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2000" b="0" u="none" strike="noStrike">
                <a:solidFill>
                  <a:srgbClr val="000000"/>
                </a:solidFill>
                <a:effectLst/>
                <a:uFillTx/>
                <a:latin typeface="Arial"/>
                <a:ea typeface="DejaVu Sans"/>
              </a:rPr>
              <a:t>This residual autofluorescence contribution results in unmixing errors, </a:t>
            </a:r>
            <a:endParaRPr lang="en-US" sz="2000" b="0" u="none" strike="noStrike">
              <a:solidFill>
                <a:srgbClr val="000000"/>
              </a:solidFill>
              <a:effectLst/>
              <a:uFillTx/>
              <a:latin typeface="Arial"/>
            </a:endParaRPr>
          </a:p>
          <a:p>
            <a:pPr algn="ctr">
              <a:lnSpc>
                <a:spcPct val="100000"/>
              </a:lnSpc>
            </a:pPr>
            <a:r>
              <a:rPr lang="en-US" sz="2000" b="0" u="none" strike="noStrike">
                <a:solidFill>
                  <a:srgbClr val="000000"/>
                </a:solidFill>
                <a:effectLst/>
                <a:uFillTx/>
                <a:latin typeface="Arial"/>
                <a:ea typeface="DejaVu Sans"/>
              </a:rPr>
              <a:t>and the panel unmixing significantly improved when switched out for bead controls</a:t>
            </a:r>
            <a:endParaRPr lang="en-US" sz="20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 name="PlaceHolder 1"/>
          <p:cNvSpPr>
            <a:spLocks noGrp="1"/>
          </p:cNvSpPr>
          <p:nvPr>
            <p:ph type="title"/>
          </p:nvPr>
        </p:nvSpPr>
        <p:spPr>
          <a:xfrm>
            <a:off x="1371600" y="228600"/>
            <a:ext cx="1051344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Semi-supervised analysis by </a:t>
            </a:r>
            <a:br>
              <a:rPr sz="3600"/>
            </a:br>
            <a:r>
              <a:rPr lang="en-US" sz="3600" b="0" u="none" strike="noStrike">
                <a:solidFill>
                  <a:srgbClr val="000000"/>
                </a:solidFill>
                <a:effectLst/>
                <a:uFillTx/>
                <a:latin typeface="Arial"/>
              </a:rPr>
              <a:t>annotating in manual gates</a:t>
            </a:r>
          </a:p>
        </p:txBody>
      </p:sp>
      <p:grpSp>
        <p:nvGrpSpPr>
          <p:cNvPr id="145" name="Group 144"/>
          <p:cNvGrpSpPr/>
          <p:nvPr/>
        </p:nvGrpSpPr>
        <p:grpSpPr>
          <a:xfrm>
            <a:off x="4561920" y="1818720"/>
            <a:ext cx="7313400" cy="3198600"/>
            <a:chOff x="4561920" y="1818720"/>
            <a:chExt cx="7313400" cy="3198600"/>
          </a:xfrm>
        </p:grpSpPr>
        <p:pic>
          <p:nvPicPr>
            <p:cNvPr id="146" name="Picture 145"/>
            <p:cNvPicPr/>
            <p:nvPr/>
          </p:nvPicPr>
          <p:blipFill>
            <a:blip r:embed="rId2"/>
            <a:stretch/>
          </p:blipFill>
          <p:spPr>
            <a:xfrm>
              <a:off x="6696360" y="3306240"/>
              <a:ext cx="5178600" cy="1711080"/>
            </a:xfrm>
            <a:prstGeom prst="rect">
              <a:avLst/>
            </a:prstGeom>
            <a:noFill/>
            <a:ln w="0">
              <a:noFill/>
            </a:ln>
          </p:spPr>
        </p:pic>
        <p:grpSp>
          <p:nvGrpSpPr>
            <p:cNvPr id="147" name="Group 146"/>
            <p:cNvGrpSpPr/>
            <p:nvPr/>
          </p:nvGrpSpPr>
          <p:grpSpPr>
            <a:xfrm>
              <a:off x="6265080" y="1818720"/>
              <a:ext cx="5610240" cy="1497240"/>
              <a:chOff x="6265080" y="1818720"/>
              <a:chExt cx="5610240" cy="1497240"/>
            </a:xfrm>
          </p:grpSpPr>
          <p:pic>
            <p:nvPicPr>
              <p:cNvPr id="148" name="Picture 147"/>
              <p:cNvPicPr/>
              <p:nvPr/>
            </p:nvPicPr>
            <p:blipFill>
              <a:blip r:embed="rId3"/>
              <a:srcRect t="44464" r="9095"/>
              <a:stretch/>
            </p:blipFill>
            <p:spPr>
              <a:xfrm>
                <a:off x="6697080" y="1905840"/>
                <a:ext cx="5178240" cy="1410120"/>
              </a:xfrm>
              <a:prstGeom prst="rect">
                <a:avLst/>
              </a:prstGeom>
              <a:noFill/>
              <a:ln w="0">
                <a:noFill/>
              </a:ln>
            </p:spPr>
          </p:pic>
          <p:sp>
            <p:nvSpPr>
              <p:cNvPr id="149" name="Rectangle 148"/>
              <p:cNvSpPr/>
              <p:nvPr/>
            </p:nvSpPr>
            <p:spPr>
              <a:xfrm>
                <a:off x="6265080" y="1818720"/>
                <a:ext cx="5610240" cy="233280"/>
              </a:xfrm>
              <a:prstGeom prst="rect">
                <a:avLst/>
              </a:prstGeom>
              <a:solidFill>
                <a:srgbClr val="FFFFFF"/>
              </a:solidFill>
              <a:ln w="0">
                <a:solidFill>
                  <a:srgbClr val="FFFFFF"/>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US" sz="1800" b="0" u="none" strike="noStrike">
                  <a:solidFill>
                    <a:srgbClr val="000000"/>
                  </a:solidFill>
                  <a:effectLst/>
                  <a:uFillTx/>
                  <a:latin typeface="Arial"/>
                  <a:ea typeface="DejaVu Sans"/>
                </a:endParaRPr>
              </a:p>
            </p:txBody>
          </p:sp>
        </p:grpSp>
        <p:pic>
          <p:nvPicPr>
            <p:cNvPr id="150" name="Picture 149"/>
            <p:cNvPicPr/>
            <p:nvPr/>
          </p:nvPicPr>
          <p:blipFill>
            <a:blip r:embed="rId4"/>
            <a:stretch/>
          </p:blipFill>
          <p:spPr>
            <a:xfrm>
              <a:off x="4561920" y="2021040"/>
              <a:ext cx="1917000" cy="2996280"/>
            </a:xfrm>
            <a:prstGeom prst="rect">
              <a:avLst/>
            </a:prstGeom>
            <a:noFill/>
            <a:ln w="0">
              <a:noFill/>
            </a:ln>
          </p:spPr>
        </p:pic>
      </p:grpSp>
      <p:sp>
        <p:nvSpPr>
          <p:cNvPr id="151" name="Rectangle 150"/>
          <p:cNvSpPr/>
          <p:nvPr/>
        </p:nvSpPr>
        <p:spPr>
          <a:xfrm>
            <a:off x="228600" y="2058480"/>
            <a:ext cx="413856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Comprehensive automated manual-gating information is appended to individual cells in an .fcs file</a:t>
            </a:r>
            <a:endParaRPr lang="en-US" sz="1800" b="0" u="none" strike="noStrike">
              <a:solidFill>
                <a:srgbClr val="000000"/>
              </a:solidFill>
              <a:effectLst/>
              <a:uFillTx/>
              <a:latin typeface="Arial"/>
            </a:endParaRPr>
          </a:p>
        </p:txBody>
      </p:sp>
      <p:pic>
        <p:nvPicPr>
          <p:cNvPr id="152" name="Picture 151"/>
          <p:cNvPicPr/>
          <p:nvPr/>
        </p:nvPicPr>
        <p:blipFill>
          <a:blip r:embed="rId5"/>
          <a:stretch/>
        </p:blipFill>
        <p:spPr>
          <a:xfrm>
            <a:off x="72000" y="108000"/>
            <a:ext cx="1845720" cy="1598040"/>
          </a:xfrm>
          <a:prstGeom prst="rect">
            <a:avLst/>
          </a:prstGeom>
          <a:noFill/>
          <a:ln w="0">
            <a:noFill/>
          </a:ln>
        </p:spPr>
      </p:pic>
      <p:pic>
        <p:nvPicPr>
          <p:cNvPr id="153" name="Graphic 152"/>
          <p:cNvPicPr/>
          <p:nvPr/>
        </p:nvPicPr>
        <p:blipFill>
          <a:blip>
            <a:extLst>
              <a:ext uri="{96DAC541-7B7A-43D3-8B79-37D633B846F1}">
                <asvg:svgBlip xmlns:asvg="http://schemas.microsoft.com/office/drawing/2016/SVG/main" r:embed="rId6"/>
              </a:ext>
            </a:extLst>
          </a:blip>
          <a:stretch/>
        </p:blipFill>
        <p:spPr>
          <a:xfrm>
            <a:off x="10515600" y="0"/>
            <a:ext cx="1598040" cy="1598040"/>
          </a:xfrm>
          <a:prstGeom prst="rect">
            <a:avLst/>
          </a:prstGeom>
          <a:noFill/>
          <a:ln w="0">
            <a:noFill/>
          </a:ln>
        </p:spPr>
      </p:pic>
      <p:sp>
        <p:nvSpPr>
          <p:cNvPr id="154" name="Rectangle 153"/>
          <p:cNvSpPr/>
          <p:nvPr/>
        </p:nvSpPr>
        <p:spPr>
          <a:xfrm>
            <a:off x="203040" y="3200400"/>
            <a:ext cx="4138560" cy="118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Can be passed to unsupervised algorithms for quality control, normalization, clustering, dimensionality visualization</a:t>
            </a:r>
            <a:endParaRPr lang="en-US" sz="1800" b="0" u="none" strike="noStrike">
              <a:solidFill>
                <a:srgbClr val="000000"/>
              </a:solidFill>
              <a:effectLst/>
              <a:uFillTx/>
              <a:latin typeface="Arial"/>
            </a:endParaRPr>
          </a:p>
        </p:txBody>
      </p:sp>
      <p:sp>
        <p:nvSpPr>
          <p:cNvPr id="155" name="Rectangle 154"/>
          <p:cNvSpPr/>
          <p:nvPr/>
        </p:nvSpPr>
        <p:spPr>
          <a:xfrm>
            <a:off x="203040" y="4528080"/>
            <a:ext cx="413856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Can retrieve underlying supervised gating information afterwards</a:t>
            </a:r>
            <a:endParaRPr lang="en-US" sz="18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6" name="PlaceHolder 1"/>
          <p:cNvSpPr>
            <a:spLocks noGrp="1"/>
          </p:cNvSpPr>
          <p:nvPr>
            <p:ph type="title"/>
          </p:nvPr>
        </p:nvSpPr>
        <p:spPr>
          <a:xfrm>
            <a:off x="685800" y="46080"/>
            <a:ext cx="1051344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Current Status</a:t>
            </a:r>
          </a:p>
        </p:txBody>
      </p:sp>
      <p:pic>
        <p:nvPicPr>
          <p:cNvPr id="157" name="Graphic 156"/>
          <p:cNvPicPr/>
          <p:nvPr/>
        </p:nvPicPr>
        <p:blipFill>
          <a:blip>
            <a:extLst>
              <a:ext uri="{96DAC541-7B7A-43D3-8B79-37D633B846F1}">
                <asvg:svgBlip xmlns:asvg="http://schemas.microsoft.com/office/drawing/2016/SVG/main" r:embed="rId2"/>
              </a:ext>
            </a:extLst>
          </a:blip>
          <a:stretch/>
        </p:blipFill>
        <p:spPr>
          <a:xfrm>
            <a:off x="963000" y="3429000"/>
            <a:ext cx="3835800" cy="1112760"/>
          </a:xfrm>
          <a:prstGeom prst="rect">
            <a:avLst/>
          </a:prstGeom>
          <a:noFill/>
          <a:ln w="0">
            <a:noFill/>
          </a:ln>
        </p:spPr>
      </p:pic>
      <p:sp>
        <p:nvSpPr>
          <p:cNvPr id="158" name="Rectangle 157"/>
          <p:cNvSpPr/>
          <p:nvPr/>
        </p:nvSpPr>
        <p:spPr>
          <a:xfrm>
            <a:off x="457200" y="1510560"/>
            <a:ext cx="4473000" cy="146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All packages are available via our GitHub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Fixing bugs and updating documentation</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Submitting Bioconductor this year</a:t>
            </a:r>
            <a:endParaRPr lang="en-US" sz="1800" b="0" u="none" strike="noStrike">
              <a:solidFill>
                <a:srgbClr val="000000"/>
              </a:solidFill>
              <a:effectLst/>
              <a:uFillTx/>
              <a:latin typeface="Arial"/>
            </a:endParaRPr>
          </a:p>
        </p:txBody>
      </p:sp>
      <p:pic>
        <p:nvPicPr>
          <p:cNvPr id="159" name="Graphic 158"/>
          <p:cNvPicPr/>
          <p:nvPr/>
        </p:nvPicPr>
        <p:blipFill>
          <a:blip>
            <a:extLst>
              <a:ext uri="{96DAC541-7B7A-43D3-8B79-37D633B846F1}">
                <asvg:svgBlip xmlns:asvg="http://schemas.microsoft.com/office/drawing/2016/SVG/main" r:embed="rId3"/>
              </a:ext>
            </a:extLst>
          </a:blip>
          <a:stretch/>
        </p:blipFill>
        <p:spPr>
          <a:xfrm>
            <a:off x="4572000" y="1510560"/>
            <a:ext cx="1497600" cy="1497600"/>
          </a:xfrm>
          <a:prstGeom prst="rect">
            <a:avLst/>
          </a:prstGeom>
          <a:noFill/>
          <a:ln w="0">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0" name="PlaceHolder 1"/>
          <p:cNvSpPr>
            <a:spLocks noGrp="1"/>
          </p:cNvSpPr>
          <p:nvPr>
            <p:ph type="title"/>
          </p:nvPr>
        </p:nvSpPr>
        <p:spPr>
          <a:xfrm>
            <a:off x="685800" y="46080"/>
            <a:ext cx="1051344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Current Status</a:t>
            </a:r>
          </a:p>
        </p:txBody>
      </p:sp>
      <p:pic>
        <p:nvPicPr>
          <p:cNvPr id="161" name="Graphic 160"/>
          <p:cNvPicPr/>
          <p:nvPr/>
        </p:nvPicPr>
        <p:blipFill>
          <a:blip>
            <a:extLst>
              <a:ext uri="{96DAC541-7B7A-43D3-8B79-37D633B846F1}">
                <asvg:svgBlip xmlns:asvg="http://schemas.microsoft.com/office/drawing/2016/SVG/main" r:embed="rId2"/>
              </a:ext>
            </a:extLst>
          </a:blip>
          <a:stretch/>
        </p:blipFill>
        <p:spPr>
          <a:xfrm>
            <a:off x="963000" y="3429000"/>
            <a:ext cx="3835800" cy="1112760"/>
          </a:xfrm>
          <a:prstGeom prst="rect">
            <a:avLst/>
          </a:prstGeom>
          <a:noFill/>
          <a:ln w="0">
            <a:noFill/>
          </a:ln>
        </p:spPr>
      </p:pic>
      <p:pic>
        <p:nvPicPr>
          <p:cNvPr id="162" name="Picture 161"/>
          <p:cNvPicPr/>
          <p:nvPr/>
        </p:nvPicPr>
        <p:blipFill>
          <a:blip r:embed="rId3"/>
          <a:stretch/>
        </p:blipFill>
        <p:spPr>
          <a:xfrm>
            <a:off x="6400800" y="1600200"/>
            <a:ext cx="4798800" cy="2681280"/>
          </a:xfrm>
          <a:prstGeom prst="rect">
            <a:avLst/>
          </a:prstGeom>
          <a:noFill/>
          <a:ln w="0">
            <a:noFill/>
          </a:ln>
        </p:spPr>
      </p:pic>
      <p:sp>
        <p:nvSpPr>
          <p:cNvPr id="163" name="Rectangle 162"/>
          <p:cNvSpPr/>
          <p:nvPr/>
        </p:nvSpPr>
        <p:spPr>
          <a:xfrm>
            <a:off x="457200" y="1510560"/>
            <a:ext cx="4473000" cy="146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All packages are available via our GitHub </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Fixing Bugs and updating Documentation</a:t>
            </a:r>
            <a:endParaRPr lang="en-US"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US" sz="1800" b="0" u="none" strike="noStrike">
                <a:solidFill>
                  <a:srgbClr val="000000"/>
                </a:solidFill>
                <a:effectLst/>
                <a:uFillTx/>
                <a:latin typeface="Arial"/>
                <a:ea typeface="DejaVu Sans"/>
              </a:rPr>
              <a:t>Submitting Bioconductor this year</a:t>
            </a:r>
            <a:endParaRPr lang="en-US" sz="1800" b="0" u="none" strike="noStrike">
              <a:solidFill>
                <a:srgbClr val="000000"/>
              </a:solidFill>
              <a:effectLst/>
              <a:uFillTx/>
              <a:latin typeface="Arial"/>
            </a:endParaRPr>
          </a:p>
        </p:txBody>
      </p:sp>
      <p:sp>
        <p:nvSpPr>
          <p:cNvPr id="164" name="Rectangle 163"/>
          <p:cNvSpPr/>
          <p:nvPr/>
        </p:nvSpPr>
        <p:spPr>
          <a:xfrm>
            <a:off x="6400800" y="4343400"/>
            <a:ext cx="4473000" cy="88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marL="216000" indent="-216000" algn="ctr">
              <a:lnSpc>
                <a:spcPct val="100000"/>
              </a:lnSpc>
              <a:buClr>
                <a:srgbClr val="000000"/>
              </a:buClr>
              <a:buSzPct val="45000"/>
              <a:buFont typeface="Wingdings" charset="2"/>
              <a:buChar char=""/>
            </a:pPr>
            <a:r>
              <a:rPr lang="en-US" sz="2600" b="0" u="none" strike="noStrike">
                <a:solidFill>
                  <a:srgbClr val="000000"/>
                </a:solidFill>
                <a:effectLst/>
                <a:uFillTx/>
                <a:latin typeface="Arial"/>
                <a:ea typeface="DejaVu Sans"/>
              </a:rPr>
              <a:t>What good is a tool that the community can’t use?</a:t>
            </a:r>
            <a:endParaRPr lang="en-US" sz="2600" b="0" u="none" strike="noStrike">
              <a:solidFill>
                <a:srgbClr val="000000"/>
              </a:solidFill>
              <a:effectLst/>
              <a:uFillTx/>
              <a:latin typeface="Arial"/>
            </a:endParaRPr>
          </a:p>
        </p:txBody>
      </p:sp>
      <p:pic>
        <p:nvPicPr>
          <p:cNvPr id="165" name="Graphic 164"/>
          <p:cNvPicPr/>
          <p:nvPr/>
        </p:nvPicPr>
        <p:blipFill>
          <a:blip>
            <a:extLst>
              <a:ext uri="{96DAC541-7B7A-43D3-8B79-37D633B846F1}">
                <asvg:svgBlip xmlns:asvg="http://schemas.microsoft.com/office/drawing/2016/SVG/main" r:embed="rId4"/>
              </a:ext>
            </a:extLst>
          </a:blip>
          <a:stretch/>
        </p:blipFill>
        <p:spPr>
          <a:xfrm>
            <a:off x="4572000" y="1510560"/>
            <a:ext cx="1497600" cy="1497600"/>
          </a:xfrm>
          <a:prstGeom prst="rect">
            <a:avLst/>
          </a:prstGeom>
          <a:noFill/>
          <a:ln w="0">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 name="PlaceHolder 1"/>
          <p:cNvSpPr>
            <a:spLocks noGrp="1"/>
          </p:cNvSpPr>
          <p:nvPr>
            <p:ph/>
          </p:nvPr>
        </p:nvSpPr>
        <p:spPr>
          <a:xfrm>
            <a:off x="228600" y="2514600"/>
            <a:ext cx="6398640" cy="683640"/>
          </a:xfrm>
          <a:prstGeom prst="rect">
            <a:avLst/>
          </a:prstGeom>
          <a:noFill/>
          <a:ln w="19080">
            <a:noFill/>
          </a:ln>
        </p:spPr>
        <p:txBody>
          <a:bodyPr lIns="91440" tIns="45720" rIns="91440" bIns="45720" anchor="t">
            <a:normAutofit/>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Free weekly Cytometry in R course, offered both in-person and online via YouTube livestreams. </a:t>
            </a:r>
          </a:p>
          <a:p>
            <a:pPr marL="432000" indent="0">
              <a:lnSpc>
                <a:spcPts val="720"/>
              </a:lnSpc>
              <a:spcBef>
                <a:spcPts val="1417"/>
              </a:spcBef>
              <a:buNone/>
              <a:tabLst>
                <a:tab pos="0" algn="l"/>
              </a:tabLst>
            </a:pPr>
            <a:endParaRPr lang="en-US" sz="1800" b="0" u="none" strike="noStrike">
              <a:solidFill>
                <a:srgbClr val="000000"/>
              </a:solidFill>
              <a:effectLst/>
              <a:uFillTx/>
              <a:latin typeface="Arial"/>
            </a:endParaRPr>
          </a:p>
          <a:p>
            <a:pPr marL="432000" indent="0">
              <a:lnSpc>
                <a:spcPts val="720"/>
              </a:lnSpc>
              <a:spcBef>
                <a:spcPts val="1417"/>
              </a:spcBef>
              <a:buNone/>
              <a:tabLst>
                <a:tab pos="0" algn="l"/>
              </a:tabLst>
            </a:pPr>
            <a:endParaRPr lang="en-US" sz="1800" b="0" u="none" strike="noStrike">
              <a:solidFill>
                <a:srgbClr val="000000"/>
              </a:solidFill>
              <a:effectLst/>
              <a:uFillTx/>
              <a:latin typeface="Arial"/>
            </a:endParaRPr>
          </a:p>
          <a:p>
            <a:pPr marL="432000" indent="0">
              <a:lnSpc>
                <a:spcPts val="720"/>
              </a:lnSpc>
              <a:spcBef>
                <a:spcPts val="1417"/>
              </a:spcBef>
              <a:buNone/>
              <a:tabLst>
                <a:tab pos="0" algn="l"/>
              </a:tabLst>
            </a:pPr>
            <a:endParaRPr lang="en-US" sz="1800" b="0" u="none" strike="noStrike">
              <a:solidFill>
                <a:srgbClr val="000000"/>
              </a:solidFill>
              <a:effectLst/>
              <a:uFillTx/>
              <a:latin typeface="Arial"/>
            </a:endParaRPr>
          </a:p>
        </p:txBody>
      </p:sp>
      <p:pic>
        <p:nvPicPr>
          <p:cNvPr id="167" name="Picture 166"/>
          <p:cNvPicPr/>
          <p:nvPr/>
        </p:nvPicPr>
        <p:blipFill>
          <a:blip r:embed="rId2"/>
          <a:stretch/>
        </p:blipFill>
        <p:spPr>
          <a:xfrm>
            <a:off x="6172200" y="2286000"/>
            <a:ext cx="5712840" cy="3357360"/>
          </a:xfrm>
          <a:prstGeom prst="rect">
            <a:avLst/>
          </a:prstGeom>
          <a:noFill/>
          <a:ln w="0">
            <a:noFill/>
          </a:ln>
        </p:spPr>
      </p:pic>
      <p:pic>
        <p:nvPicPr>
          <p:cNvPr id="168" name="Picture 167"/>
          <p:cNvPicPr/>
          <p:nvPr/>
        </p:nvPicPr>
        <p:blipFill>
          <a:blip r:embed="rId3"/>
          <a:stretch/>
        </p:blipFill>
        <p:spPr>
          <a:xfrm>
            <a:off x="29880" y="228600"/>
            <a:ext cx="2410560" cy="1826640"/>
          </a:xfrm>
          <a:prstGeom prst="rect">
            <a:avLst/>
          </a:prstGeom>
          <a:noFill/>
          <a:ln w="0">
            <a:noFill/>
          </a:ln>
        </p:spPr>
      </p:pic>
      <p:pic>
        <p:nvPicPr>
          <p:cNvPr id="169" name="Graphic 168"/>
          <p:cNvPicPr/>
          <p:nvPr/>
        </p:nvPicPr>
        <p:blipFill>
          <a:blip>
            <a:extLst>
              <a:ext uri="{96DAC541-7B7A-43D3-8B79-37D633B846F1}">
                <asvg:svgBlip xmlns:asvg="http://schemas.microsoft.com/office/drawing/2016/SVG/main" r:embed="rId4"/>
              </a:ext>
            </a:extLst>
          </a:blip>
          <a:stretch/>
        </p:blipFill>
        <p:spPr>
          <a:xfrm>
            <a:off x="10359000" y="228600"/>
            <a:ext cx="1826640" cy="1826640"/>
          </a:xfrm>
          <a:prstGeom prst="rect">
            <a:avLst/>
          </a:prstGeom>
          <a:noFill/>
          <a:ln w="0">
            <a:noFill/>
          </a:ln>
        </p:spPr>
      </p:pic>
      <p:pic>
        <p:nvPicPr>
          <p:cNvPr id="170" name="Picture 169"/>
          <p:cNvPicPr/>
          <p:nvPr/>
        </p:nvPicPr>
        <p:blipFill>
          <a:blip r:embed="rId5"/>
          <a:stretch/>
        </p:blipFill>
        <p:spPr>
          <a:xfrm>
            <a:off x="2322000" y="228600"/>
            <a:ext cx="7998840" cy="1790280"/>
          </a:xfrm>
          <a:prstGeom prst="rect">
            <a:avLst/>
          </a:prstGeom>
          <a:noFill/>
          <a:ln w="0">
            <a:noFill/>
          </a:ln>
        </p:spPr>
      </p:pic>
      <p:sp>
        <p:nvSpPr>
          <p:cNvPr id="171" name="PlaceHolder 7"/>
          <p:cNvSpPr/>
          <p:nvPr/>
        </p:nvSpPr>
        <p:spPr>
          <a:xfrm>
            <a:off x="228960" y="3429360"/>
            <a:ext cx="6398640" cy="683640"/>
          </a:xfrm>
          <a:prstGeom prst="rect">
            <a:avLst/>
          </a:prstGeom>
          <a:noFill/>
          <a:ln w="1908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432000" indent="-324000">
              <a:lnSpc>
                <a:spcPts val="720"/>
              </a:lnSpc>
              <a:spcBef>
                <a:spcPts val="1417"/>
              </a:spcBef>
              <a:buClr>
                <a:srgbClr val="000000"/>
              </a:buClr>
              <a:buSzPct val="45000"/>
              <a:buFont typeface="Wingdings" charset="2"/>
              <a:buChar char=""/>
            </a:pPr>
            <a:r>
              <a:rPr lang="en-US" sz="1800" b="0" u="none" strike="noStrike">
                <a:solidFill>
                  <a:srgbClr val="000000"/>
                </a:solidFill>
                <a:effectLst/>
                <a:uFillTx/>
                <a:latin typeface="Arial"/>
                <a:ea typeface="DejaVu Sans"/>
              </a:rPr>
              <a:t>Aimed at those with prior cytometry experience,</a:t>
            </a:r>
            <a:endParaRPr lang="en-US" sz="1800" b="0" u="none" strike="noStrike">
              <a:solidFill>
                <a:srgbClr val="000000"/>
              </a:solidFill>
              <a:effectLst/>
              <a:uFillTx/>
              <a:latin typeface="Arial"/>
            </a:endParaRPr>
          </a:p>
          <a:p>
            <a:pPr marL="432000">
              <a:lnSpc>
                <a:spcPts val="720"/>
              </a:lnSpc>
              <a:spcBef>
                <a:spcPts val="1417"/>
              </a:spcBef>
              <a:tabLst>
                <a:tab pos="0" algn="l"/>
              </a:tabLst>
            </a:pPr>
            <a:r>
              <a:rPr lang="en-US" sz="1800" b="0" u="none" strike="noStrike">
                <a:solidFill>
                  <a:srgbClr val="000000"/>
                </a:solidFill>
                <a:effectLst/>
                <a:uFillTx/>
                <a:latin typeface="Arial"/>
                <a:ea typeface="DejaVu Sans"/>
              </a:rPr>
              <a:t>but no-to-little coding experience</a:t>
            </a:r>
            <a:endParaRPr lang="en-US" sz="1800" b="0" u="none" strike="noStrike">
              <a:solidFill>
                <a:srgbClr val="000000"/>
              </a:solidFill>
              <a:effectLst/>
              <a:uFillTx/>
              <a:latin typeface="Arial"/>
            </a:endParaRPr>
          </a:p>
          <a:p>
            <a:pPr marL="432000">
              <a:lnSpc>
                <a:spcPts val="720"/>
              </a:lnSpc>
              <a:spcBef>
                <a:spcPts val="1417"/>
              </a:spcBef>
              <a:tabLst>
                <a:tab pos="0" algn="l"/>
              </a:tabLst>
            </a:pPr>
            <a:endParaRPr lang="en-US" sz="1800" b="0" u="none" strike="noStrike">
              <a:solidFill>
                <a:srgbClr val="000000"/>
              </a:solidFill>
              <a:effectLst/>
              <a:uFillTx/>
              <a:latin typeface="Arial"/>
            </a:endParaRPr>
          </a:p>
          <a:p>
            <a:pPr marL="432000">
              <a:lnSpc>
                <a:spcPts val="720"/>
              </a:lnSpc>
              <a:spcBef>
                <a:spcPts val="1417"/>
              </a:spcBef>
              <a:tabLst>
                <a:tab pos="0" algn="l"/>
              </a:tabLst>
            </a:pPr>
            <a:endParaRPr lang="en-US" sz="1800" b="0" u="none" strike="noStrike">
              <a:solidFill>
                <a:srgbClr val="000000"/>
              </a:solidFill>
              <a:effectLst/>
              <a:uFillTx/>
              <a:latin typeface="Arial"/>
            </a:endParaRPr>
          </a:p>
          <a:p>
            <a:pPr marL="432000">
              <a:lnSpc>
                <a:spcPts val="720"/>
              </a:lnSpc>
              <a:spcBef>
                <a:spcPts val="1417"/>
              </a:spcBef>
              <a:tabLst>
                <a:tab pos="0" algn="l"/>
              </a:tabLst>
            </a:pPr>
            <a:endParaRPr lang="en-US" sz="1800" b="0" u="none" strike="noStrike">
              <a:solidFill>
                <a:srgbClr val="000000"/>
              </a:solidFill>
              <a:effectLst/>
              <a:uFillTx/>
              <a:latin typeface="Arial"/>
            </a:endParaRPr>
          </a:p>
        </p:txBody>
      </p:sp>
      <p:sp>
        <p:nvSpPr>
          <p:cNvPr id="172" name="PlaceHolder 8"/>
          <p:cNvSpPr/>
          <p:nvPr/>
        </p:nvSpPr>
        <p:spPr>
          <a:xfrm>
            <a:off x="228600" y="4800960"/>
            <a:ext cx="5713200" cy="683640"/>
          </a:xfrm>
          <a:prstGeom prst="rect">
            <a:avLst/>
          </a:prstGeom>
          <a:noFill/>
          <a:ln w="1908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ea typeface="DejaVu Sans"/>
              </a:rPr>
              <a:t>Around 2000 interest forms completed, between 300-500 weekly participants</a:t>
            </a:r>
            <a:endParaRPr lang="en-US" sz="1800" b="0" u="none" strike="noStrike">
              <a:solidFill>
                <a:srgbClr val="000000"/>
              </a:solidFill>
              <a:effectLst/>
              <a:uFillTx/>
              <a:latin typeface="Arial"/>
            </a:endParaRPr>
          </a:p>
          <a:p>
            <a:pPr marL="432000">
              <a:lnSpc>
                <a:spcPts val="720"/>
              </a:lnSpc>
              <a:spcBef>
                <a:spcPts val="1417"/>
              </a:spcBef>
              <a:tabLst>
                <a:tab pos="0" algn="l"/>
              </a:tabLst>
            </a:pPr>
            <a:endParaRPr lang="en-US" sz="1800" b="0" u="none" strike="noStrike">
              <a:solidFill>
                <a:srgbClr val="000000"/>
              </a:solidFill>
              <a:effectLst/>
              <a:uFillTx/>
              <a:latin typeface="Arial"/>
            </a:endParaRPr>
          </a:p>
          <a:p>
            <a:pPr marL="432000">
              <a:lnSpc>
                <a:spcPts val="720"/>
              </a:lnSpc>
              <a:spcBef>
                <a:spcPts val="1417"/>
              </a:spcBef>
              <a:tabLst>
                <a:tab pos="0" algn="l"/>
              </a:tabLst>
            </a:pPr>
            <a:endParaRPr lang="en-US" sz="1800" b="0" u="none" strike="noStrike">
              <a:solidFill>
                <a:srgbClr val="000000"/>
              </a:solidFill>
              <a:effectLst/>
              <a:uFillTx/>
              <a:latin typeface="Arial"/>
            </a:endParaRPr>
          </a:p>
          <a:p>
            <a:pPr marL="432000">
              <a:lnSpc>
                <a:spcPts val="720"/>
              </a:lnSpc>
              <a:spcBef>
                <a:spcPts val="1417"/>
              </a:spcBef>
              <a:tabLst>
                <a:tab pos="0" algn="l"/>
              </a:tabLst>
            </a:pPr>
            <a:endParaRPr lang="en-US" sz="1800" b="0" u="none" strike="noStrike">
              <a:solidFill>
                <a:srgbClr val="000000"/>
              </a:solidFill>
              <a:effectLst/>
              <a:uFillTx/>
              <a:latin typeface="Arial"/>
            </a:endParaRPr>
          </a:p>
        </p:txBody>
      </p:sp>
      <p:sp>
        <p:nvSpPr>
          <p:cNvPr id="173" name="PlaceHolder 9"/>
          <p:cNvSpPr/>
          <p:nvPr/>
        </p:nvSpPr>
        <p:spPr>
          <a:xfrm>
            <a:off x="228960" y="4114800"/>
            <a:ext cx="6398640" cy="683640"/>
          </a:xfrm>
          <a:prstGeom prst="rect">
            <a:avLst/>
          </a:prstGeom>
          <a:noFill/>
          <a:ln w="1908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432000" indent="-324000">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ea typeface="DejaVu Sans"/>
              </a:rPr>
              <a:t>Started in February, will be exploring from beginner to advanced topics for at least 30 weeks</a:t>
            </a:r>
            <a:endParaRPr lang="en-US" sz="1800" b="0" u="none" strike="noStrike">
              <a:solidFill>
                <a:srgbClr val="000000"/>
              </a:solidFill>
              <a:effectLst/>
              <a:uFillTx/>
              <a:latin typeface="Arial"/>
            </a:endParaRPr>
          </a:p>
          <a:p>
            <a:pPr marL="432000">
              <a:lnSpc>
                <a:spcPts val="720"/>
              </a:lnSpc>
              <a:spcBef>
                <a:spcPts val="1417"/>
              </a:spcBef>
              <a:tabLst>
                <a:tab pos="0" algn="l"/>
              </a:tabLst>
            </a:pPr>
            <a:endParaRPr lang="en-US" sz="18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 name="PlaceHolder 1"/>
          <p:cNvSpPr>
            <a:spLocks noGrp="1"/>
          </p:cNvSpPr>
          <p:nvPr>
            <p:ph type="title"/>
          </p:nvPr>
        </p:nvSpPr>
        <p:spPr>
          <a:xfrm>
            <a:off x="3886200" y="46080"/>
            <a:ext cx="456984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sng" strike="noStrike">
                <a:solidFill>
                  <a:srgbClr val="000000"/>
                </a:solidFill>
                <a:effectLst/>
                <a:uFillTx/>
                <a:latin typeface="Arial"/>
              </a:rPr>
              <a:t>Acknowledgements</a:t>
            </a:r>
            <a:endParaRPr lang="en-US" sz="3600" b="0" u="none" strike="noStrike">
              <a:solidFill>
                <a:srgbClr val="000000"/>
              </a:solidFill>
              <a:effectLst/>
              <a:uFillTx/>
              <a:latin typeface="Arial"/>
            </a:endParaRPr>
          </a:p>
        </p:txBody>
      </p:sp>
      <p:sp>
        <p:nvSpPr>
          <p:cNvPr id="175" name="PlaceHolder 2"/>
          <p:cNvSpPr>
            <a:spLocks noGrp="1"/>
          </p:cNvSpPr>
          <p:nvPr>
            <p:ph/>
          </p:nvPr>
        </p:nvSpPr>
        <p:spPr>
          <a:xfrm>
            <a:off x="0" y="1371600"/>
            <a:ext cx="3655440" cy="1826640"/>
          </a:xfrm>
          <a:prstGeom prst="rect">
            <a:avLst/>
          </a:prstGeom>
          <a:noFill/>
          <a:ln w="19080">
            <a:noFill/>
          </a:ln>
        </p:spPr>
        <p:txBody>
          <a:bodyPr lIns="91440" tIns="45720" rIns="91440" bIns="45720" anchor="t">
            <a:normAutofit/>
          </a:bodyPr>
          <a:lstStyle/>
          <a:p>
            <a:pPr marL="432000" indent="0">
              <a:lnSpc>
                <a:spcPct val="100000"/>
              </a:lnSpc>
              <a:spcBef>
                <a:spcPts val="1417"/>
              </a:spcBef>
              <a:buNone/>
              <a:tabLst>
                <a:tab pos="0" algn="l"/>
              </a:tabLst>
            </a:pPr>
            <a:r>
              <a:rPr lang="en-US" sz="1800" b="1" u="sng" strike="noStrike">
                <a:solidFill>
                  <a:srgbClr val="000000"/>
                </a:solidFill>
                <a:effectLst/>
                <a:uFillTx/>
                <a:latin typeface="Arial"/>
              </a:rPr>
              <a:t>UMGCCC FCSR</a:t>
            </a:r>
            <a:endParaRPr lang="en-US" sz="1800" b="0" u="none" strike="noStrike">
              <a:solidFill>
                <a:srgbClr val="000000"/>
              </a:solidFill>
              <a:effectLst/>
              <a:uFillTx/>
              <a:latin typeface="Arial"/>
            </a:endParaRPr>
          </a:p>
          <a:p>
            <a:pPr marL="432000" indent="0">
              <a:lnSpc>
                <a:spcPts val="720"/>
              </a:lnSpc>
              <a:spcBef>
                <a:spcPts val="1417"/>
              </a:spcBef>
              <a:buNone/>
              <a:tabLst>
                <a:tab pos="0" algn="l"/>
              </a:tabLst>
            </a:pPr>
            <a:r>
              <a:rPr lang="en-US" sz="1800" b="0" u="none" strike="noStrike">
                <a:solidFill>
                  <a:srgbClr val="000000"/>
                </a:solidFill>
                <a:effectLst/>
                <a:uFillTx/>
                <a:latin typeface="Arial"/>
              </a:rPr>
              <a:t>Dr. Xiaoxuan Fan</a:t>
            </a:r>
          </a:p>
          <a:p>
            <a:pPr marL="432000" indent="0">
              <a:lnSpc>
                <a:spcPts val="720"/>
              </a:lnSpc>
              <a:spcBef>
                <a:spcPts val="1417"/>
              </a:spcBef>
              <a:buNone/>
              <a:tabLst>
                <a:tab pos="0" algn="l"/>
              </a:tabLst>
            </a:pPr>
            <a:r>
              <a:rPr lang="en-US" sz="1800" b="0" u="none" strike="noStrike">
                <a:solidFill>
                  <a:srgbClr val="000000"/>
                </a:solidFill>
                <a:effectLst/>
                <a:uFillTx/>
                <a:latin typeface="Arial"/>
              </a:rPr>
              <a:t>Dr. Natarajan Ayithan</a:t>
            </a:r>
          </a:p>
          <a:p>
            <a:pPr marL="432000" indent="0">
              <a:lnSpc>
                <a:spcPts val="720"/>
              </a:lnSpc>
              <a:spcBef>
                <a:spcPts val="1417"/>
              </a:spcBef>
              <a:buNone/>
              <a:tabLst>
                <a:tab pos="0" algn="l"/>
              </a:tabLst>
            </a:pPr>
            <a:r>
              <a:rPr lang="en-US" sz="1800" b="0" u="none" strike="noStrike">
                <a:solidFill>
                  <a:srgbClr val="000000"/>
                </a:solidFill>
                <a:effectLst/>
                <a:uFillTx/>
                <a:latin typeface="Arial"/>
              </a:rPr>
              <a:t>Mikayla Trainor</a:t>
            </a:r>
          </a:p>
          <a:p>
            <a:pPr marL="432000" indent="0">
              <a:lnSpc>
                <a:spcPts val="720"/>
              </a:lnSpc>
              <a:spcBef>
                <a:spcPts val="1417"/>
              </a:spcBef>
              <a:buNone/>
              <a:tabLst>
                <a:tab pos="0" algn="l"/>
              </a:tabLst>
            </a:pPr>
            <a:endParaRPr lang="en-US" sz="1800" b="0" u="none" strike="noStrike">
              <a:solidFill>
                <a:srgbClr val="000000"/>
              </a:solidFill>
              <a:effectLst/>
              <a:uFillTx/>
              <a:latin typeface="Arial"/>
            </a:endParaRPr>
          </a:p>
          <a:p>
            <a:pPr marL="432000" indent="0">
              <a:lnSpc>
                <a:spcPts val="720"/>
              </a:lnSpc>
              <a:spcBef>
                <a:spcPts val="1417"/>
              </a:spcBef>
              <a:buNone/>
              <a:tabLst>
                <a:tab pos="0" algn="l"/>
              </a:tabLst>
            </a:pPr>
            <a:endParaRPr lang="en-US" sz="1800" b="0" u="none" strike="noStrike">
              <a:solidFill>
                <a:srgbClr val="000000"/>
              </a:solidFill>
              <a:effectLst/>
              <a:uFillTx/>
              <a:latin typeface="Arial"/>
            </a:endParaRPr>
          </a:p>
          <a:p>
            <a:pPr marL="432000" indent="0">
              <a:lnSpc>
                <a:spcPts val="720"/>
              </a:lnSpc>
              <a:spcBef>
                <a:spcPts val="1417"/>
              </a:spcBef>
              <a:buNone/>
              <a:tabLst>
                <a:tab pos="0" algn="l"/>
              </a:tabLst>
            </a:pPr>
            <a:endParaRPr lang="en-US" sz="1800" b="0" u="none" strike="noStrike">
              <a:solidFill>
                <a:srgbClr val="000000"/>
              </a:solidFill>
              <a:effectLst/>
              <a:uFillTx/>
              <a:latin typeface="Arial"/>
            </a:endParaRPr>
          </a:p>
          <a:p>
            <a:pPr marL="432000" indent="0">
              <a:lnSpc>
                <a:spcPts val="720"/>
              </a:lnSpc>
              <a:spcBef>
                <a:spcPts val="1417"/>
              </a:spcBef>
              <a:buNone/>
              <a:tabLst>
                <a:tab pos="0" algn="l"/>
              </a:tabLst>
            </a:pPr>
            <a:endParaRPr lang="en-US" sz="1800" b="0" u="none" strike="noStrike">
              <a:solidFill>
                <a:srgbClr val="000000"/>
              </a:solidFill>
              <a:effectLst/>
              <a:uFillTx/>
              <a:latin typeface="Arial"/>
            </a:endParaRPr>
          </a:p>
        </p:txBody>
      </p:sp>
      <p:pic>
        <p:nvPicPr>
          <p:cNvPr id="176" name="Picture 175"/>
          <p:cNvPicPr/>
          <p:nvPr/>
        </p:nvPicPr>
        <p:blipFill>
          <a:blip r:embed="rId2"/>
          <a:stretch/>
        </p:blipFill>
        <p:spPr>
          <a:xfrm>
            <a:off x="4644000" y="1143000"/>
            <a:ext cx="2970000" cy="2174400"/>
          </a:xfrm>
          <a:prstGeom prst="rect">
            <a:avLst/>
          </a:prstGeom>
          <a:noFill/>
          <a:ln w="0">
            <a:noFill/>
          </a:ln>
        </p:spPr>
      </p:pic>
      <p:pic>
        <p:nvPicPr>
          <p:cNvPr id="177" name="Graphic 176"/>
          <p:cNvPicPr/>
          <p:nvPr/>
        </p:nvPicPr>
        <p:blipFill>
          <a:blip>
            <a:extLst>
              <a:ext uri="{96DAC541-7B7A-43D3-8B79-37D633B846F1}">
                <asvg:svgBlip xmlns:asvg="http://schemas.microsoft.com/office/drawing/2016/SVG/main" r:embed="rId3"/>
              </a:ext>
            </a:extLst>
          </a:blip>
          <a:stretch/>
        </p:blipFill>
        <p:spPr>
          <a:xfrm>
            <a:off x="228600" y="204480"/>
            <a:ext cx="2969640" cy="779760"/>
          </a:xfrm>
          <a:prstGeom prst="rect">
            <a:avLst/>
          </a:prstGeom>
          <a:noFill/>
          <a:ln w="0">
            <a:noFill/>
          </a:ln>
        </p:spPr>
      </p:pic>
      <p:pic>
        <p:nvPicPr>
          <p:cNvPr id="178" name="Picture 177"/>
          <p:cNvPicPr/>
          <p:nvPr/>
        </p:nvPicPr>
        <p:blipFill>
          <a:blip r:embed="rId4"/>
          <a:stretch/>
        </p:blipFill>
        <p:spPr>
          <a:xfrm>
            <a:off x="9372600" y="63000"/>
            <a:ext cx="2741040" cy="1077840"/>
          </a:xfrm>
          <a:prstGeom prst="rect">
            <a:avLst/>
          </a:prstGeom>
          <a:noFill/>
          <a:ln w="0">
            <a:noFill/>
          </a:ln>
        </p:spPr>
      </p:pic>
      <p:sp>
        <p:nvSpPr>
          <p:cNvPr id="179" name="Content Placeholder 17"/>
          <p:cNvSpPr/>
          <p:nvPr/>
        </p:nvSpPr>
        <p:spPr>
          <a:xfrm>
            <a:off x="0" y="2599200"/>
            <a:ext cx="3655440" cy="1826640"/>
          </a:xfrm>
          <a:prstGeom prst="rect">
            <a:avLst/>
          </a:prstGeom>
          <a:noFill/>
          <a:ln w="1908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432000" indent="-324000">
              <a:lnSpc>
                <a:spcPct val="100000"/>
              </a:lnSpc>
              <a:spcBef>
                <a:spcPts val="1417"/>
              </a:spcBef>
              <a:buClr>
                <a:srgbClr val="000000"/>
              </a:buClr>
              <a:buSzPct val="45000"/>
              <a:buFont typeface="Wingdings" charset="2"/>
              <a:buChar char=""/>
            </a:pPr>
            <a:r>
              <a:rPr lang="en-US" sz="1800" b="1" u="sng" strike="noStrike">
                <a:solidFill>
                  <a:srgbClr val="000000"/>
                </a:solidFill>
                <a:effectLst/>
                <a:uFillTx/>
                <a:latin typeface="Arial"/>
                <a:ea typeface="DejaVu Sans"/>
              </a:rPr>
              <a:t>University of Maryland School of Medicine</a:t>
            </a:r>
            <a:endParaRPr lang="en-US" sz="1800" b="0" u="none" strike="noStrike">
              <a:solidFill>
                <a:srgbClr val="000000"/>
              </a:solidFill>
              <a:effectLst/>
              <a:uFillTx/>
              <a:latin typeface="Arial"/>
            </a:endParaRPr>
          </a:p>
          <a:p>
            <a:pPr marL="432000" indent="-324000">
              <a:lnSpc>
                <a:spcPts val="720"/>
              </a:lnSpc>
              <a:spcBef>
                <a:spcPts val="1417"/>
              </a:spcBef>
              <a:buClr>
                <a:srgbClr val="000000"/>
              </a:buClr>
              <a:buSzPct val="45000"/>
              <a:buFont typeface="Wingdings" charset="2"/>
              <a:buChar char=""/>
            </a:pPr>
            <a:r>
              <a:rPr lang="en-US" sz="1800" b="0" u="none" strike="noStrike">
                <a:solidFill>
                  <a:srgbClr val="000000"/>
                </a:solidFill>
                <a:effectLst/>
                <a:uFillTx/>
                <a:latin typeface="Arial"/>
                <a:ea typeface="DejaVu Sans"/>
              </a:rPr>
              <a:t>Dr. Cristiana Cairo</a:t>
            </a:r>
            <a:endParaRPr lang="en-US" sz="1800" b="0" u="none" strike="noStrike">
              <a:solidFill>
                <a:srgbClr val="000000"/>
              </a:solidFill>
              <a:effectLst/>
              <a:uFillTx/>
              <a:latin typeface="Arial"/>
            </a:endParaRPr>
          </a:p>
          <a:p>
            <a:pPr marL="432000" indent="-324000">
              <a:lnSpc>
                <a:spcPts val="720"/>
              </a:lnSpc>
              <a:spcBef>
                <a:spcPts val="1417"/>
              </a:spcBef>
              <a:buClr>
                <a:srgbClr val="000000"/>
              </a:buClr>
              <a:buSzPct val="45000"/>
              <a:buFont typeface="Wingdings" charset="2"/>
              <a:buChar char=""/>
            </a:pPr>
            <a:r>
              <a:rPr lang="en-US" sz="1800" b="0" u="none" strike="noStrike">
                <a:solidFill>
                  <a:srgbClr val="000000"/>
                </a:solidFill>
                <a:effectLst/>
                <a:uFillTx/>
                <a:latin typeface="Arial"/>
                <a:ea typeface="DejaVu Sans"/>
              </a:rPr>
              <a:t>Dr. Kirsten E. Lyke</a:t>
            </a:r>
            <a:endParaRPr lang="en-US" sz="1800" b="0" u="none" strike="noStrike">
              <a:solidFill>
                <a:srgbClr val="000000"/>
              </a:solidFill>
              <a:effectLst/>
              <a:uFillTx/>
              <a:latin typeface="Arial"/>
            </a:endParaRPr>
          </a:p>
          <a:p>
            <a:pPr>
              <a:lnSpc>
                <a:spcPts val="720"/>
              </a:lnSpc>
              <a:spcBef>
                <a:spcPts val="1417"/>
              </a:spcBef>
            </a:pPr>
            <a:endParaRPr lang="en-US" sz="1800" b="0" u="none" strike="noStrike">
              <a:solidFill>
                <a:srgbClr val="000000"/>
              </a:solidFill>
              <a:effectLst/>
              <a:uFillTx/>
              <a:latin typeface="Arial"/>
            </a:endParaRPr>
          </a:p>
          <a:p>
            <a:pPr>
              <a:lnSpc>
                <a:spcPts val="720"/>
              </a:lnSpc>
              <a:spcBef>
                <a:spcPts val="1417"/>
              </a:spcBef>
            </a:pPr>
            <a:endParaRPr lang="en-US" sz="1800" b="0" u="none" strike="noStrike">
              <a:solidFill>
                <a:srgbClr val="000000"/>
              </a:solidFill>
              <a:effectLst/>
              <a:uFillTx/>
              <a:latin typeface="Arial"/>
            </a:endParaRPr>
          </a:p>
          <a:p>
            <a:pPr>
              <a:lnSpc>
                <a:spcPts val="720"/>
              </a:lnSpc>
              <a:spcBef>
                <a:spcPts val="1417"/>
              </a:spcBef>
            </a:pPr>
            <a:endParaRPr lang="en-US" sz="1800" b="0" u="none" strike="noStrike">
              <a:solidFill>
                <a:srgbClr val="000000"/>
              </a:solidFill>
              <a:effectLst/>
              <a:uFillTx/>
              <a:latin typeface="Arial"/>
            </a:endParaRPr>
          </a:p>
          <a:p>
            <a:pPr>
              <a:lnSpc>
                <a:spcPts val="720"/>
              </a:lnSpc>
              <a:spcBef>
                <a:spcPts val="1417"/>
              </a:spcBef>
            </a:pPr>
            <a:endParaRPr lang="en-US" sz="1800" b="0" u="none" strike="noStrike">
              <a:solidFill>
                <a:srgbClr val="000000"/>
              </a:solidFill>
              <a:effectLst/>
              <a:uFillTx/>
              <a:latin typeface="Arial"/>
            </a:endParaRPr>
          </a:p>
        </p:txBody>
      </p:sp>
      <p:sp>
        <p:nvSpPr>
          <p:cNvPr id="180" name="Content Placeholder 18"/>
          <p:cNvSpPr/>
          <p:nvPr/>
        </p:nvSpPr>
        <p:spPr>
          <a:xfrm>
            <a:off x="7772400" y="1251000"/>
            <a:ext cx="4341240" cy="1826640"/>
          </a:xfrm>
          <a:prstGeom prst="rect">
            <a:avLst/>
          </a:prstGeom>
          <a:noFill/>
          <a:ln w="19080">
            <a:noFill/>
          </a:ln>
        </p:spPr>
        <p:style>
          <a:lnRef idx="0">
            <a:scrgbClr r="0" g="0" b="0"/>
          </a:lnRef>
          <a:fillRef idx="0">
            <a:scrgbClr r="0" g="0" b="0"/>
          </a:fillRef>
          <a:effectRef idx="0">
            <a:scrgbClr r="0" g="0" b="0"/>
          </a:effectRef>
          <a:fontRef idx="minor"/>
        </p:style>
        <p:txBody>
          <a:bodyPr lIns="90000" tIns="45000" rIns="90000" bIns="45000" anchor="t" anchorCtr="1">
            <a:normAutofit/>
          </a:bodyPr>
          <a:lstStyle/>
          <a:p>
            <a:pPr marL="432000" indent="-324000" algn="r">
              <a:lnSpc>
                <a:spcPct val="100000"/>
              </a:lnSpc>
              <a:spcBef>
                <a:spcPts val="1417"/>
              </a:spcBef>
              <a:buClr>
                <a:srgbClr val="000000"/>
              </a:buClr>
              <a:buSzPct val="45000"/>
              <a:buFont typeface="Wingdings" charset="2"/>
              <a:buChar char=""/>
            </a:pPr>
            <a:r>
              <a:rPr lang="en-US" sz="1800" b="1" u="sng" strike="noStrike">
                <a:solidFill>
                  <a:srgbClr val="000000"/>
                </a:solidFill>
                <a:effectLst/>
                <a:uFillTx/>
                <a:latin typeface="Arial"/>
                <a:ea typeface="DejaVu Sans"/>
              </a:rPr>
              <a:t>Molecular Microbiology Immunology Graduate Program</a:t>
            </a:r>
            <a:endParaRPr lang="en-US" sz="1800" b="0" u="none" strike="noStrike">
              <a:solidFill>
                <a:srgbClr val="000000"/>
              </a:solidFill>
              <a:effectLst/>
              <a:uFillTx/>
              <a:latin typeface="Arial"/>
            </a:endParaRPr>
          </a:p>
          <a:p>
            <a:pPr marL="432000" indent="-324000" algn="r">
              <a:lnSpc>
                <a:spcPts val="720"/>
              </a:lnSpc>
              <a:spcBef>
                <a:spcPts val="1417"/>
              </a:spcBef>
              <a:buClr>
                <a:srgbClr val="000000"/>
              </a:buClr>
              <a:buSzPct val="45000"/>
              <a:buFont typeface="Wingdings" charset="2"/>
              <a:buChar char=""/>
            </a:pPr>
            <a:r>
              <a:rPr lang="en-US" sz="1800" b="0" u="none" strike="noStrike">
                <a:solidFill>
                  <a:srgbClr val="000000"/>
                </a:solidFill>
                <a:effectLst/>
                <a:uFillTx/>
                <a:latin typeface="Arial"/>
                <a:ea typeface="DejaVu Sans"/>
              </a:rPr>
              <a:t>Dr. Eileen Barry</a:t>
            </a:r>
            <a:endParaRPr lang="en-US" sz="1800" b="0" u="none" strike="noStrike">
              <a:solidFill>
                <a:srgbClr val="000000"/>
              </a:solidFill>
              <a:effectLst/>
              <a:uFillTx/>
              <a:latin typeface="Arial"/>
            </a:endParaRPr>
          </a:p>
          <a:p>
            <a:pPr marL="432000" indent="-324000" algn="r">
              <a:lnSpc>
                <a:spcPts val="720"/>
              </a:lnSpc>
              <a:spcBef>
                <a:spcPts val="1417"/>
              </a:spcBef>
              <a:buClr>
                <a:srgbClr val="000000"/>
              </a:buClr>
              <a:buSzPct val="45000"/>
              <a:buFont typeface="Wingdings" charset="2"/>
              <a:buChar char=""/>
            </a:pPr>
            <a:r>
              <a:rPr lang="en-US" sz="1800" b="0" u="none" strike="noStrike">
                <a:solidFill>
                  <a:srgbClr val="000000"/>
                </a:solidFill>
                <a:effectLst/>
                <a:uFillTx/>
                <a:latin typeface="Arial"/>
                <a:ea typeface="DejaVu Sans"/>
              </a:rPr>
              <a:t>Bess Tracey</a:t>
            </a:r>
            <a:endParaRPr lang="en-US" sz="1800" b="0" u="none" strike="noStrike">
              <a:solidFill>
                <a:srgbClr val="000000"/>
              </a:solidFill>
              <a:effectLst/>
              <a:uFillTx/>
              <a:latin typeface="Arial"/>
            </a:endParaRPr>
          </a:p>
          <a:p>
            <a:pPr algn="r">
              <a:lnSpc>
                <a:spcPts val="720"/>
              </a:lnSpc>
              <a:spcBef>
                <a:spcPts val="1417"/>
              </a:spcBef>
            </a:pPr>
            <a:endParaRPr lang="en-US" sz="1800" b="0" u="none" strike="noStrike">
              <a:solidFill>
                <a:srgbClr val="000000"/>
              </a:solidFill>
              <a:effectLst/>
              <a:uFillTx/>
              <a:latin typeface="Arial"/>
            </a:endParaRPr>
          </a:p>
          <a:p>
            <a:pPr algn="r">
              <a:lnSpc>
                <a:spcPts val="720"/>
              </a:lnSpc>
              <a:spcBef>
                <a:spcPts val="1417"/>
              </a:spcBef>
            </a:pPr>
            <a:endParaRPr lang="en-US" sz="1800" b="0" u="none" strike="noStrike">
              <a:solidFill>
                <a:srgbClr val="000000"/>
              </a:solidFill>
              <a:effectLst/>
              <a:uFillTx/>
              <a:latin typeface="Arial"/>
            </a:endParaRPr>
          </a:p>
          <a:p>
            <a:pPr>
              <a:lnSpc>
                <a:spcPts val="720"/>
              </a:lnSpc>
              <a:spcBef>
                <a:spcPts val="1417"/>
              </a:spcBef>
            </a:pPr>
            <a:endParaRPr lang="en-US" sz="1800" b="0" u="none" strike="noStrike">
              <a:solidFill>
                <a:srgbClr val="000000"/>
              </a:solidFill>
              <a:effectLst/>
              <a:uFillTx/>
              <a:latin typeface="Arial"/>
            </a:endParaRPr>
          </a:p>
          <a:p>
            <a:pPr>
              <a:lnSpc>
                <a:spcPts val="720"/>
              </a:lnSpc>
              <a:spcBef>
                <a:spcPts val="1417"/>
              </a:spcBef>
            </a:pPr>
            <a:endParaRPr lang="en-US" sz="1800" b="0" u="none" strike="noStrike">
              <a:solidFill>
                <a:srgbClr val="000000"/>
              </a:solidFill>
              <a:effectLst/>
              <a:uFillTx/>
              <a:latin typeface="Arial"/>
            </a:endParaRPr>
          </a:p>
          <a:p>
            <a:pPr>
              <a:lnSpc>
                <a:spcPts val="720"/>
              </a:lnSpc>
              <a:spcBef>
                <a:spcPts val="1417"/>
              </a:spcBef>
            </a:pPr>
            <a:endParaRPr lang="en-US" sz="1800" b="0" u="none" strike="noStrike">
              <a:solidFill>
                <a:srgbClr val="000000"/>
              </a:solidFill>
              <a:effectLst/>
              <a:uFillTx/>
              <a:latin typeface="Arial"/>
            </a:endParaRPr>
          </a:p>
          <a:p>
            <a:pPr>
              <a:lnSpc>
                <a:spcPts val="720"/>
              </a:lnSpc>
              <a:spcBef>
                <a:spcPts val="1417"/>
              </a:spcBef>
            </a:pPr>
            <a:endParaRPr lang="en-US" sz="1800" b="0" u="none" strike="noStrike">
              <a:solidFill>
                <a:srgbClr val="000000"/>
              </a:solidFill>
              <a:effectLst/>
              <a:uFillTx/>
              <a:latin typeface="Arial"/>
            </a:endParaRPr>
          </a:p>
          <a:p>
            <a:pPr>
              <a:lnSpc>
                <a:spcPts val="720"/>
              </a:lnSpc>
              <a:spcBef>
                <a:spcPts val="1417"/>
              </a:spcBef>
            </a:pPr>
            <a:endParaRPr lang="en-US" sz="1800" b="0" u="none" strike="noStrike">
              <a:solidFill>
                <a:srgbClr val="000000"/>
              </a:solidFill>
              <a:effectLst/>
              <a:uFillTx/>
              <a:latin typeface="Arial"/>
            </a:endParaRPr>
          </a:p>
        </p:txBody>
      </p:sp>
      <p:pic>
        <p:nvPicPr>
          <p:cNvPr id="181" name="Picture 27" descr="A picture containing text, person, indoor, working&#10;&#10;Description automatically generated"/>
          <p:cNvPicPr/>
          <p:nvPr/>
        </p:nvPicPr>
        <p:blipFill>
          <a:blip r:embed="rId5"/>
          <a:stretch/>
        </p:blipFill>
        <p:spPr>
          <a:xfrm>
            <a:off x="4644000" y="3348000"/>
            <a:ext cx="2970000" cy="2226960"/>
          </a:xfrm>
          <a:prstGeom prst="rect">
            <a:avLst/>
          </a:prstGeom>
          <a:noFill/>
          <a:ln w="0">
            <a:noFill/>
          </a:ln>
        </p:spPr>
      </p:pic>
      <p:sp>
        <p:nvSpPr>
          <p:cNvPr id="182" name="Rectangle 181"/>
          <p:cNvSpPr/>
          <p:nvPr/>
        </p:nvSpPr>
        <p:spPr>
          <a:xfrm>
            <a:off x="457200" y="3818880"/>
            <a:ext cx="1581840" cy="595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800" b="1" u="sng" strike="noStrike">
                <a:solidFill>
                  <a:schemeClr val="dk1"/>
                </a:solidFill>
                <a:effectLst/>
                <a:uFillTx/>
                <a:latin typeface="Times New Roman"/>
                <a:ea typeface="DejaVu Sans"/>
              </a:rPr>
              <a:t>PIN:</a:t>
            </a:r>
            <a:endParaRPr lang="en-US" sz="1800" b="0" u="none" strike="noStrike">
              <a:solidFill>
                <a:srgbClr val="000000"/>
              </a:solidFill>
              <a:effectLst/>
              <a:uFillTx/>
              <a:latin typeface="Arial"/>
            </a:endParaRPr>
          </a:p>
          <a:p>
            <a:pPr>
              <a:lnSpc>
                <a:spcPct val="100000"/>
              </a:lnSpc>
            </a:pPr>
            <a:r>
              <a:rPr lang="en-US" sz="1800" b="0" u="none" strike="noStrike">
                <a:solidFill>
                  <a:schemeClr val="dk1"/>
                </a:solidFill>
                <a:effectLst/>
                <a:uFillTx/>
                <a:latin typeface="Times New Roman"/>
                <a:ea typeface="DejaVu Sans"/>
              </a:rPr>
              <a:t>Daniela Franco</a:t>
            </a:r>
            <a:endParaRPr lang="en-US" sz="1800" b="0" u="none" strike="noStrike">
              <a:solidFill>
                <a:srgbClr val="000000"/>
              </a:solidFill>
              <a:effectLst/>
              <a:uFillTx/>
              <a:latin typeface="Arial"/>
            </a:endParaRPr>
          </a:p>
        </p:txBody>
      </p:sp>
      <p:sp>
        <p:nvSpPr>
          <p:cNvPr id="183" name="Rectangle 182"/>
          <p:cNvSpPr/>
          <p:nvPr/>
        </p:nvSpPr>
        <p:spPr>
          <a:xfrm>
            <a:off x="8041320" y="3770280"/>
            <a:ext cx="22676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800" b="0" u="none" strike="noStrike">
                <a:solidFill>
                  <a:schemeClr val="dk1"/>
                </a:solidFill>
                <a:effectLst/>
                <a:uFillTx/>
                <a:latin typeface="Times New Roman"/>
                <a:ea typeface="DejaVu Sans"/>
              </a:rPr>
              <a:t>Cytometry </a:t>
            </a:r>
            <a:endParaRPr lang="en-US" sz="1800" b="0" u="none" strike="noStrike">
              <a:solidFill>
                <a:srgbClr val="000000"/>
              </a:solidFill>
              <a:effectLst/>
              <a:uFillTx/>
              <a:latin typeface="Arial"/>
            </a:endParaRPr>
          </a:p>
          <a:p>
            <a:pPr algn="ctr">
              <a:lnSpc>
                <a:spcPct val="100000"/>
              </a:lnSpc>
            </a:pPr>
            <a:r>
              <a:rPr lang="en-US" sz="1800" b="0" u="none" strike="noStrike">
                <a:solidFill>
                  <a:schemeClr val="dk1"/>
                </a:solidFill>
                <a:effectLst/>
                <a:uFillTx/>
                <a:latin typeface="Times New Roman"/>
                <a:ea typeface="DejaVu Sans"/>
              </a:rPr>
              <a:t>Discord</a:t>
            </a:r>
            <a:endParaRPr lang="en-US" sz="1800" b="0" u="none" strike="noStrike">
              <a:solidFill>
                <a:srgbClr val="000000"/>
              </a:solidFill>
              <a:effectLst/>
              <a:uFillTx/>
              <a:latin typeface="Arial"/>
            </a:endParaRPr>
          </a:p>
        </p:txBody>
      </p:sp>
      <p:sp>
        <p:nvSpPr>
          <p:cNvPr id="184" name="Rectangle 183"/>
          <p:cNvSpPr/>
          <p:nvPr/>
        </p:nvSpPr>
        <p:spPr>
          <a:xfrm>
            <a:off x="10152000" y="3773520"/>
            <a:ext cx="189936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r">
              <a:lnSpc>
                <a:spcPct val="100000"/>
              </a:lnSpc>
            </a:pPr>
            <a:r>
              <a:rPr lang="en-US" sz="1800" b="0" u="none" strike="noStrike">
                <a:solidFill>
                  <a:schemeClr val="dk1"/>
                </a:solidFill>
                <a:effectLst/>
                <a:uFillTx/>
                <a:latin typeface="Times New Roman"/>
                <a:ea typeface="DejaVu Sans"/>
              </a:rPr>
              <a:t>r/flowcytometry</a:t>
            </a:r>
            <a:endParaRPr lang="en-US" sz="1800" b="0" u="none" strike="noStrike">
              <a:solidFill>
                <a:srgbClr val="000000"/>
              </a:solidFill>
              <a:effectLst/>
              <a:uFillTx/>
              <a:latin typeface="Arial"/>
            </a:endParaRPr>
          </a:p>
        </p:txBody>
      </p:sp>
      <p:sp>
        <p:nvSpPr>
          <p:cNvPr id="185" name="Rectangle 184"/>
          <p:cNvSpPr/>
          <p:nvPr/>
        </p:nvSpPr>
        <p:spPr>
          <a:xfrm>
            <a:off x="9027720" y="4393800"/>
            <a:ext cx="22676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r">
              <a:lnSpc>
                <a:spcPct val="100000"/>
              </a:lnSpc>
            </a:pPr>
            <a:r>
              <a:rPr lang="en-US" sz="1800" b="0" u="none" strike="noStrike">
                <a:solidFill>
                  <a:schemeClr val="dk1"/>
                </a:solidFill>
                <a:effectLst/>
                <a:uFillTx/>
                <a:latin typeface="Times New Roman"/>
                <a:ea typeface="DejaVu Sans"/>
              </a:rPr>
              <a:t>Bioconductor Zulip</a:t>
            </a:r>
            <a:endParaRPr lang="en-US" sz="1800" b="0" u="none" strike="noStrike">
              <a:solidFill>
                <a:srgbClr val="000000"/>
              </a:solidFill>
              <a:effectLst/>
              <a:uFillTx/>
              <a:latin typeface="Arial"/>
            </a:endParaRPr>
          </a:p>
        </p:txBody>
      </p:sp>
      <p:sp>
        <p:nvSpPr>
          <p:cNvPr id="186" name="Rectangle 185"/>
          <p:cNvSpPr/>
          <p:nvPr/>
        </p:nvSpPr>
        <p:spPr>
          <a:xfrm>
            <a:off x="0" y="4692600"/>
            <a:ext cx="4570560" cy="114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lnSpc>
                <a:spcPct val="100000"/>
              </a:lnSpc>
            </a:pPr>
            <a:r>
              <a:rPr lang="en-US" sz="1200" b="0" u="none" strike="noStrike">
                <a:solidFill>
                  <a:schemeClr val="dk1"/>
                </a:solidFill>
                <a:effectLst/>
                <a:uFillTx/>
                <a:latin typeface="Times New Roman"/>
                <a:ea typeface="DejaVu Sans"/>
              </a:rPr>
              <a:t>This publication was supported by funds through Maryland Department of Health’s Cigarette Restitution Fund Program – CH- 649-CRF and the National Cancer Institute – Cancer Center Support Grant (CCSG) – P30CA134274.d Service</a:t>
            </a:r>
            <a:endParaRPr lang="en-US" sz="1200" b="0" u="none" strike="noStrike">
              <a:solidFill>
                <a:srgbClr val="000000"/>
              </a:solidFill>
              <a:effectLst/>
              <a:uFillTx/>
              <a:latin typeface="Arial"/>
            </a:endParaRPr>
          </a:p>
        </p:txBody>
      </p:sp>
      <p:pic>
        <p:nvPicPr>
          <p:cNvPr id="187" name="Graphic 186"/>
          <p:cNvPicPr/>
          <p:nvPr/>
        </p:nvPicPr>
        <p:blipFill>
          <a:blip>
            <a:extLst>
              <a:ext uri="{96DAC541-7B7A-43D3-8B79-37D633B846F1}">
                <asvg:svgBlip xmlns:asvg="http://schemas.microsoft.com/office/drawing/2016/SVG/main" r:embed="rId6"/>
              </a:ext>
            </a:extLst>
          </a:blip>
          <a:stretch/>
        </p:blipFill>
        <p:spPr>
          <a:xfrm>
            <a:off x="8445600" y="2514600"/>
            <a:ext cx="1370160" cy="1370160"/>
          </a:xfrm>
          <a:prstGeom prst="rect">
            <a:avLst/>
          </a:prstGeom>
          <a:noFill/>
          <a:ln w="0">
            <a:noFill/>
          </a:ln>
        </p:spPr>
      </p:pic>
      <p:pic>
        <p:nvPicPr>
          <p:cNvPr id="188" name="Graphic 187"/>
          <p:cNvPicPr/>
          <p:nvPr/>
        </p:nvPicPr>
        <p:blipFill>
          <a:blip>
            <a:extLst>
              <a:ext uri="{96DAC541-7B7A-43D3-8B79-37D633B846F1}">
                <asvg:svgBlip xmlns:asvg="http://schemas.microsoft.com/office/drawing/2016/SVG/main" r:embed="rId7"/>
              </a:ext>
            </a:extLst>
          </a:blip>
          <a:stretch/>
        </p:blipFill>
        <p:spPr>
          <a:xfrm>
            <a:off x="10467000" y="2585160"/>
            <a:ext cx="1299600" cy="1299600"/>
          </a:xfrm>
          <a:prstGeom prst="rect">
            <a:avLst/>
          </a:prstGeom>
          <a:noFill/>
          <a:ln w="0">
            <a:noFill/>
          </a:ln>
        </p:spPr>
      </p:pic>
      <p:sp>
        <p:nvSpPr>
          <p:cNvPr id="189" name="Rectangle 188"/>
          <p:cNvSpPr/>
          <p:nvPr/>
        </p:nvSpPr>
        <p:spPr>
          <a:xfrm>
            <a:off x="2956680" y="4432680"/>
            <a:ext cx="1613880" cy="258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r">
              <a:lnSpc>
                <a:spcPct val="100000"/>
              </a:lnSpc>
            </a:pPr>
            <a:r>
              <a:rPr lang="en-US" sz="1200" b="0" u="none" strike="noStrike">
                <a:solidFill>
                  <a:schemeClr val="dk1"/>
                </a:solidFill>
                <a:effectLst/>
                <a:uFillTx/>
                <a:latin typeface="Times New Roman"/>
                <a:ea typeface="DejaVu Sans"/>
              </a:rPr>
              <a:t>U01 HD092308</a:t>
            </a:r>
            <a:endParaRPr lang="en-US" sz="1200" b="0" u="none" strike="noStrike">
              <a:solidFill>
                <a:srgbClr val="000000"/>
              </a:solidFill>
              <a:effectLst/>
              <a:uFillTx/>
              <a:latin typeface="Arial"/>
            </a:endParaRPr>
          </a:p>
        </p:txBody>
      </p:sp>
      <p:pic>
        <p:nvPicPr>
          <p:cNvPr id="190" name="Picture 189"/>
          <p:cNvPicPr/>
          <p:nvPr/>
        </p:nvPicPr>
        <p:blipFill>
          <a:blip r:embed="rId8"/>
          <a:stretch/>
        </p:blipFill>
        <p:spPr>
          <a:xfrm>
            <a:off x="7687800" y="5057280"/>
            <a:ext cx="2369160" cy="427680"/>
          </a:xfrm>
          <a:prstGeom prst="rect">
            <a:avLst/>
          </a:prstGeom>
          <a:noFill/>
          <a:ln w="0">
            <a:noFill/>
          </a:ln>
        </p:spPr>
      </p:pic>
      <p:pic>
        <p:nvPicPr>
          <p:cNvPr id="191" name="Picture 190"/>
          <p:cNvPicPr/>
          <p:nvPr/>
        </p:nvPicPr>
        <p:blipFill>
          <a:blip r:embed="rId9"/>
          <a:stretch/>
        </p:blipFill>
        <p:spPr>
          <a:xfrm>
            <a:off x="10058400" y="5029200"/>
            <a:ext cx="1987920" cy="406440"/>
          </a:xfrm>
          <a:prstGeom prst="rect">
            <a:avLst/>
          </a:prstGeom>
          <a:noFill/>
          <a:ln w="0">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2" name="PlaceHolder 1"/>
          <p:cNvSpPr>
            <a:spLocks noGrp="1"/>
          </p:cNvSpPr>
          <p:nvPr>
            <p:ph type="title"/>
          </p:nvPr>
        </p:nvSpPr>
        <p:spPr>
          <a:xfrm>
            <a:off x="1143000" y="-182520"/>
            <a:ext cx="10056240" cy="1323360"/>
          </a:xfrm>
          <a:prstGeom prst="rect">
            <a:avLst/>
          </a:prstGeom>
          <a:noFill/>
          <a:ln w="19080">
            <a:noFill/>
          </a:ln>
        </p:spPr>
        <p:txBody>
          <a:bodyPr lIns="91440" tIns="45720" rIns="91440" bIns="45720" anchor="ctr" anchorCtr="1">
            <a:normAutofit/>
          </a:bodyPr>
          <a:lstStyle/>
          <a:p>
            <a:pPr indent="0" algn="ctr">
              <a:lnSpc>
                <a:spcPct val="100000"/>
              </a:lnSpc>
              <a:buNone/>
              <a:tabLst>
                <a:tab pos="0" algn="l"/>
              </a:tabLst>
            </a:pPr>
            <a:r>
              <a:rPr lang="en-US" sz="3600" b="0" u="none" strike="noStrike">
                <a:solidFill>
                  <a:srgbClr val="000000"/>
                </a:solidFill>
                <a:effectLst/>
                <a:uFillTx/>
                <a:latin typeface="Arial"/>
              </a:rPr>
              <a:t>Questions?</a:t>
            </a:r>
          </a:p>
        </p:txBody>
      </p:sp>
      <p:sp>
        <p:nvSpPr>
          <p:cNvPr id="193" name="Rectangle 192"/>
          <p:cNvSpPr/>
          <p:nvPr/>
        </p:nvSpPr>
        <p:spPr>
          <a:xfrm>
            <a:off x="457200" y="2683800"/>
            <a:ext cx="29696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800" b="0" u="none" strike="noStrike">
                <a:solidFill>
                  <a:srgbClr val="000000"/>
                </a:solidFill>
                <a:effectLst/>
                <a:uFillTx/>
                <a:latin typeface="Arial"/>
                <a:ea typeface="DejaVu Sans"/>
              </a:rPr>
              <a:t>UMGCCC FCSR</a:t>
            </a:r>
            <a:endParaRPr lang="en-US" sz="1800" b="0" u="none" strike="noStrike">
              <a:solidFill>
                <a:srgbClr val="000000"/>
              </a:solidFill>
              <a:effectLst/>
              <a:uFillTx/>
              <a:latin typeface="Arial"/>
            </a:endParaRPr>
          </a:p>
          <a:p>
            <a:pPr algn="ctr">
              <a:lnSpc>
                <a:spcPct val="100000"/>
              </a:lnSpc>
            </a:pPr>
            <a:r>
              <a:rPr lang="en-US" sz="1800" b="0" u="none" strike="noStrike">
                <a:solidFill>
                  <a:srgbClr val="000000"/>
                </a:solidFill>
                <a:effectLst/>
                <a:uFillTx/>
                <a:latin typeface="Arial"/>
                <a:ea typeface="DejaVu Sans"/>
              </a:rPr>
              <a:t>InstrumentQC dashboard</a:t>
            </a:r>
            <a:endParaRPr lang="en-US" sz="1800" b="0" u="none" strike="noStrike">
              <a:solidFill>
                <a:srgbClr val="000000"/>
              </a:solidFill>
              <a:effectLst/>
              <a:uFillTx/>
              <a:latin typeface="Arial"/>
            </a:endParaRPr>
          </a:p>
        </p:txBody>
      </p:sp>
      <p:sp>
        <p:nvSpPr>
          <p:cNvPr id="194" name="Rectangle 193"/>
          <p:cNvSpPr/>
          <p:nvPr/>
        </p:nvSpPr>
        <p:spPr>
          <a:xfrm>
            <a:off x="8915400" y="5149800"/>
            <a:ext cx="29696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800" b="0" u="none" strike="noStrike">
                <a:solidFill>
                  <a:srgbClr val="000000"/>
                </a:solidFill>
                <a:effectLst/>
                <a:uFillTx/>
                <a:latin typeface="Arial"/>
                <a:ea typeface="DejaVu Sans"/>
              </a:rPr>
              <a:t>YouTube </a:t>
            </a:r>
            <a:r>
              <a:rPr lang="en-US" sz="1800" b="1" u="none" strike="noStrike">
                <a:solidFill>
                  <a:srgbClr val="000000"/>
                </a:solidFill>
                <a:effectLst/>
                <a:uFillTx/>
                <a:latin typeface="Arial"/>
                <a:ea typeface="DejaVu Sans"/>
              </a:rPr>
              <a:t>@CytometryInR</a:t>
            </a:r>
            <a:endParaRPr lang="en-US" sz="1800" b="0" u="none" strike="noStrike">
              <a:solidFill>
                <a:srgbClr val="000000"/>
              </a:solidFill>
              <a:effectLst/>
              <a:uFillTx/>
              <a:latin typeface="Arial"/>
            </a:endParaRPr>
          </a:p>
        </p:txBody>
      </p:sp>
      <p:sp>
        <p:nvSpPr>
          <p:cNvPr id="195" name="Rectangle 194"/>
          <p:cNvSpPr/>
          <p:nvPr/>
        </p:nvSpPr>
        <p:spPr>
          <a:xfrm>
            <a:off x="8915400" y="2683800"/>
            <a:ext cx="2969640" cy="683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800" b="0" u="none" strike="noStrike">
                <a:solidFill>
                  <a:srgbClr val="000000"/>
                </a:solidFill>
                <a:effectLst/>
                <a:uFillTx/>
                <a:latin typeface="Arial"/>
                <a:ea typeface="DejaVu Sans"/>
              </a:rPr>
              <a:t>Website - CytometryInR</a:t>
            </a:r>
            <a:endParaRPr lang="en-US" sz="1800" b="0" u="none" strike="noStrike">
              <a:solidFill>
                <a:srgbClr val="000000"/>
              </a:solidFill>
              <a:effectLst/>
              <a:uFillTx/>
              <a:latin typeface="Arial"/>
            </a:endParaRPr>
          </a:p>
        </p:txBody>
      </p:sp>
      <p:sp>
        <p:nvSpPr>
          <p:cNvPr id="196" name="Rectangle 195"/>
          <p:cNvSpPr/>
          <p:nvPr/>
        </p:nvSpPr>
        <p:spPr>
          <a:xfrm>
            <a:off x="4800600" y="2683800"/>
            <a:ext cx="29696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800" b="0" u="none" strike="noStrike">
                <a:solidFill>
                  <a:srgbClr val="000000"/>
                </a:solidFill>
                <a:effectLst/>
                <a:uFillTx/>
                <a:latin typeface="Arial"/>
                <a:ea typeface="DejaVu Sans"/>
              </a:rPr>
              <a:t>Luciernaga</a:t>
            </a:r>
            <a:endParaRPr lang="en-US" sz="1800" b="0" u="none" strike="noStrike">
              <a:solidFill>
                <a:srgbClr val="000000"/>
              </a:solidFill>
              <a:effectLst/>
              <a:uFillTx/>
              <a:latin typeface="Arial"/>
            </a:endParaRPr>
          </a:p>
        </p:txBody>
      </p:sp>
      <p:sp>
        <p:nvSpPr>
          <p:cNvPr id="197" name="Rectangle 196"/>
          <p:cNvSpPr/>
          <p:nvPr/>
        </p:nvSpPr>
        <p:spPr>
          <a:xfrm>
            <a:off x="4800600" y="5149800"/>
            <a:ext cx="29696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r>
              <a:rPr lang="en-US" sz="1800" b="0" u="none" strike="noStrike">
                <a:solidFill>
                  <a:srgbClr val="000000"/>
                </a:solidFill>
                <a:effectLst/>
                <a:uFillTx/>
                <a:latin typeface="Arial"/>
                <a:ea typeface="DejaVu Sans"/>
              </a:rPr>
              <a:t>Coereba</a:t>
            </a:r>
            <a:endParaRPr lang="en-US" sz="1800" b="0" u="none" strike="noStrike">
              <a:solidFill>
                <a:srgbClr val="000000"/>
              </a:solidFill>
              <a:effectLst/>
              <a:uFillTx/>
              <a:latin typeface="Arial"/>
            </a:endParaRPr>
          </a:p>
        </p:txBody>
      </p:sp>
      <p:sp>
        <p:nvSpPr>
          <p:cNvPr id="198" name="Rectangle 197"/>
          <p:cNvSpPr/>
          <p:nvPr/>
        </p:nvSpPr>
        <p:spPr>
          <a:xfrm>
            <a:off x="457200" y="4921200"/>
            <a:ext cx="29696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chorCtr="1">
            <a:spAutoFit/>
          </a:bodyPr>
          <a:lstStyle/>
          <a:p>
            <a:pPr algn="ctr">
              <a:lnSpc>
                <a:spcPct val="100000"/>
              </a:lnSpc>
            </a:pPr>
            <a:endParaRPr lang="en-US" sz="1800" b="0" u="none" strike="noStrike">
              <a:solidFill>
                <a:srgbClr val="000000"/>
              </a:solidFill>
              <a:effectLst/>
              <a:uFillTx/>
              <a:latin typeface="Arial"/>
            </a:endParaRPr>
          </a:p>
          <a:p>
            <a:pPr algn="ctr">
              <a:lnSpc>
                <a:spcPct val="100000"/>
              </a:lnSpc>
            </a:pPr>
            <a:r>
              <a:rPr lang="en-US" sz="1800" b="0" u="none" strike="noStrike">
                <a:solidFill>
                  <a:srgbClr val="000000"/>
                </a:solidFill>
                <a:effectLst/>
                <a:uFillTx/>
                <a:latin typeface="Arial"/>
                <a:ea typeface="DejaVu Sans"/>
              </a:rPr>
              <a:t>InstrumentQC How-To</a:t>
            </a:r>
            <a:endParaRPr lang="en-US" sz="1800" b="0" u="none" strike="noStrike">
              <a:solidFill>
                <a:srgbClr val="000000"/>
              </a:solidFill>
              <a:effectLst/>
              <a:uFillTx/>
              <a:latin typeface="Arial"/>
            </a:endParaRPr>
          </a:p>
        </p:txBody>
      </p:sp>
      <p:pic>
        <p:nvPicPr>
          <p:cNvPr id="199" name="Picture 198"/>
          <p:cNvPicPr/>
          <p:nvPr/>
        </p:nvPicPr>
        <p:blipFill>
          <a:blip r:embed="rId2"/>
          <a:stretch/>
        </p:blipFill>
        <p:spPr>
          <a:xfrm>
            <a:off x="7947000" y="3470400"/>
            <a:ext cx="2109240" cy="1598040"/>
          </a:xfrm>
          <a:prstGeom prst="rect">
            <a:avLst/>
          </a:prstGeom>
          <a:noFill/>
          <a:ln w="0">
            <a:noFill/>
          </a:ln>
        </p:spPr>
      </p:pic>
      <p:pic>
        <p:nvPicPr>
          <p:cNvPr id="200" name="Picture 199"/>
          <p:cNvPicPr/>
          <p:nvPr/>
        </p:nvPicPr>
        <p:blipFill>
          <a:blip r:embed="rId3"/>
          <a:stretch/>
        </p:blipFill>
        <p:spPr>
          <a:xfrm>
            <a:off x="4095720" y="3488400"/>
            <a:ext cx="1845720" cy="1598040"/>
          </a:xfrm>
          <a:prstGeom prst="rect">
            <a:avLst/>
          </a:prstGeom>
          <a:noFill/>
          <a:ln w="0">
            <a:noFill/>
          </a:ln>
        </p:spPr>
      </p:pic>
      <p:pic>
        <p:nvPicPr>
          <p:cNvPr id="201" name="Picture 200"/>
          <p:cNvPicPr/>
          <p:nvPr/>
        </p:nvPicPr>
        <p:blipFill>
          <a:blip r:embed="rId4"/>
          <a:stretch/>
        </p:blipFill>
        <p:spPr>
          <a:xfrm>
            <a:off x="457200" y="3565440"/>
            <a:ext cx="1369440" cy="1582200"/>
          </a:xfrm>
          <a:prstGeom prst="rect">
            <a:avLst/>
          </a:prstGeom>
          <a:noFill/>
          <a:ln w="0">
            <a:noFill/>
          </a:ln>
        </p:spPr>
      </p:pic>
      <p:pic>
        <p:nvPicPr>
          <p:cNvPr id="202" name="Picture 201"/>
          <p:cNvPicPr/>
          <p:nvPr/>
        </p:nvPicPr>
        <p:blipFill>
          <a:blip r:embed="rId5"/>
          <a:stretch/>
        </p:blipFill>
        <p:spPr>
          <a:xfrm>
            <a:off x="4132080" y="963000"/>
            <a:ext cx="1845360" cy="1598040"/>
          </a:xfrm>
          <a:prstGeom prst="rect">
            <a:avLst/>
          </a:prstGeom>
          <a:noFill/>
          <a:ln w="0">
            <a:noFill/>
          </a:ln>
        </p:spPr>
      </p:pic>
      <p:pic>
        <p:nvPicPr>
          <p:cNvPr id="203" name="Picture 202"/>
          <p:cNvPicPr/>
          <p:nvPr/>
        </p:nvPicPr>
        <p:blipFill>
          <a:blip r:embed="rId6"/>
          <a:srcRect l="33723" t="6681" r="35970"/>
          <a:stretch/>
        </p:blipFill>
        <p:spPr>
          <a:xfrm rot="24000">
            <a:off x="90720" y="1087920"/>
            <a:ext cx="1956600" cy="1584360"/>
          </a:xfrm>
          <a:prstGeom prst="rect">
            <a:avLst/>
          </a:prstGeom>
          <a:noFill/>
          <a:ln w="0">
            <a:noFill/>
          </a:ln>
        </p:spPr>
      </p:pic>
      <p:pic>
        <p:nvPicPr>
          <p:cNvPr id="204" name="Picture 203"/>
          <p:cNvPicPr/>
          <p:nvPr/>
        </p:nvPicPr>
        <p:blipFill>
          <a:blip r:embed="rId2"/>
          <a:stretch/>
        </p:blipFill>
        <p:spPr>
          <a:xfrm>
            <a:off x="7947000" y="855000"/>
            <a:ext cx="2109240" cy="1598040"/>
          </a:xfrm>
          <a:prstGeom prst="rect">
            <a:avLst/>
          </a:prstGeom>
          <a:noFill/>
          <a:ln w="0">
            <a:noFill/>
          </a:ln>
        </p:spPr>
      </p:pic>
      <p:pic>
        <p:nvPicPr>
          <p:cNvPr id="205" name="Graphic 204"/>
          <p:cNvPicPr/>
          <p:nvPr/>
        </p:nvPicPr>
        <p:blipFill>
          <a:blip>
            <a:extLst>
              <a:ext uri="{96DAC541-7B7A-43D3-8B79-37D633B846F1}">
                <asvg:svgBlip xmlns:asvg="http://schemas.microsoft.com/office/drawing/2016/SVG/main" r:embed="rId7"/>
              </a:ext>
            </a:extLst>
          </a:blip>
          <a:stretch/>
        </p:blipFill>
        <p:spPr>
          <a:xfrm>
            <a:off x="6064200" y="3321000"/>
            <a:ext cx="1826640" cy="1826640"/>
          </a:xfrm>
          <a:prstGeom prst="rect">
            <a:avLst/>
          </a:prstGeom>
          <a:noFill/>
          <a:ln w="0">
            <a:noFill/>
          </a:ln>
        </p:spPr>
      </p:pic>
      <p:pic>
        <p:nvPicPr>
          <p:cNvPr id="206" name="Graphic 205"/>
          <p:cNvPicPr/>
          <p:nvPr/>
        </p:nvPicPr>
        <p:blipFill>
          <a:blip>
            <a:extLst>
              <a:ext uri="{96DAC541-7B7A-43D3-8B79-37D633B846F1}">
                <asvg:svgBlip xmlns:asvg="http://schemas.microsoft.com/office/drawing/2016/SVG/main" r:embed="rId8"/>
              </a:ext>
            </a:extLst>
          </a:blip>
          <a:stretch/>
        </p:blipFill>
        <p:spPr>
          <a:xfrm>
            <a:off x="10058400" y="3321000"/>
            <a:ext cx="1826640" cy="1826640"/>
          </a:xfrm>
          <a:prstGeom prst="rect">
            <a:avLst/>
          </a:prstGeom>
          <a:noFill/>
          <a:ln w="0">
            <a:noFill/>
          </a:ln>
        </p:spPr>
      </p:pic>
      <p:pic>
        <p:nvPicPr>
          <p:cNvPr id="207" name="Graphic 206"/>
          <p:cNvPicPr/>
          <p:nvPr/>
        </p:nvPicPr>
        <p:blipFill>
          <a:blip>
            <a:extLst>
              <a:ext uri="{96DAC541-7B7A-43D3-8B79-37D633B846F1}">
                <asvg:svgBlip xmlns:asvg="http://schemas.microsoft.com/office/drawing/2016/SVG/main" r:embed="rId9"/>
              </a:ext>
            </a:extLst>
          </a:blip>
          <a:stretch/>
        </p:blipFill>
        <p:spPr>
          <a:xfrm>
            <a:off x="6064200" y="819000"/>
            <a:ext cx="1826640" cy="1826640"/>
          </a:xfrm>
          <a:prstGeom prst="rect">
            <a:avLst/>
          </a:prstGeom>
          <a:noFill/>
          <a:ln w="0">
            <a:noFill/>
          </a:ln>
        </p:spPr>
      </p:pic>
      <p:pic>
        <p:nvPicPr>
          <p:cNvPr id="208" name="Graphic 207"/>
          <p:cNvPicPr/>
          <p:nvPr/>
        </p:nvPicPr>
        <p:blipFill>
          <a:blip>
            <a:extLst>
              <a:ext uri="{96DAC541-7B7A-43D3-8B79-37D633B846F1}">
                <asvg:svgBlip xmlns:asvg="http://schemas.microsoft.com/office/drawing/2016/SVG/main" r:embed="rId10"/>
              </a:ext>
            </a:extLst>
          </a:blip>
          <a:stretch/>
        </p:blipFill>
        <p:spPr>
          <a:xfrm>
            <a:off x="2021400" y="855000"/>
            <a:ext cx="1826640" cy="1826640"/>
          </a:xfrm>
          <a:prstGeom prst="rect">
            <a:avLst/>
          </a:prstGeom>
          <a:noFill/>
          <a:ln w="0">
            <a:noFill/>
          </a:ln>
        </p:spPr>
      </p:pic>
      <p:pic>
        <p:nvPicPr>
          <p:cNvPr id="209" name="Graphic 208"/>
          <p:cNvPicPr/>
          <p:nvPr/>
        </p:nvPicPr>
        <p:blipFill>
          <a:blip>
            <a:extLst>
              <a:ext uri="{96DAC541-7B7A-43D3-8B79-37D633B846F1}">
                <asvg:svgBlip xmlns:asvg="http://schemas.microsoft.com/office/drawing/2016/SVG/main" r:embed="rId11"/>
              </a:ext>
            </a:extLst>
          </a:blip>
          <a:stretch/>
        </p:blipFill>
        <p:spPr>
          <a:xfrm>
            <a:off x="2057400" y="3429000"/>
            <a:ext cx="1690920" cy="1690920"/>
          </a:xfrm>
          <a:prstGeom prst="rect">
            <a:avLst/>
          </a:prstGeom>
          <a:noFill/>
          <a:ln w="0">
            <a:noFill/>
          </a:ln>
        </p:spPr>
      </p:pic>
      <p:pic>
        <p:nvPicPr>
          <p:cNvPr id="210" name="Graphic 209"/>
          <p:cNvPicPr/>
          <p:nvPr/>
        </p:nvPicPr>
        <p:blipFill>
          <a:blip>
            <a:extLst>
              <a:ext uri="{96DAC541-7B7A-43D3-8B79-37D633B846F1}">
                <asvg:svgBlip xmlns:asvg="http://schemas.microsoft.com/office/drawing/2016/SVG/main" r:embed="rId12"/>
              </a:ext>
            </a:extLst>
          </a:blip>
          <a:stretch/>
        </p:blipFill>
        <p:spPr>
          <a:xfrm>
            <a:off x="10058400" y="855000"/>
            <a:ext cx="1826640" cy="1826640"/>
          </a:xfrm>
          <a:prstGeom prst="rect">
            <a:avLst/>
          </a:prstGeom>
          <a:noFill/>
          <a:ln w="0">
            <a:noFill/>
          </a:ln>
        </p:spPr>
      </p:pic>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190</TotalTime>
  <Words>2094</Words>
  <Application>Microsoft Office PowerPoint</Application>
  <PresentationFormat>Widescreen</PresentationFormat>
  <Paragraphs>212</Paragraphs>
  <Slides>34</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34</vt:i4>
      </vt:variant>
    </vt:vector>
  </HeadingPairs>
  <TitlesOfParts>
    <vt:vector size="42" baseType="lpstr">
      <vt:lpstr>Aptos</vt:lpstr>
      <vt:lpstr>Arial</vt:lpstr>
      <vt:lpstr>Symbol</vt:lpstr>
      <vt:lpstr>Times New Roman</vt:lpstr>
      <vt:lpstr>Wingdings</vt:lpstr>
      <vt:lpstr>Office</vt:lpstr>
      <vt:lpstr>Office</vt:lpstr>
      <vt:lpstr>Office</vt:lpstr>
      <vt:lpstr>A semi-supervised pipeline for a comprehensive and scalable analysis of immune heterogeneity in human samples </vt:lpstr>
      <vt:lpstr>SFC is awesome!</vt:lpstr>
      <vt:lpstr>Cross-roads deal with the devil</vt:lpstr>
      <vt:lpstr>No cell left behind</vt:lpstr>
      <vt:lpstr>Unsupervised</vt:lpstr>
      <vt:lpstr>Where does a cell population vs. flavor begin</vt:lpstr>
      <vt:lpstr>Every Panel Differs</vt:lpstr>
      <vt:lpstr>Just want to do the dataset justice</vt:lpstr>
      <vt:lpstr>Cohort</vt:lpstr>
      <vt:lpstr>Pipeline</vt:lpstr>
      <vt:lpstr>Pipeline</vt:lpstr>
      <vt:lpstr>Pipeline</vt:lpstr>
      <vt:lpstr>Pipeline</vt:lpstr>
      <vt:lpstr>Enough to anger both sides</vt:lpstr>
      <vt:lpstr>Targeting more difficult questions</vt:lpstr>
      <vt:lpstr>Spectral Flow Cytometry (SFC) is awesome!</vt:lpstr>
      <vt:lpstr>Complex Datasets, Combinatorially Exponential Clusters</vt:lpstr>
      <vt:lpstr>Complex Datasets, Combinatorially Exponential Clusters</vt:lpstr>
      <vt:lpstr>Complex Datasets, Combinatorially Exponential Clusters</vt:lpstr>
      <vt:lpstr>A crossroads deal with the Spectral Signature Devil</vt:lpstr>
      <vt:lpstr>“We discovered this new dendritic cell cluster….”</vt:lpstr>
      <vt:lpstr>More unmixing errors, more downstream batch effects </vt:lpstr>
      <vt:lpstr>Open-source tool sets specifically for  Spectral Flow Cytometry’s quirks</vt:lpstr>
      <vt:lpstr>Spectral Signature Characterization and Clustering</vt:lpstr>
      <vt:lpstr>Automated isolation of autofluorescence signatures</vt:lpstr>
      <vt:lpstr>Residual Autofluorescence peaks in Single-Color Signatures</vt:lpstr>
      <vt:lpstr>Residual Autofluorescence peaks in Single-Color Signatures</vt:lpstr>
      <vt:lpstr>Residual Autofluorescence peaks in Single-Color Signatures</vt:lpstr>
      <vt:lpstr>Semi-supervised analysis by  annotating in manual gates</vt:lpstr>
      <vt:lpstr>Current Status</vt:lpstr>
      <vt:lpstr>Current Status</vt:lpstr>
      <vt:lpstr>PowerPoint Presentation</vt:lpstr>
      <vt:lpstr>Acknowledgements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Thomas Evans</dc:creator>
  <dc:description/>
  <cp:lastModifiedBy>Rach, David</cp:lastModifiedBy>
  <cp:revision>36</cp:revision>
  <dcterms:created xsi:type="dcterms:W3CDTF">2025-07-21T11:58:18Z</dcterms:created>
  <dcterms:modified xsi:type="dcterms:W3CDTF">2026-06-08T13:50:18Z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0x010100804A9A38EF1C6344A4E9D5FEC9AF05B5</vt:lpwstr>
  </property>
  <property fmtid="{D5CDD505-2E9C-101B-9397-08002B2CF9AE}" pid="3" name="_dlc_DocIdItemGuid">
    <vt:lpwstr>4d3e5825-e8bc-4995-b9ad-4f8ee15e5c87</vt:lpwstr>
  </property>
</Properties>
</file>