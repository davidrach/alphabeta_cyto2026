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_rels/slide5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6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_rels/presentation.xml.rels" ContentType="application/vnd.openxmlformats-package.relationships+xml"/>
  <Override PartName="/ppt/media/image29.png" ContentType="image/png"/>
  <Override PartName="/ppt/media/image27.png" ContentType="image/png"/>
  <Override PartName="/ppt/media/image25.png" ContentType="image/png"/>
  <Override PartName="/ppt/media/image49.svg" ContentType="image/svg"/>
  <Override PartName="/ppt/media/image24.png" ContentType="image/png"/>
  <Override PartName="/ppt/media/image23.png" ContentType="image/png"/>
  <Override PartName="/ppt/media/image10.svg" ContentType="image/svg"/>
  <Override PartName="/ppt/media/image47.svg" ContentType="image/svg"/>
  <Override PartName="/ppt/media/image22.png" ContentType="image/png"/>
  <Override PartName="/ppt/media/image45.jpeg" ContentType="image/jpeg"/>
  <Override PartName="/ppt/media/image21.png" ContentType="image/png"/>
  <Override PartName="/ppt/media/image19.svg" ContentType="image/svg"/>
  <Override PartName="/ppt/media/image1.png" ContentType="image/png"/>
  <Override PartName="/ppt/media/image2.svg" ContentType="image/svg"/>
  <Override PartName="/ppt/media/image26.jpeg" ContentType="image/jpeg"/>
  <Override PartName="/ppt/media/image40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38.png" ContentType="image/png"/>
  <Override PartName="/ppt/media/image16.png" ContentType="image/png"/>
  <Override PartName="/ppt/media/image7.png" ContentType="image/png"/>
  <Override PartName="/ppt/media/image39.png" ContentType="image/png"/>
  <Override PartName="/ppt/media/image11.png" ContentType="image/png"/>
  <Override PartName="/ppt/media/image35.svg" ContentType="image/svg"/>
  <Override PartName="/ppt/media/image48.png" ContentType="image/png"/>
  <Override PartName="/ppt/media/image17.png" ContentType="image/png"/>
  <Override PartName="/ppt/media/image8.png" ContentType="image/png"/>
  <Override PartName="/ppt/media/image33.svg" ContentType="image/svg"/>
  <Override PartName="/ppt/media/image46.png" ContentType="image/png"/>
  <Override PartName="/ppt/media/image34.png" ContentType="image/png"/>
  <Override PartName="/ppt/media/image58.svg" ContentType="image/svg"/>
  <Override PartName="/ppt/media/image44.jpeg" ContentType="image/jpeg"/>
  <Override PartName="/ppt/media/image12.png" ContentType="image/png"/>
  <Override PartName="/ppt/media/image3.png" ContentType="image/png"/>
  <Override PartName="/ppt/media/image31.png" ContentType="image/png"/>
  <Override PartName="/ppt/media/image42.svg" ContentType="image/svg"/>
  <Override PartName="/ppt/media/image55.png" ContentType="image/png"/>
  <Override PartName="/ppt/media/image9.png" ContentType="image/png"/>
  <Override PartName="/ppt/media/image28.jpeg" ContentType="image/jpeg"/>
  <Override PartName="/ppt/media/image18.png" ContentType="image/png"/>
  <Override PartName="/ppt/media/image57.png" ContentType="image/png"/>
  <Override PartName="/ppt/media/image20.png" ContentType="image/png"/>
  <Override PartName="/ppt/media/image43.png" ContentType="image/png"/>
  <Override PartName="/ppt/media/image50.png" ContentType="image/png"/>
  <Override PartName="/ppt/media/image51.png" ContentType="image/png"/>
  <Override PartName="/ppt/media/image52.png" ContentType="image/png"/>
  <Override PartName="/ppt/media/image41.png" ContentType="image/png"/>
  <Override PartName="/ppt/media/image53.png" ContentType="image/png"/>
  <Override PartName="/ppt/media/image56.svg" ContentType="image/svg"/>
  <Override PartName="/ppt/media/image32.png" ContentType="image/png"/>
  <Override PartName="/ppt/media/image54.svg" ContentType="image/svg"/>
  <Override PartName="/ppt/media/image30.png" ContentType="image/png"/>
  <Override PartName="/ppt/media/image13.png" ContentType="image/png"/>
  <Override PartName="/ppt/media/image37.svg" ContentType="image/svg"/>
  <Override PartName="/ppt/media/image4.png" ContentType="image/png"/>
  <Override PartName="/ppt/media/image3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3160"/>
            <a:ext cx="10513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71640" cy="2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85080" y="1604520"/>
            <a:ext cx="71640" cy="2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28640"/>
            <a:ext cx="71640" cy="2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85080" y="1628640"/>
            <a:ext cx="71640" cy="2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FEB40A-004C-4599-AC60-8A3724C15D7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90280"/>
            <a:ext cx="1051344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2120" cy="189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2120" cy="189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2120" cy="189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2120" cy="189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0CD1E80-5896-45CD-92B1-50AD29F4DC3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890280"/>
            <a:ext cx="1051344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0880" cy="189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0880" cy="189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0880" cy="189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0880" cy="189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0880" cy="189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0880" cy="189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E3BC04-4EF0-4998-A646-A84A225D9E1E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2-obj-Title-and-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838080" y="713160"/>
            <a:ext cx="105134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71640" cy="2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685080" y="1604520"/>
            <a:ext cx="71640" cy="2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609480" y="1628640"/>
            <a:ext cx="71640" cy="2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85080" y="1628640"/>
            <a:ext cx="71640" cy="21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B5ACCD3-98F7-4308-B3D0-7A51E13B573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848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7240" cy="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765000" y="1604520"/>
            <a:ext cx="147240" cy="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55280"/>
            <a:ext cx="147240" cy="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765000" y="1655280"/>
            <a:ext cx="147240" cy="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27457C0-8194-44A8-A6E4-10346CD81A48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888480"/>
            <a:ext cx="105134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7240" cy="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765000" y="1604520"/>
            <a:ext cx="147240" cy="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09480" y="1655280"/>
            <a:ext cx="147240" cy="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765000" y="1655280"/>
            <a:ext cx="147240" cy="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2530FF-AE26-4193-8B84-31D30CE532E6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8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19.sv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13.png"/><Relationship Id="rId5" Type="http://schemas.openxmlformats.org/officeDocument/2006/relationships/image" Target="../media/image18.png"/><Relationship Id="rId6" Type="http://schemas.openxmlformats.org/officeDocument/2006/relationships/image" Target="../media/image19.svg"/><Relationship Id="rId7" Type="http://schemas.openxmlformats.org/officeDocument/2006/relationships/image" Target="../media/image25.png"/><Relationship Id="rId8" Type="http://schemas.openxmlformats.org/officeDocument/2006/relationships/image" Target="../media/image25.png"/><Relationship Id="rId9" Type="http://schemas.openxmlformats.org/officeDocument/2006/relationships/image" Target="../media/image26.jpeg"/><Relationship Id="rId10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13.png"/><Relationship Id="rId3" Type="http://schemas.openxmlformats.org/officeDocument/2006/relationships/image" Target="../media/image18.png"/><Relationship Id="rId4" Type="http://schemas.openxmlformats.org/officeDocument/2006/relationships/image" Target="../media/image19.svg"/><Relationship Id="rId5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image" Target="../media/image27.png"/><Relationship Id="rId5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8.png"/><Relationship Id="rId3" Type="http://schemas.openxmlformats.org/officeDocument/2006/relationships/image" Target="../media/image19.svg"/><Relationship Id="rId4" Type="http://schemas.openxmlformats.org/officeDocument/2006/relationships/image" Target="../media/image28.jpeg"/><Relationship Id="rId5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16.png"/><Relationship Id="rId5" Type="http://schemas.openxmlformats.org/officeDocument/2006/relationships/image" Target="../media/image32.png"/><Relationship Id="rId6" Type="http://schemas.openxmlformats.org/officeDocument/2006/relationships/image" Target="../media/image33.svg"/><Relationship Id="rId7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sv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svg"/><Relationship Id="rId3" Type="http://schemas.openxmlformats.org/officeDocument/2006/relationships/image" Target="../media/image38.png"/><Relationship Id="rId4" Type="http://schemas.openxmlformats.org/officeDocument/2006/relationships/image" Target="../media/image36.png"/><Relationship Id="rId5" Type="http://schemas.openxmlformats.org/officeDocument/2006/relationships/image" Target="../media/image37.svg"/><Relationship Id="rId6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svg"/><Relationship Id="rId5" Type="http://schemas.openxmlformats.org/officeDocument/2006/relationships/image" Target="../media/image43.png"/><Relationship Id="rId6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4.jpeg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4.png"/><Relationship Id="rId5" Type="http://schemas.openxmlformats.org/officeDocument/2006/relationships/image" Target="../media/image45.jpeg"/><Relationship Id="rId6" Type="http://schemas.openxmlformats.org/officeDocument/2006/relationships/image" Target="../media/image46.png"/><Relationship Id="rId7" Type="http://schemas.openxmlformats.org/officeDocument/2006/relationships/image" Target="../media/image47.svg"/><Relationship Id="rId8" Type="http://schemas.openxmlformats.org/officeDocument/2006/relationships/image" Target="../media/image48.png"/><Relationship Id="rId9" Type="http://schemas.openxmlformats.org/officeDocument/2006/relationships/image" Target="../media/image49.svg"/><Relationship Id="rId10" Type="http://schemas.openxmlformats.org/officeDocument/2006/relationships/image" Target="../media/image50.png"/><Relationship Id="rId11" Type="http://schemas.openxmlformats.org/officeDocument/2006/relationships/image" Target="../media/image51.png"/><Relationship Id="rId12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16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52.png"/><Relationship Id="rId6" Type="http://schemas.openxmlformats.org/officeDocument/2006/relationships/image" Target="../media/image40.png"/><Relationship Id="rId7" Type="http://schemas.openxmlformats.org/officeDocument/2006/relationships/image" Target="../media/image32.png"/><Relationship Id="rId8" Type="http://schemas.openxmlformats.org/officeDocument/2006/relationships/image" Target="../media/image33.svg"/><Relationship Id="rId9" Type="http://schemas.openxmlformats.org/officeDocument/2006/relationships/image" Target="../media/image53.png"/><Relationship Id="rId10" Type="http://schemas.openxmlformats.org/officeDocument/2006/relationships/image" Target="../media/image54.svg"/><Relationship Id="rId11" Type="http://schemas.openxmlformats.org/officeDocument/2006/relationships/image" Target="../media/image18.png"/><Relationship Id="rId12" Type="http://schemas.openxmlformats.org/officeDocument/2006/relationships/image" Target="../media/image19.svg"/><Relationship Id="rId13" Type="http://schemas.openxmlformats.org/officeDocument/2006/relationships/image" Target="../media/image55.png"/><Relationship Id="rId14" Type="http://schemas.openxmlformats.org/officeDocument/2006/relationships/image" Target="../media/image56.svg"/><Relationship Id="rId15" Type="http://schemas.openxmlformats.org/officeDocument/2006/relationships/image" Target="../media/image57.png"/><Relationship Id="rId16" Type="http://schemas.openxmlformats.org/officeDocument/2006/relationships/image" Target="../media/image58.svg"/><Relationship Id="rId17" Type="http://schemas.openxmlformats.org/officeDocument/2006/relationships/image" Target="../media/image41.png"/><Relationship Id="rId18" Type="http://schemas.openxmlformats.org/officeDocument/2006/relationships/image" Target="../media/image42.svg"/><Relationship Id="rId19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143360" y="3475440"/>
            <a:ext cx="1051344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fontScale="77500" lnSpcReduction="19999"/>
          </a:bodyPr>
          <a:p>
            <a:pPr indent="0" algn="ctr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No Cells Left Behind: Wrangling the Full Biological Discovery Potential out of Spectral Flow Cytometry (SFC) datasets  </a:t>
            </a:r>
            <a:br>
              <a:rPr sz="3600"/>
            </a:b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914760" y="4572000"/>
            <a:ext cx="10513440" cy="25124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by David Rach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>
              <a:lnSpc>
                <a:spcPts val="72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UMGCCC Flow Cytometry Shared Resource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>
              <a:lnSpc>
                <a:spcPts val="72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Noto Sans CJK SC"/>
              </a:rPr>
              <a:t>March 30, 2026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57200" y="228600"/>
            <a:ext cx="4116600" cy="108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" name="" descr=""/>
          <p:cNvPicPr/>
          <p:nvPr/>
        </p:nvPicPr>
        <p:blipFill>
          <a:blip r:embed="rId3"/>
          <a:stretch/>
        </p:blipFill>
        <p:spPr>
          <a:xfrm>
            <a:off x="10515600" y="6172200"/>
            <a:ext cx="1143000" cy="401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" name="" descr=""/>
          <p:cNvPicPr/>
          <p:nvPr/>
        </p:nvPicPr>
        <p:blipFill>
          <a:blip r:embed="rId4"/>
          <a:stretch/>
        </p:blipFill>
        <p:spPr>
          <a:xfrm>
            <a:off x="8458200" y="228600"/>
            <a:ext cx="3426840" cy="1347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400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Spectral Flow Cytometry (SFC) is awesome!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Picture 20" descr="A graph of different colored lines&#10;&#10;AI-generated content may be incorrect."/>
          <p:cNvPicPr/>
          <p:nvPr/>
        </p:nvPicPr>
        <p:blipFill>
          <a:blip r:embed="rId1"/>
          <a:srcRect l="0" t="8333" r="0" b="0"/>
          <a:stretch/>
        </p:blipFill>
        <p:spPr>
          <a:xfrm>
            <a:off x="457200" y="1443600"/>
            <a:ext cx="5712840" cy="3926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"/>
          <p:cNvSpPr/>
          <p:nvPr/>
        </p:nvSpPr>
        <p:spPr>
          <a:xfrm>
            <a:off x="6498000" y="1445400"/>
            <a:ext cx="53884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Capacity to resolve spectrally similar fluorophores: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greater number markers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per panel than Conventional Flow Cytometry (CFC)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498000" y="2586600"/>
            <a:ext cx="4930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Faster acquisition speed: typically 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far more cells per .fcs file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than Mass Cytometry (MC)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6498000" y="3357000"/>
            <a:ext cx="49302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Analytical breadth and depth permits characterization rare cell populations (and potentially millions of other non-target cells)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6498000" y="4415400"/>
            <a:ext cx="4930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Invaluable for human clinical samples with limited biospecimen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9032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Complex Datasets,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" descr=""/>
          <p:cNvPicPr/>
          <p:nvPr/>
        </p:nvPicPr>
        <p:blipFill>
          <a:blip r:embed="rId1"/>
          <a:stretch/>
        </p:blipFill>
        <p:spPr>
          <a:xfrm>
            <a:off x="6629400" y="960840"/>
            <a:ext cx="5027040" cy="447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"/>
          <p:cNvSpPr/>
          <p:nvPr/>
        </p:nvSpPr>
        <p:spPr>
          <a:xfrm>
            <a:off x="554400" y="1155600"/>
            <a:ext cx="6301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If you are interested in a single population of cells, analysis process remains essentially unchanged.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554400" y="1854000"/>
            <a:ext cx="60732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If your goal is to characterize all cell populations that may be present, the breadth and depth complicate the analysis.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9032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Complex Datasets,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" name="" descr=""/>
          <p:cNvPicPr/>
          <p:nvPr/>
        </p:nvPicPr>
        <p:blipFill>
          <a:blip r:embed="rId1"/>
          <a:stretch/>
        </p:blipFill>
        <p:spPr>
          <a:xfrm>
            <a:off x="6629400" y="960840"/>
            <a:ext cx="5027040" cy="447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"/>
          <p:cNvSpPr/>
          <p:nvPr/>
        </p:nvSpPr>
        <p:spPr>
          <a:xfrm>
            <a:off x="554400" y="1155600"/>
            <a:ext cx="6301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If you are interested in a single population of cells, analysis process remains essentially unchanged.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554400" y="1854000"/>
            <a:ext cx="60732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If your goal is to characterize all cell populations that may be present, the breadth and depth complicate the analysis.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554400" y="2806200"/>
            <a:ext cx="6073560" cy="1866600"/>
          </a:xfrm>
          <a:prstGeom prst="rect">
            <a:avLst/>
          </a:prstGeom>
          <a:noFill/>
          <a:ln w="3672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>
              <a:lnSpc>
                <a:spcPts val="1585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If we step back, and consider 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 a given marker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585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We split cells 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positive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and 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negative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populations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585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Repeat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the splitting process 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 every marker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585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Group cells that have shared expression of every single marker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585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Theoretical upper number of clusters would be 2</a:t>
            </a:r>
            <a:r>
              <a:rPr b="0" lang="en-US" sz="1800" strike="noStrike" u="none" baseline="3300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9032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Complex Datasets, Combinatorially Exponential Clusters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" descr=""/>
          <p:cNvPicPr/>
          <p:nvPr/>
        </p:nvPicPr>
        <p:blipFill>
          <a:blip r:embed="rId1"/>
          <a:stretch/>
        </p:blipFill>
        <p:spPr>
          <a:xfrm>
            <a:off x="6629400" y="960840"/>
            <a:ext cx="5027040" cy="447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"/>
          <p:cNvSpPr/>
          <p:nvPr/>
        </p:nvSpPr>
        <p:spPr>
          <a:xfrm>
            <a:off x="554400" y="1155600"/>
            <a:ext cx="6301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If you are interested in a single population of cells, analysis process remains essentially unchanged.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554400" y="1854000"/>
            <a:ext cx="60732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If your goal is to characterize all cell populations that may be present, the breadth and depth complicate the analysis.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554400" y="2806200"/>
            <a:ext cx="6073560" cy="1866600"/>
          </a:xfrm>
          <a:prstGeom prst="rect">
            <a:avLst/>
          </a:prstGeom>
          <a:noFill/>
          <a:ln w="3672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360" rIns="108360" tIns="63360" bIns="63360" anchor="t">
            <a:spAutoFit/>
          </a:bodyPr>
          <a:p>
            <a:pPr>
              <a:lnSpc>
                <a:spcPts val="1585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If we step back, and consider 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 a given marker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585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We split cells 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positive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and 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negative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populations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585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Repeat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the splitting process 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 every marker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585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Group cells that have shared expression of every single marker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585"/>
              </a:lnSpc>
              <a:spcBef>
                <a:spcPts val="624"/>
              </a:spcBef>
              <a:spcAft>
                <a:spcPts val="425"/>
              </a:spcAf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- Theoretical upper number of clusters would be 2</a:t>
            </a:r>
            <a:r>
              <a:rPr b="0" lang="en-US" sz="1800" strike="noStrike" u="none" baseline="3300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555480" y="4800600"/>
            <a:ext cx="515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9-color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CFC panel: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512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clusters at most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529200" y="5065200"/>
            <a:ext cx="5844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40-color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SFC panel: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1.09e+12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clusters at most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032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 crossroads deal with the Spectral Signature Devil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392040" y="1600200"/>
            <a:ext cx="5549400" cy="388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"/>
          <p:cNvSpPr/>
          <p:nvPr/>
        </p:nvSpPr>
        <p:spPr>
          <a:xfrm>
            <a:off x="6172200" y="1600200"/>
            <a:ext cx="5713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Consequently, there is a need for semi-supervised and unsupervised algorithmic analytical approaches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6213960" y="2403000"/>
            <a:ext cx="54428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Immense potential for biological discovery, but at the cost of a major trade-off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6213960" y="4114800"/>
            <a:ext cx="54428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 closely the fluorescent signatures of our unmixing controls (single-color and unstained)  match the spectral signatures as present on the full-stained cells is critical to this final data quality.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6213960" y="3200400"/>
            <a:ext cx="54428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Quality of our final data depends on our ability to infer the fluorophores present on individual fully-stained cells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1219032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“We discovered this new dendritic cell cluster….”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" descr=""/>
          <p:cNvPicPr/>
          <p:nvPr/>
        </p:nvPicPr>
        <p:blipFill>
          <a:blip r:embed="rId1"/>
          <a:stretch/>
        </p:blipFill>
        <p:spPr>
          <a:xfrm>
            <a:off x="1987200" y="914400"/>
            <a:ext cx="6693480" cy="465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372600" y="2391120"/>
            <a:ext cx="1722600" cy="1722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9032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More unmixing errors, more downstream batch effects 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" descr=""/>
          <p:cNvPicPr/>
          <p:nvPr/>
        </p:nvPicPr>
        <p:blipFill>
          <a:blip r:embed="rId1"/>
          <a:stretch/>
        </p:blipFill>
        <p:spPr>
          <a:xfrm>
            <a:off x="262080" y="1780200"/>
            <a:ext cx="6136560" cy="296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"/>
          <p:cNvSpPr/>
          <p:nvPr/>
        </p:nvSpPr>
        <p:spPr>
          <a:xfrm>
            <a:off x="6401520" y="2372400"/>
            <a:ext cx="54849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Existing quality control algorithms (PeacoQC, FlowAI, etc.) primarily focus on detecting laser and fluidic issues in already acquired .fcs files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6401520" y="1371600"/>
            <a:ext cx="54849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Despite the critical importance unmixing controls play, few tools permit us to determine quality of the individual control before unmixing occurs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6401160" y="3380400"/>
            <a:ext cx="54846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Unmixing errors can be introduced by tandem degradation, additional autofluorescences, undiagnosed instrumental issues, etc.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6400800" y="4368600"/>
            <a:ext cx="54849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Unmixing errors contribute to batch effects, and require complicated troubleshooting to be able to proceed with the downstream analysis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9032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Open-source tool sets specifically for</a:t>
            </a:r>
            <a:br>
              <a:rPr sz="3600"/>
            </a:b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Spectral Flow Cytometry’s quirks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5391360" y="1828800"/>
            <a:ext cx="1922040" cy="222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" descr=""/>
          <p:cNvPicPr/>
          <p:nvPr/>
        </p:nvPicPr>
        <p:blipFill>
          <a:blip r:embed="rId2"/>
          <a:stretch/>
        </p:blipFill>
        <p:spPr>
          <a:xfrm>
            <a:off x="1371600" y="2057400"/>
            <a:ext cx="2109240" cy="182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" name="" descr=""/>
          <p:cNvPicPr/>
          <p:nvPr/>
        </p:nvPicPr>
        <p:blipFill>
          <a:blip r:embed="rId3"/>
          <a:stretch/>
        </p:blipFill>
        <p:spPr>
          <a:xfrm>
            <a:off x="10654920" y="343080"/>
            <a:ext cx="1325520" cy="1026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" descr=""/>
          <p:cNvPicPr/>
          <p:nvPr/>
        </p:nvPicPr>
        <p:blipFill>
          <a:blip r:embed="rId4"/>
          <a:stretch/>
        </p:blipFill>
        <p:spPr>
          <a:xfrm rot="3600">
            <a:off x="227160" y="174240"/>
            <a:ext cx="1423440" cy="1423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 descr=""/>
          <p:cNvPicPr/>
          <p:nvPr/>
        </p:nvPicPr>
        <p:blipFill>
          <a:blip r:embed="rId5"/>
          <a:stretch/>
        </p:blipFill>
        <p:spPr>
          <a:xfrm>
            <a:off x="9144000" y="1910880"/>
            <a:ext cx="2279160" cy="197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"/>
          <p:cNvSpPr/>
          <p:nvPr/>
        </p:nvSpPr>
        <p:spPr>
          <a:xfrm>
            <a:off x="685800" y="4114800"/>
            <a:ext cx="3427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Spectral Signature Characterization and Isolation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4572000" y="4114800"/>
            <a:ext cx="3427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Automated Instrument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Quality-Control Dashboards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8458200" y="4114800"/>
            <a:ext cx="34272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Semi-supervised analysis via incorporation of manually-annotated gating information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2275920" y="228600"/>
            <a:ext cx="799884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Spectral Signature Characterization and Clustering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6553440" y="1600200"/>
            <a:ext cx="2817360" cy="211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"/>
          <p:cNvSpPr/>
          <p:nvPr/>
        </p:nvSpPr>
        <p:spPr>
          <a:xfrm>
            <a:off x="277200" y="1923840"/>
            <a:ext cx="5592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 individual cells, it characterizes the cell’s normalized fluorescent signature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" descr=""/>
          <p:cNvPicPr/>
          <p:nvPr/>
        </p:nvPicPr>
        <p:blipFill>
          <a:blip r:embed="rId2"/>
          <a:stretch/>
        </p:blipFill>
        <p:spPr>
          <a:xfrm>
            <a:off x="228600" y="198360"/>
            <a:ext cx="1616760" cy="140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" name="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515600" y="152280"/>
            <a:ext cx="1446120" cy="144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"/>
          <p:cNvSpPr/>
          <p:nvPr/>
        </p:nvSpPr>
        <p:spPr>
          <a:xfrm>
            <a:off x="277200" y="2562120"/>
            <a:ext cx="5844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Cells that share normalized spectral signature peaks at individual detectors are then clustered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325800" y="3202200"/>
            <a:ext cx="63018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Fluorophore vials in good condition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: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we retrieve few normalized signatures from the raw .fcs file for each single-color unmixing control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253800" y="4114800"/>
            <a:ext cx="6303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When the</a:t>
            </a:r>
            <a:r>
              <a:rPr b="0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b="1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tandem fluorophore decouples or degrades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, noticeable increase in variant signatures, flag the issue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228600" y="4800600"/>
            <a:ext cx="6170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Setting up automation to retrieve and process reference controls for individual users experiments during off-hours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" descr=""/>
          <p:cNvPicPr/>
          <p:nvPr/>
        </p:nvPicPr>
        <p:blipFill>
          <a:blip r:embed="rId5"/>
          <a:stretch/>
        </p:blipFill>
        <p:spPr>
          <a:xfrm>
            <a:off x="6629400" y="3714480"/>
            <a:ext cx="5256000" cy="1710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" descr=""/>
          <p:cNvPicPr/>
          <p:nvPr/>
        </p:nvPicPr>
        <p:blipFill>
          <a:blip r:embed="rId6"/>
          <a:srcRect l="0" t="6352" r="45113" b="0"/>
          <a:stretch/>
        </p:blipFill>
        <p:spPr>
          <a:xfrm>
            <a:off x="9372600" y="1600200"/>
            <a:ext cx="2284200" cy="2055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914400" y="298080"/>
            <a:ext cx="10513440" cy="1094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rmAutofit lnSpcReduction="9999"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Automated isolation of autofluorescence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" descr=""/>
          <p:cNvPicPr/>
          <p:nvPr/>
        </p:nvPicPr>
        <p:blipFill>
          <a:blip r:embed="rId1"/>
          <a:stretch/>
        </p:blipFill>
        <p:spPr>
          <a:xfrm>
            <a:off x="4703400" y="1564200"/>
            <a:ext cx="2969640" cy="222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" descr=""/>
          <p:cNvPicPr/>
          <p:nvPr/>
        </p:nvPicPr>
        <p:blipFill>
          <a:blip r:embed="rId2"/>
          <a:stretch/>
        </p:blipFill>
        <p:spPr>
          <a:xfrm>
            <a:off x="9932760" y="1632240"/>
            <a:ext cx="2257560" cy="2023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9" name="" descr=""/>
          <p:cNvPicPr/>
          <p:nvPr/>
        </p:nvPicPr>
        <p:blipFill>
          <a:blip r:embed="rId3"/>
          <a:stretch/>
        </p:blipFill>
        <p:spPr>
          <a:xfrm>
            <a:off x="7774920" y="1652760"/>
            <a:ext cx="2053080" cy="200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"/>
          <p:cNvSpPr/>
          <p:nvPr/>
        </p:nvSpPr>
        <p:spPr>
          <a:xfrm>
            <a:off x="205200" y="1602000"/>
            <a:ext cx="54860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Adapt this appproach to isolate out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autofluorescence signatures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from unstained controls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" name="" descr=""/>
          <p:cNvPicPr/>
          <p:nvPr/>
        </p:nvPicPr>
        <p:blipFill>
          <a:blip r:embed="rId4"/>
          <a:stretch/>
        </p:blipFill>
        <p:spPr>
          <a:xfrm>
            <a:off x="156600" y="70560"/>
            <a:ext cx="1598040" cy="138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744200" y="118080"/>
            <a:ext cx="1369800" cy="136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"/>
          <p:cNvSpPr/>
          <p:nvPr/>
        </p:nvSpPr>
        <p:spPr>
          <a:xfrm>
            <a:off x="218520" y="2624760"/>
            <a:ext cx="44730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Create .fcs files with purified autofloresence signatures, to use for unmixing with commercial software.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228600" y="3639960"/>
            <a:ext cx="457164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Isolated cells share same normalized signature, only differing in brightness, unlike the current Autoflorescence Explorer or gating a dimensionality-visualized island style approaches to autofluorescence isolation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" descr=""/>
          <p:cNvPicPr/>
          <p:nvPr/>
        </p:nvPicPr>
        <p:blipFill>
          <a:blip r:embed="rId7"/>
          <a:srcRect l="43916" t="-1016" r="12149" b="0"/>
          <a:stretch/>
        </p:blipFill>
        <p:spPr>
          <a:xfrm>
            <a:off x="6858000" y="3756600"/>
            <a:ext cx="1952640" cy="1775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6" name="" descr=""/>
          <p:cNvPicPr/>
          <p:nvPr/>
        </p:nvPicPr>
        <p:blipFill>
          <a:blip r:embed="rId8"/>
          <a:srcRect l="0" t="0" r="56071" b="0"/>
          <a:stretch/>
        </p:blipFill>
        <p:spPr>
          <a:xfrm>
            <a:off x="4800600" y="3746520"/>
            <a:ext cx="1827000" cy="178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" descr=""/>
          <p:cNvPicPr/>
          <p:nvPr/>
        </p:nvPicPr>
        <p:blipFill>
          <a:blip r:embed="rId9"/>
          <a:srcRect l="0" t="0" r="53638" b="49991"/>
          <a:stretch/>
        </p:blipFill>
        <p:spPr>
          <a:xfrm>
            <a:off x="8915400" y="3814200"/>
            <a:ext cx="1827000" cy="179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1165644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Residual Autofluorescence peaks</a:t>
            </a:r>
            <a:br>
              <a:rPr sz="3600"/>
            </a:b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 Single-Color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" descr=""/>
          <p:cNvPicPr/>
          <p:nvPr/>
        </p:nvPicPr>
        <p:blipFill>
          <a:blip r:embed="rId1"/>
          <a:srcRect l="0" t="0" r="0" b="45221"/>
          <a:stretch/>
        </p:blipFill>
        <p:spPr>
          <a:xfrm>
            <a:off x="228600" y="1828800"/>
            <a:ext cx="11630160" cy="251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0" name="" descr=""/>
          <p:cNvPicPr/>
          <p:nvPr/>
        </p:nvPicPr>
        <p:blipFill>
          <a:blip r:embed="rId2"/>
          <a:stretch/>
        </p:blipFill>
        <p:spPr>
          <a:xfrm>
            <a:off x="228600" y="214200"/>
            <a:ext cx="1598400" cy="138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97760" y="182520"/>
            <a:ext cx="1415880" cy="141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"/>
          <p:cNvSpPr/>
          <p:nvPr/>
        </p:nvSpPr>
        <p:spPr>
          <a:xfrm>
            <a:off x="228600" y="4547520"/>
            <a:ext cx="1165680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 cell controls with a </a:t>
            </a:r>
            <a:r>
              <a:rPr b="1" lang="en-US" sz="20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moderate density antigen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on </a:t>
            </a:r>
            <a:r>
              <a:rPr b="1" lang="en-US" sz="20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bright fluorophores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, we see that any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residual autofluorescence contributes minimally to the overall isolated single-color signature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when gated according to best practices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228600" y="4114800"/>
            <a:ext cx="684000" cy="2268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4" name=""/>
          <p:cNvSpPr/>
          <p:nvPr/>
        </p:nvSpPr>
        <p:spPr>
          <a:xfrm>
            <a:off x="4114800" y="4114800"/>
            <a:ext cx="684000" cy="2268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5" name=""/>
          <p:cNvSpPr/>
          <p:nvPr/>
        </p:nvSpPr>
        <p:spPr>
          <a:xfrm>
            <a:off x="8458200" y="4114800"/>
            <a:ext cx="684000" cy="2268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6" name=""/>
          <p:cNvSpPr/>
          <p:nvPr/>
        </p:nvSpPr>
        <p:spPr>
          <a:xfrm rot="144600">
            <a:off x="5058720" y="4235040"/>
            <a:ext cx="3430440" cy="2314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7" name=""/>
          <p:cNvSpPr/>
          <p:nvPr/>
        </p:nvSpPr>
        <p:spPr>
          <a:xfrm rot="144600">
            <a:off x="8644320" y="4222800"/>
            <a:ext cx="3430440" cy="23148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1165644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Residual Autofluorescence peaks</a:t>
            </a:r>
            <a:br>
              <a:rPr sz="3600"/>
            </a:b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 Single-Color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228600" y="4619520"/>
            <a:ext cx="1165680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For cell controls with a </a:t>
            </a: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moderate density antigen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on </a:t>
            </a:r>
            <a:r>
              <a:rPr b="1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dim fluorophores,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 see substantial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residual autofluorescence contributions to the isolated single-color normalized signatures even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when gated according to best practices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" descr=""/>
          <p:cNvPicPr/>
          <p:nvPr/>
        </p:nvPicPr>
        <p:blipFill>
          <a:blip r:embed="rId1"/>
          <a:stretch/>
        </p:blipFill>
        <p:spPr>
          <a:xfrm>
            <a:off x="228600" y="214200"/>
            <a:ext cx="1598400" cy="138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1" name="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697760" y="182520"/>
            <a:ext cx="1415880" cy="14158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32" name=""/>
          <p:cNvGrpSpPr/>
          <p:nvPr/>
        </p:nvGrpSpPr>
        <p:grpSpPr>
          <a:xfrm>
            <a:off x="0" y="1756800"/>
            <a:ext cx="11885400" cy="2584800"/>
            <a:chOff x="0" y="1756800"/>
            <a:chExt cx="11885400" cy="2584800"/>
          </a:xfrm>
        </p:grpSpPr>
        <p:pic>
          <p:nvPicPr>
            <p:cNvPr id="133" name="" descr=""/>
            <p:cNvPicPr/>
            <p:nvPr/>
          </p:nvPicPr>
          <p:blipFill>
            <a:blip r:embed="rId4"/>
            <a:srcRect l="0" t="47914" r="0" b="0"/>
            <a:stretch/>
          </p:blipFill>
          <p:spPr>
            <a:xfrm>
              <a:off x="0" y="1900080"/>
              <a:ext cx="11885400" cy="24415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4" name=""/>
            <p:cNvSpPr/>
            <p:nvPr/>
          </p:nvSpPr>
          <p:spPr>
            <a:xfrm>
              <a:off x="0" y="1788840"/>
              <a:ext cx="4113000" cy="22680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35" name=""/>
            <p:cNvSpPr/>
            <p:nvPr/>
          </p:nvSpPr>
          <p:spPr>
            <a:xfrm>
              <a:off x="4343400" y="1756800"/>
              <a:ext cx="4113000" cy="22680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136" name=""/>
            <p:cNvSpPr/>
            <p:nvPr/>
          </p:nvSpPr>
          <p:spPr>
            <a:xfrm>
              <a:off x="7772400" y="1756800"/>
              <a:ext cx="4113000" cy="22680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1165644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Residual Autofluorescence peaks</a:t>
            </a:r>
            <a:br>
              <a:rPr sz="3600"/>
            </a:b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 Single-Color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" descr=""/>
          <p:cNvPicPr/>
          <p:nvPr/>
        </p:nvPicPr>
        <p:blipFill>
          <a:blip r:embed="rId1"/>
          <a:stretch/>
        </p:blipFill>
        <p:spPr>
          <a:xfrm>
            <a:off x="228600" y="214200"/>
            <a:ext cx="1598400" cy="138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697760" y="182520"/>
            <a:ext cx="1415880" cy="1415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0" name="Picture 26" descr="A group of images of a square&#10;&#10;AI-generated content may be incorrect."/>
          <p:cNvPicPr/>
          <p:nvPr/>
        </p:nvPicPr>
        <p:blipFill>
          <a:blip r:embed="rId4"/>
          <a:srcRect l="0" t="67054" r="0" b="0"/>
          <a:stretch/>
        </p:blipFill>
        <p:spPr>
          <a:xfrm>
            <a:off x="2347560" y="1754640"/>
            <a:ext cx="7023240" cy="3357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Box 5"/>
          <p:cNvSpPr/>
          <p:nvPr/>
        </p:nvSpPr>
        <p:spPr>
          <a:xfrm>
            <a:off x="228600" y="2875320"/>
            <a:ext cx="2512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PE signature with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9372600" y="2827800"/>
            <a:ext cx="2437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PE signature without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228600" y="4871520"/>
            <a:ext cx="1165680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This residual autofluorescence contribution results in unmixing errors,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and the panel unmixing significantly improved when switched out for bead controls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1371600" y="228600"/>
            <a:ext cx="1051344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Semi-supervised analysis by </a:t>
            </a:r>
            <a:br>
              <a:rPr sz="3600"/>
            </a:b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annotating in manual gates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5" name=""/>
          <p:cNvGrpSpPr/>
          <p:nvPr/>
        </p:nvGrpSpPr>
        <p:grpSpPr>
          <a:xfrm>
            <a:off x="4561920" y="1818720"/>
            <a:ext cx="7313400" cy="3198600"/>
            <a:chOff x="4561920" y="1818720"/>
            <a:chExt cx="7313400" cy="3198600"/>
          </a:xfrm>
        </p:grpSpPr>
        <p:pic>
          <p:nvPicPr>
            <p:cNvPr id="146" name="" descr=""/>
            <p:cNvPicPr/>
            <p:nvPr/>
          </p:nvPicPr>
          <p:blipFill>
            <a:blip r:embed="rId1"/>
            <a:stretch/>
          </p:blipFill>
          <p:spPr>
            <a:xfrm>
              <a:off x="6696360" y="3306240"/>
              <a:ext cx="5178600" cy="1711080"/>
            </a:xfrm>
            <a:prstGeom prst="rect">
              <a:avLst/>
            </a:prstGeom>
            <a:noFill/>
            <a:ln w="0">
              <a:noFill/>
            </a:ln>
          </p:spPr>
        </p:pic>
        <p:grpSp>
          <p:nvGrpSpPr>
            <p:cNvPr id="147" name=""/>
            <p:cNvGrpSpPr/>
            <p:nvPr/>
          </p:nvGrpSpPr>
          <p:grpSpPr>
            <a:xfrm>
              <a:off x="6265080" y="1818720"/>
              <a:ext cx="5610240" cy="1497240"/>
              <a:chOff x="6265080" y="1818720"/>
              <a:chExt cx="5610240" cy="1497240"/>
            </a:xfrm>
          </p:grpSpPr>
          <p:pic>
            <p:nvPicPr>
              <p:cNvPr id="148" name="" descr=""/>
              <p:cNvPicPr/>
              <p:nvPr/>
            </p:nvPicPr>
            <p:blipFill>
              <a:blip r:embed="rId2"/>
              <a:srcRect l="0" t="44464" r="9095" b="0"/>
              <a:stretch/>
            </p:blipFill>
            <p:spPr>
              <a:xfrm>
                <a:off x="6697080" y="1905840"/>
                <a:ext cx="5178240" cy="14101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sp>
            <p:nvSpPr>
              <p:cNvPr id="149" name=""/>
              <p:cNvSpPr/>
              <p:nvPr/>
            </p:nvSpPr>
            <p:spPr>
              <a:xfrm>
                <a:off x="6265080" y="1818720"/>
                <a:ext cx="5610240" cy="233280"/>
              </a:xfrm>
              <a:prstGeom prst="rect">
                <a:avLst/>
              </a:prstGeom>
              <a:solidFill>
                <a:srgbClr val="ffffff"/>
              </a:solidFill>
              <a:ln w="0">
                <a:solidFill>
                  <a:srgbClr val="ffffff"/>
                </a:solidFill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ctr">
                <a:noAutofit/>
              </a:bodyPr>
              <a:p>
                <a:pPr>
                  <a:lnSpc>
                    <a:spcPct val="100000"/>
                  </a:lnSpc>
                </a:pPr>
                <a:endParaRPr b="0" lang="en-US" sz="1800" strike="noStrike" u="none">
                  <a:solidFill>
                    <a:srgbClr val="000000"/>
                  </a:solidFill>
                  <a:effectLst/>
                  <a:uFillTx/>
                  <a:latin typeface="Arial"/>
                  <a:ea typeface="DejaVu Sans"/>
                </a:endParaRPr>
              </a:p>
            </p:txBody>
          </p:sp>
        </p:grpSp>
        <p:pic>
          <p:nvPicPr>
            <p:cNvPr id="150" name="" descr=""/>
            <p:cNvPicPr/>
            <p:nvPr/>
          </p:nvPicPr>
          <p:blipFill>
            <a:blip r:embed="rId3"/>
            <a:stretch/>
          </p:blipFill>
          <p:spPr>
            <a:xfrm>
              <a:off x="4561920" y="2021040"/>
              <a:ext cx="1917000" cy="299628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51" name=""/>
          <p:cNvSpPr/>
          <p:nvPr/>
        </p:nvSpPr>
        <p:spPr>
          <a:xfrm>
            <a:off x="228600" y="2058480"/>
            <a:ext cx="413856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Comprehensive automated manual-gating information is appended to individual cells in an .fcs file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" descr=""/>
          <p:cNvPicPr/>
          <p:nvPr/>
        </p:nvPicPr>
        <p:blipFill>
          <a:blip r:embed="rId4"/>
          <a:stretch/>
        </p:blipFill>
        <p:spPr>
          <a:xfrm>
            <a:off x="72000" y="108000"/>
            <a:ext cx="1845720" cy="159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3" name="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10515600" y="0"/>
            <a:ext cx="1598040" cy="1598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"/>
          <p:cNvSpPr/>
          <p:nvPr/>
        </p:nvSpPr>
        <p:spPr>
          <a:xfrm>
            <a:off x="203040" y="3200400"/>
            <a:ext cx="41385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Can be passed to unsupervised algorithms for quality control, normalization, clustering, dimensionality visualization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203040" y="4528080"/>
            <a:ext cx="4138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Can retrieve underlying supervised gating information afterwards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85800" y="46080"/>
            <a:ext cx="1051344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Current Status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7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63000" y="3429000"/>
            <a:ext cx="3835800" cy="1112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"/>
          <p:cNvSpPr/>
          <p:nvPr/>
        </p:nvSpPr>
        <p:spPr>
          <a:xfrm>
            <a:off x="457200" y="1510560"/>
            <a:ext cx="44730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All packages are available via our GitHub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Fixing bugs and updating documentation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Submitting Bioconductor this year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4572000" y="1510560"/>
            <a:ext cx="1497600" cy="1497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85800" y="46080"/>
            <a:ext cx="1051344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Current Status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1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963000" y="3429000"/>
            <a:ext cx="3835800" cy="111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2" name="" descr=""/>
          <p:cNvPicPr/>
          <p:nvPr/>
        </p:nvPicPr>
        <p:blipFill>
          <a:blip r:embed="rId3"/>
          <a:stretch/>
        </p:blipFill>
        <p:spPr>
          <a:xfrm>
            <a:off x="6400800" y="1600200"/>
            <a:ext cx="4798800" cy="268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"/>
          <p:cNvSpPr/>
          <p:nvPr/>
        </p:nvSpPr>
        <p:spPr>
          <a:xfrm>
            <a:off x="457200" y="1510560"/>
            <a:ext cx="44730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All packages are available via our GitHub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Fixing Bugs and updating Documentation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Submitting Bioconductor this year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6400800" y="4343400"/>
            <a:ext cx="4473000" cy="8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What good is a tool that the community can’t use?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4572000" y="1510560"/>
            <a:ext cx="1497600" cy="1497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/>
          </p:nvPr>
        </p:nvSpPr>
        <p:spPr>
          <a:xfrm>
            <a:off x="228600" y="2514600"/>
            <a:ext cx="6398640" cy="683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Free weekly Cytometry in R course, offered both in-person and online via YouTube livestreams.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" descr=""/>
          <p:cNvPicPr/>
          <p:nvPr/>
        </p:nvPicPr>
        <p:blipFill>
          <a:blip r:embed="rId1"/>
          <a:stretch/>
        </p:blipFill>
        <p:spPr>
          <a:xfrm>
            <a:off x="6172200" y="2286000"/>
            <a:ext cx="5712840" cy="3357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" descr=""/>
          <p:cNvPicPr/>
          <p:nvPr/>
        </p:nvPicPr>
        <p:blipFill>
          <a:blip r:embed="rId2"/>
          <a:stretch/>
        </p:blipFill>
        <p:spPr>
          <a:xfrm>
            <a:off x="29880" y="228600"/>
            <a:ext cx="2410560" cy="182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9" name="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359000" y="228600"/>
            <a:ext cx="1826640" cy="182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" descr=""/>
          <p:cNvPicPr/>
          <p:nvPr/>
        </p:nvPicPr>
        <p:blipFill>
          <a:blip r:embed="rId5"/>
          <a:stretch/>
        </p:blipFill>
        <p:spPr>
          <a:xfrm>
            <a:off x="2322000" y="228600"/>
            <a:ext cx="7998840" cy="179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PlaceHolder 7"/>
          <p:cNvSpPr/>
          <p:nvPr/>
        </p:nvSpPr>
        <p:spPr>
          <a:xfrm>
            <a:off x="228960" y="3429360"/>
            <a:ext cx="6398640" cy="6836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432000" indent="-324000">
              <a:lnSpc>
                <a:spcPts val="72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Aimed at those with prior cytometry experience,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but no-to-little coding experience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8"/>
          <p:cNvSpPr/>
          <p:nvPr/>
        </p:nvSpPr>
        <p:spPr>
          <a:xfrm>
            <a:off x="228600" y="4800960"/>
            <a:ext cx="5713200" cy="6836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Around 2000 interest forms completed, between 300-500 weekly participants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PlaceHolder 9"/>
          <p:cNvSpPr/>
          <p:nvPr/>
        </p:nvSpPr>
        <p:spPr>
          <a:xfrm>
            <a:off x="228960" y="4114800"/>
            <a:ext cx="6398640" cy="6836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Started in February, will be exploring from beginner to advanced topics for at least 30 weeks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984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Acknowledgements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0" y="1371600"/>
            <a:ext cx="3655440" cy="18266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>
            <a:normAutofit/>
          </a:bodyPr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en-US" sz="1800" strike="noStrike" u="sng">
                <a:solidFill>
                  <a:srgbClr val="000000"/>
                </a:solidFill>
                <a:effectLst/>
                <a:uFillTx/>
                <a:latin typeface="Arial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Dr. Xiaoxuan Fan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Dr. Natarajan Ayithan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Mikayla Trainor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4644000" y="1143000"/>
            <a:ext cx="2970000" cy="217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" name="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228600" y="204480"/>
            <a:ext cx="2969640" cy="779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" descr=""/>
          <p:cNvPicPr/>
          <p:nvPr/>
        </p:nvPicPr>
        <p:blipFill>
          <a:blip r:embed="rId4"/>
          <a:stretch/>
        </p:blipFill>
        <p:spPr>
          <a:xfrm>
            <a:off x="9372600" y="63000"/>
            <a:ext cx="2741040" cy="107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Content Placeholder 17"/>
          <p:cNvSpPr/>
          <p:nvPr/>
        </p:nvSpPr>
        <p:spPr>
          <a:xfrm>
            <a:off x="0" y="2599200"/>
            <a:ext cx="3655440" cy="18266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University of Maryland School of Medicine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ts val="72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ts val="72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Content Placeholder 18"/>
          <p:cNvSpPr/>
          <p:nvPr/>
        </p:nvSpPr>
        <p:spPr>
          <a:xfrm>
            <a:off x="7772400" y="1251000"/>
            <a:ext cx="4341240" cy="182664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indent="-324000" algn="r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en-US" sz="1800" strike="noStrike" u="sng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Molecular Microbiology Immunology Graduate Program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r">
              <a:lnSpc>
                <a:spcPts val="72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Dr. Eileen Barry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r">
              <a:lnSpc>
                <a:spcPts val="72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Bess Tracey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Picture 27" descr="A picture containing text, person, indoor, working&#10;&#10;Description automatically generated"/>
          <p:cNvPicPr/>
          <p:nvPr/>
        </p:nvPicPr>
        <p:blipFill>
          <a:blip r:embed="rId5"/>
          <a:stretch/>
        </p:blipFill>
        <p:spPr>
          <a:xfrm>
            <a:off x="4644000" y="3348000"/>
            <a:ext cx="2970000" cy="2226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"/>
          <p:cNvSpPr/>
          <p:nvPr/>
        </p:nvSpPr>
        <p:spPr>
          <a:xfrm>
            <a:off x="457200" y="3818880"/>
            <a:ext cx="1581840" cy="59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1800" strike="noStrike" u="sng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PIN: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8041320" y="3770280"/>
            <a:ext cx="2267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10152000" y="3773520"/>
            <a:ext cx="1899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r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r/flowcytometry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9027720" y="4393800"/>
            <a:ext cx="2267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r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Bioconductor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4692600"/>
            <a:ext cx="4570560" cy="114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7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445600" y="2514600"/>
            <a:ext cx="1370160" cy="1370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8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467000" y="2585160"/>
            <a:ext cx="1299600" cy="129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"/>
          <p:cNvSpPr/>
          <p:nvPr/>
        </p:nvSpPr>
        <p:spPr>
          <a:xfrm>
            <a:off x="2956680" y="4432680"/>
            <a:ext cx="161388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r">
              <a:lnSpc>
                <a:spcPct val="100000"/>
              </a:lnSpc>
            </a:pPr>
            <a:r>
              <a:rPr b="0" lang="en-US" sz="12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U01 HD092308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" descr=""/>
          <p:cNvPicPr/>
          <p:nvPr/>
        </p:nvPicPr>
        <p:blipFill>
          <a:blip r:embed="rId10"/>
          <a:stretch/>
        </p:blipFill>
        <p:spPr>
          <a:xfrm>
            <a:off x="7687800" y="5057280"/>
            <a:ext cx="2369160" cy="427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1" name="" descr=""/>
          <p:cNvPicPr/>
          <p:nvPr/>
        </p:nvPicPr>
        <p:blipFill>
          <a:blip r:embed="rId11"/>
          <a:stretch/>
        </p:blipFill>
        <p:spPr>
          <a:xfrm>
            <a:off x="10058400" y="5029200"/>
            <a:ext cx="1987920" cy="406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6240" cy="13233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457200" y="2683800"/>
            <a:ext cx="2969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8915400" y="5149800"/>
            <a:ext cx="2969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8915400" y="2683800"/>
            <a:ext cx="296964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4800600" y="2683800"/>
            <a:ext cx="2969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800600" y="5149800"/>
            <a:ext cx="2969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457200" y="4921200"/>
            <a:ext cx="2969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9" name="" descr=""/>
          <p:cNvPicPr/>
          <p:nvPr/>
        </p:nvPicPr>
        <p:blipFill>
          <a:blip r:embed="rId1"/>
          <a:stretch/>
        </p:blipFill>
        <p:spPr>
          <a:xfrm>
            <a:off x="7947000" y="3470400"/>
            <a:ext cx="2109240" cy="159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0" name="" descr=""/>
          <p:cNvPicPr/>
          <p:nvPr/>
        </p:nvPicPr>
        <p:blipFill>
          <a:blip r:embed="rId2"/>
          <a:stretch/>
        </p:blipFill>
        <p:spPr>
          <a:xfrm>
            <a:off x="4095720" y="3488400"/>
            <a:ext cx="1845720" cy="159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1" name="" descr=""/>
          <p:cNvPicPr/>
          <p:nvPr/>
        </p:nvPicPr>
        <p:blipFill>
          <a:blip r:embed="rId3"/>
          <a:stretch/>
        </p:blipFill>
        <p:spPr>
          <a:xfrm>
            <a:off x="457200" y="3565440"/>
            <a:ext cx="1369440" cy="158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2" name="" descr=""/>
          <p:cNvPicPr/>
          <p:nvPr/>
        </p:nvPicPr>
        <p:blipFill>
          <a:blip r:embed="rId4"/>
          <a:stretch/>
        </p:blipFill>
        <p:spPr>
          <a:xfrm>
            <a:off x="4132080" y="963000"/>
            <a:ext cx="1845360" cy="159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3" name="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90720" y="1087920"/>
            <a:ext cx="1956600" cy="158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4" name="" descr=""/>
          <p:cNvPicPr/>
          <p:nvPr/>
        </p:nvPicPr>
        <p:blipFill>
          <a:blip r:embed="rId6"/>
          <a:stretch/>
        </p:blipFill>
        <p:spPr>
          <a:xfrm>
            <a:off x="7947000" y="855000"/>
            <a:ext cx="2109240" cy="159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5" name="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6064200" y="3321000"/>
            <a:ext cx="1826640" cy="182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6" name="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10058400" y="3321000"/>
            <a:ext cx="1826640" cy="182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7" name="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6064200" y="819000"/>
            <a:ext cx="1826640" cy="182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2021400" y="855000"/>
            <a:ext cx="1826640" cy="182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9" name="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2057400" y="3429000"/>
            <a:ext cx="1690920" cy="1690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0" name="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10058400" y="855000"/>
            <a:ext cx="1826640" cy="182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</TotalTime>
  <Application>LibreOffice/25.2.3.2$Linux_X86_64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2026-06-08T09:13:38Z</dcterms:modified>
  <cp:revision>35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_dlc_DocIdItemGuid">
    <vt:lpwstr>4d3e5825-e8bc-4995-b9ad-4f8ee15e5c87</vt:lpwstr>
  </property>
</Properties>
</file>